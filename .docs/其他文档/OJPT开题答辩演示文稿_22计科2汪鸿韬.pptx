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embeddedFontLst>
    <p:embeddedFont>
      <p:font typeface="MiSans" panose="02010600030101010101" charset="-122"/>
      <p:regular r:id="rId20"/>
    </p:embeddedFont>
    <p:embeddedFont>
      <p:font typeface="阿里妈妈数黑体" panose="02010600030101010101" charset="-122"/>
      <p:regular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Liter" panose="02010600030101010101" charset="0"/>
      <p:regular r:id="rId26"/>
    </p:embeddedFont>
    <p:embeddedFont>
      <p:font typeface="等线" panose="02010600030101010101" pitchFamily="2" charset="-122"/>
      <p:regular r:id="rId27"/>
      <p:bold r:id="rId28"/>
    </p:embeddedFont>
    <p:embeddedFont>
      <p:font typeface="微软雅黑" panose="020B0503020204020204" pitchFamily="34" charset="-122"/>
      <p:regular r:id="rId29"/>
      <p:bold r:id="rId3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011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10wallpaper.com/04a68ecb4387f71b05c434dd91511e5470aaf494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5000" b="50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85000"/>
                </a:srgbClr>
              </a:gs>
              <a:gs pos="100000">
                <a:srgbClr val="4FD1C5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304925"/>
            <a:ext cx="1381125" cy="314325"/>
          </a:xfrm>
          <a:custGeom>
            <a:avLst/>
            <a:gdLst/>
            <a:ahLst/>
            <a:cxnLst/>
            <a:rect l="l" t="t" r="r" b="b"/>
            <a:pathLst>
              <a:path w="1381125" h="314325">
                <a:moveTo>
                  <a:pt x="157163" y="0"/>
                </a:moveTo>
                <a:lnTo>
                  <a:pt x="1223963" y="0"/>
                </a:lnTo>
                <a:cubicBezTo>
                  <a:pt x="1310703" y="0"/>
                  <a:pt x="1381125" y="70422"/>
                  <a:pt x="1381125" y="157163"/>
                </a:cubicBezTo>
                <a:lnTo>
                  <a:pt x="1381125" y="157163"/>
                </a:lnTo>
                <a:cubicBezTo>
                  <a:pt x="1381125" y="243903"/>
                  <a:pt x="1310703" y="314325"/>
                  <a:pt x="1223963" y="314325"/>
                </a:cubicBezTo>
                <a:lnTo>
                  <a:pt x="157163" y="314325"/>
                </a:lnTo>
                <a:cubicBezTo>
                  <a:pt x="70422" y="314325"/>
                  <a:pt x="0" y="243903"/>
                  <a:pt x="0" y="157163"/>
                </a:cubicBezTo>
                <a:lnTo>
                  <a:pt x="0" y="157163"/>
                </a:lnTo>
                <a:cubicBezTo>
                  <a:pt x="0" y="70422"/>
                  <a:pt x="70422" y="0"/>
                  <a:pt x="157162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1385888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毕业设计开题答辩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05013"/>
            <a:ext cx="11715750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面向编程竞赛的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SpringBoot在线算法题库系统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的设计与实现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519613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8" name="Text 5"/>
          <p:cNvSpPr/>
          <p:nvPr/>
        </p:nvSpPr>
        <p:spPr>
          <a:xfrm>
            <a:off x="1104900" y="4376738"/>
            <a:ext cx="423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 Judge Platform for Training (OJPT)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986338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 err="1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学生姓名</a:t>
            </a:r>
            <a:r>
              <a:rPr lang="en-US" sz="12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汪鸿韬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327350" y="4986338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 号：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22437043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73701" y="4986338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 业：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计算机科学与技术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1000" y="5329238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 err="1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指导教师</a:t>
            </a:r>
            <a:r>
              <a:rPr lang="en-US" sz="12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王晨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27350" y="5329238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 </a:t>
            </a:r>
            <a:r>
              <a:rPr lang="en-US" sz="1200" dirty="0" err="1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院：</a:t>
            </a:r>
            <a:r>
              <a:rPr lang="en-US" sz="1200" dirty="0" err="1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计算机</a:t>
            </a:r>
            <a:r>
              <a:rPr lang="zh-CN" alt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与自动化学院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73701" y="5329238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答辩日期：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2025年12月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942975" cy="314325"/>
          </a:xfrm>
          <a:custGeom>
            <a:avLst/>
            <a:gdLst/>
            <a:ahLst/>
            <a:cxnLst/>
            <a:rect l="l" t="t" r="r" b="b"/>
            <a:pathLst>
              <a:path w="942975" h="314325">
                <a:moveTo>
                  <a:pt x="38099" y="0"/>
                </a:moveTo>
                <a:lnTo>
                  <a:pt x="904876" y="0"/>
                </a:lnTo>
                <a:cubicBezTo>
                  <a:pt x="925917" y="0"/>
                  <a:pt x="942975" y="17058"/>
                  <a:pt x="942975" y="38099"/>
                </a:cubicBezTo>
                <a:lnTo>
                  <a:pt x="942975" y="276226"/>
                </a:lnTo>
                <a:cubicBezTo>
                  <a:pt x="942975" y="297267"/>
                  <a:pt x="925917" y="314325"/>
                  <a:pt x="904876" y="314325"/>
                </a:cubicBezTo>
                <a:lnTo>
                  <a:pt x="38099" y="314325"/>
                </a:lnTo>
                <a:cubicBezTo>
                  <a:pt x="17058" y="314325"/>
                  <a:pt x="0" y="297267"/>
                  <a:pt x="0" y="2762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4825" y="466725"/>
            <a:ext cx="7730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8105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21812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/>
              </a:gs>
              <a:gs pos="100000">
                <a:srgbClr val="4FD1C5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6" name="Text 4"/>
          <p:cNvSpPr/>
          <p:nvPr/>
        </p:nvSpPr>
        <p:spPr>
          <a:xfrm>
            <a:off x="517178" y="2314575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62050" y="2238375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>
                <a:moveTo>
                  <a:pt x="0" y="0"/>
                </a:moveTo>
                <a:lnTo>
                  <a:pt x="38100" y="0"/>
                </a:lnTo>
                <a:lnTo>
                  <a:pt x="381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2238375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选题背景与意义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3500" y="2543175"/>
            <a:ext cx="467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 err="1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编程竞赛与算法训练需求分析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48400" y="21812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/>
              </a:gs>
              <a:gs pos="100000">
                <a:srgbClr val="F6AD55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11" name="Text 9"/>
          <p:cNvSpPr/>
          <p:nvPr/>
        </p:nvSpPr>
        <p:spPr>
          <a:xfrm>
            <a:off x="6384578" y="2314575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29450" y="2238375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>
                <a:moveTo>
                  <a:pt x="0" y="0"/>
                </a:moveTo>
                <a:lnTo>
                  <a:pt x="38100" y="0"/>
                </a:lnTo>
                <a:lnTo>
                  <a:pt x="381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13" name="Text 11"/>
          <p:cNvSpPr/>
          <p:nvPr/>
        </p:nvSpPr>
        <p:spPr>
          <a:xfrm>
            <a:off x="7200900" y="2238375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国内外研究现状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00900" y="2543175"/>
            <a:ext cx="467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主流在线判题平台功能对比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31718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/>
              </a:gs>
              <a:gs pos="100000">
                <a:srgbClr val="4FD1C5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16" name="Text 14"/>
          <p:cNvSpPr/>
          <p:nvPr/>
        </p:nvSpPr>
        <p:spPr>
          <a:xfrm>
            <a:off x="517178" y="3305175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62050" y="3228975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>
                <a:moveTo>
                  <a:pt x="0" y="0"/>
                </a:moveTo>
                <a:lnTo>
                  <a:pt x="38100" y="0"/>
                </a:lnTo>
                <a:lnTo>
                  <a:pt x="381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3228975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研究内容与目标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33500" y="3533775"/>
            <a:ext cx="467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功能模块设计与实现目标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48400" y="31718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/>
              </a:gs>
              <a:gs pos="100000">
                <a:srgbClr val="F6AD55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21" name="Text 19"/>
          <p:cNvSpPr/>
          <p:nvPr/>
        </p:nvSpPr>
        <p:spPr>
          <a:xfrm>
            <a:off x="6384578" y="3305175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029450" y="3228975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>
                <a:moveTo>
                  <a:pt x="0" y="0"/>
                </a:moveTo>
                <a:lnTo>
                  <a:pt x="38100" y="0"/>
                </a:lnTo>
                <a:lnTo>
                  <a:pt x="381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3" name="Text 21"/>
          <p:cNvSpPr/>
          <p:nvPr/>
        </p:nvSpPr>
        <p:spPr>
          <a:xfrm>
            <a:off x="7200900" y="3228975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技术方案与系统架构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00900" y="3533775"/>
            <a:ext cx="467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技术栈选型与系统架构设计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1000" y="41624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/>
              </a:gs>
              <a:gs pos="100000">
                <a:srgbClr val="4FD1C5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26" name="Text 24"/>
          <p:cNvSpPr/>
          <p:nvPr/>
        </p:nvSpPr>
        <p:spPr>
          <a:xfrm>
            <a:off x="517178" y="4295775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62050" y="4219575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>
                <a:moveTo>
                  <a:pt x="0" y="0"/>
                </a:moveTo>
                <a:lnTo>
                  <a:pt x="38100" y="0"/>
                </a:lnTo>
                <a:lnTo>
                  <a:pt x="381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8" name="Text 26"/>
          <p:cNvSpPr/>
          <p:nvPr/>
        </p:nvSpPr>
        <p:spPr>
          <a:xfrm>
            <a:off x="1333500" y="4219575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数据库设计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33500" y="4524375"/>
            <a:ext cx="467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核心业务数据表设计</a:t>
            </a:r>
          </a:p>
        </p:txBody>
      </p:sp>
      <p:sp>
        <p:nvSpPr>
          <p:cNvPr id="30" name="Shape 28"/>
          <p:cNvSpPr/>
          <p:nvPr/>
        </p:nvSpPr>
        <p:spPr>
          <a:xfrm>
            <a:off x="6248400" y="41624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/>
              </a:gs>
              <a:gs pos="100000">
                <a:srgbClr val="F6AD55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31" name="Text 29"/>
          <p:cNvSpPr/>
          <p:nvPr/>
        </p:nvSpPr>
        <p:spPr>
          <a:xfrm>
            <a:off x="6384578" y="4295775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029450" y="4219575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>
                <a:moveTo>
                  <a:pt x="0" y="0"/>
                </a:moveTo>
                <a:lnTo>
                  <a:pt x="38100" y="0"/>
                </a:lnTo>
                <a:lnTo>
                  <a:pt x="381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3" name="Text 31"/>
          <p:cNvSpPr/>
          <p:nvPr/>
        </p:nvSpPr>
        <p:spPr>
          <a:xfrm>
            <a:off x="7200900" y="4219575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关键技术难点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00900" y="4524375"/>
            <a:ext cx="467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权限控制与系统安全性设计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1000" y="51530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/>
              </a:gs>
              <a:gs pos="100000">
                <a:srgbClr val="4FD1C5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36" name="Text 34"/>
          <p:cNvSpPr/>
          <p:nvPr/>
        </p:nvSpPr>
        <p:spPr>
          <a:xfrm>
            <a:off x="517178" y="5286375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62050" y="5210175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>
                <a:moveTo>
                  <a:pt x="0" y="0"/>
                </a:moveTo>
                <a:lnTo>
                  <a:pt x="38100" y="0"/>
                </a:lnTo>
                <a:lnTo>
                  <a:pt x="381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8" name="Text 36"/>
          <p:cNvSpPr/>
          <p:nvPr/>
        </p:nvSpPr>
        <p:spPr>
          <a:xfrm>
            <a:off x="1333500" y="5210175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5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系统特点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333500" y="5514975"/>
            <a:ext cx="467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多角色支持与学习数据展示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48400" y="51530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/>
              </a:gs>
              <a:gs pos="100000">
                <a:srgbClr val="F6AD55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1" name="Text 39"/>
          <p:cNvSpPr/>
          <p:nvPr/>
        </p:nvSpPr>
        <p:spPr>
          <a:xfrm>
            <a:off x="6384578" y="5286375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029450" y="5210175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>
                <a:moveTo>
                  <a:pt x="0" y="0"/>
                </a:moveTo>
                <a:lnTo>
                  <a:pt x="38100" y="0"/>
                </a:lnTo>
                <a:lnTo>
                  <a:pt x="381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3" name="Text 41"/>
          <p:cNvSpPr/>
          <p:nvPr/>
        </p:nvSpPr>
        <p:spPr>
          <a:xfrm>
            <a:off x="7200900" y="5210175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研究进度与预期成果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200900" y="5514975"/>
            <a:ext cx="467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时间安排与目标规划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1009650" cy="314325"/>
          </a:xfrm>
          <a:custGeom>
            <a:avLst/>
            <a:gdLst/>
            <a:ahLst/>
            <a:cxnLst/>
            <a:rect l="l" t="t" r="r" b="b"/>
            <a:pathLst>
              <a:path w="1009650" h="314325">
                <a:moveTo>
                  <a:pt x="38099" y="0"/>
                </a:moveTo>
                <a:lnTo>
                  <a:pt x="971551" y="0"/>
                </a:lnTo>
                <a:cubicBezTo>
                  <a:pt x="992592" y="0"/>
                  <a:pt x="1009650" y="17058"/>
                  <a:pt x="1009650" y="38099"/>
                </a:cubicBezTo>
                <a:lnTo>
                  <a:pt x="1009650" y="276226"/>
                </a:lnTo>
                <a:cubicBezTo>
                  <a:pt x="1009650" y="297267"/>
                  <a:pt x="992592" y="314325"/>
                  <a:pt x="971551" y="314325"/>
                </a:cubicBezTo>
                <a:lnTo>
                  <a:pt x="38099" y="314325"/>
                </a:lnTo>
                <a:cubicBezTo>
                  <a:pt x="17058" y="314325"/>
                  <a:pt x="0" y="297267"/>
                  <a:pt x="0" y="2762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4825" y="466725"/>
            <a:ext cx="8340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810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选题背景与意义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4813" y="1352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" name="Text 4"/>
          <p:cNvSpPr/>
          <p:nvPr/>
        </p:nvSpPr>
        <p:spPr>
          <a:xfrm>
            <a:off x="619125" y="1314450"/>
            <a:ext cx="547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研究背景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1657350"/>
            <a:ext cx="569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编程竞赛热度提升</a:t>
            </a:r>
            <a:r>
              <a:rPr lang="en-US" sz="12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en-US" altLang="zh-CN" sz="12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ACM-ICPC</a:t>
            </a:r>
            <a:r>
              <a:rPr lang="zh-CN" altLang="en-US" sz="12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、蓝桥杯等赛事带动算法训练需求持续增长。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1962150"/>
            <a:ext cx="569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在线判题成主流：</a:t>
            </a:r>
            <a:r>
              <a:rPr lang="en-US" sz="1200" dirty="0" err="1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在线判题系统（OJ）成为算法学习和竞赛训练的核心工具</a:t>
            </a:r>
            <a:r>
              <a:rPr lang="en-US" sz="12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2266950"/>
            <a:ext cx="569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现有平台不足</a:t>
            </a:r>
            <a:r>
              <a:rPr lang="en-US" sz="12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12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题目资源分散、教学管理工具有限、学习数据难以系统汇总和利用。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4813" y="2686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1" name="Text 9"/>
          <p:cNvSpPr/>
          <p:nvPr/>
        </p:nvSpPr>
        <p:spPr>
          <a:xfrm>
            <a:off x="619125" y="2647950"/>
            <a:ext cx="547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现状问题分析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2990850"/>
            <a:ext cx="2752725" cy="800100"/>
          </a:xfrm>
          <a:custGeom>
            <a:avLst/>
            <a:gdLst/>
            <a:ahLst/>
            <a:cxnLst/>
            <a:rect l="l" t="t" r="r" b="b"/>
            <a:pathLst>
              <a:path w="2752725" h="800100">
                <a:moveTo>
                  <a:pt x="38100" y="0"/>
                </a:moveTo>
                <a:lnTo>
                  <a:pt x="2714624" y="0"/>
                </a:lnTo>
                <a:cubicBezTo>
                  <a:pt x="2735667" y="0"/>
                  <a:pt x="2752725" y="17058"/>
                  <a:pt x="2752725" y="38101"/>
                </a:cubicBezTo>
                <a:lnTo>
                  <a:pt x="2752725" y="761999"/>
                </a:lnTo>
                <a:cubicBezTo>
                  <a:pt x="2752725" y="783042"/>
                  <a:pt x="2735667" y="800100"/>
                  <a:pt x="2714624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00050" y="299085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14" name="Text 12"/>
          <p:cNvSpPr/>
          <p:nvPr/>
        </p:nvSpPr>
        <p:spPr>
          <a:xfrm>
            <a:off x="495300" y="3067050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题库分散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5300" y="3333750"/>
            <a:ext cx="2647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不同平台和官网训练模式不一，缺乏统一管理与分类体系。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48025" y="2990850"/>
            <a:ext cx="2752725" cy="800100"/>
          </a:xfrm>
          <a:custGeom>
            <a:avLst/>
            <a:gdLst/>
            <a:ahLst/>
            <a:cxnLst/>
            <a:rect l="l" t="t" r="r" b="b"/>
            <a:pathLst>
              <a:path w="2752725" h="800100">
                <a:moveTo>
                  <a:pt x="38100" y="0"/>
                </a:moveTo>
                <a:lnTo>
                  <a:pt x="2714624" y="0"/>
                </a:lnTo>
                <a:cubicBezTo>
                  <a:pt x="2735667" y="0"/>
                  <a:pt x="2752725" y="17058"/>
                  <a:pt x="2752725" y="38101"/>
                </a:cubicBezTo>
                <a:lnTo>
                  <a:pt x="2752725" y="761999"/>
                </a:lnTo>
                <a:cubicBezTo>
                  <a:pt x="2752725" y="783042"/>
                  <a:pt x="2735667" y="800100"/>
                  <a:pt x="2714624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48025" y="299085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18" name="Text 16"/>
          <p:cNvSpPr/>
          <p:nvPr/>
        </p:nvSpPr>
        <p:spPr>
          <a:xfrm>
            <a:off x="3343275" y="3067050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教学功能缺失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43275" y="3333750"/>
            <a:ext cx="2647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多数平台更偏向个人刷题，缺少训练计划、班级管理等教学功能。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0050" y="3867150"/>
            <a:ext cx="2752725" cy="609600"/>
          </a:xfrm>
          <a:custGeom>
            <a:avLst/>
            <a:gdLst/>
            <a:ahLst/>
            <a:cxnLst/>
            <a:rect l="l" t="t" r="r" b="b"/>
            <a:pathLst>
              <a:path w="2752725" h="609600">
                <a:moveTo>
                  <a:pt x="38100" y="0"/>
                </a:moveTo>
                <a:lnTo>
                  <a:pt x="2714625" y="0"/>
                </a:lnTo>
                <a:cubicBezTo>
                  <a:pt x="2735653" y="0"/>
                  <a:pt x="2752725" y="17072"/>
                  <a:pt x="2752725" y="38100"/>
                </a:cubicBezTo>
                <a:lnTo>
                  <a:pt x="2752725" y="571500"/>
                </a:lnTo>
                <a:cubicBezTo>
                  <a:pt x="2752725" y="592528"/>
                  <a:pt x="2735653" y="609600"/>
                  <a:pt x="27146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00050" y="386715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2" name="Text 20"/>
          <p:cNvSpPr/>
          <p:nvPr/>
        </p:nvSpPr>
        <p:spPr>
          <a:xfrm>
            <a:off x="495300" y="3943350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整合困难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5300" y="4210050"/>
            <a:ext cx="2647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 err="1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教学资源无法有效整合，难以形成完整体系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48025" y="3867150"/>
            <a:ext cx="2752725" cy="609600"/>
          </a:xfrm>
          <a:custGeom>
            <a:avLst/>
            <a:gdLst/>
            <a:ahLst/>
            <a:cxnLst/>
            <a:rect l="l" t="t" r="r" b="b"/>
            <a:pathLst>
              <a:path w="2752725" h="609600">
                <a:moveTo>
                  <a:pt x="38100" y="0"/>
                </a:moveTo>
                <a:lnTo>
                  <a:pt x="2714625" y="0"/>
                </a:lnTo>
                <a:cubicBezTo>
                  <a:pt x="2735653" y="0"/>
                  <a:pt x="2752725" y="17072"/>
                  <a:pt x="2752725" y="38100"/>
                </a:cubicBezTo>
                <a:lnTo>
                  <a:pt x="2752725" y="571500"/>
                </a:lnTo>
                <a:cubicBezTo>
                  <a:pt x="2752725" y="592528"/>
                  <a:pt x="2735653" y="609600"/>
                  <a:pt x="27146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48025" y="386715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6" name="Text 24"/>
          <p:cNvSpPr/>
          <p:nvPr/>
        </p:nvSpPr>
        <p:spPr>
          <a:xfrm>
            <a:off x="3343275" y="3943350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协同低效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343275" y="4210050"/>
            <a:ext cx="2647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多角色权限管理混乱，影响教学管理效率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38875" y="13525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9" name="Text 27"/>
          <p:cNvSpPr/>
          <p:nvPr/>
        </p:nvSpPr>
        <p:spPr>
          <a:xfrm>
            <a:off x="6429375" y="1314450"/>
            <a:ext cx="547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研究意义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0300" y="1657350"/>
            <a:ext cx="5600700" cy="723900"/>
          </a:xfrm>
          <a:custGeom>
            <a:avLst/>
            <a:gdLst/>
            <a:ahLst/>
            <a:cxnLst/>
            <a:rect l="l" t="t" r="r" b="b"/>
            <a:pathLst>
              <a:path w="5600700" h="723900">
                <a:moveTo>
                  <a:pt x="38099" y="0"/>
                </a:moveTo>
                <a:lnTo>
                  <a:pt x="5562601" y="0"/>
                </a:lnTo>
                <a:cubicBezTo>
                  <a:pt x="5583628" y="0"/>
                  <a:pt x="5600700" y="17072"/>
                  <a:pt x="5600700" y="38099"/>
                </a:cubicBezTo>
                <a:lnTo>
                  <a:pt x="5600700" y="685801"/>
                </a:lnTo>
                <a:cubicBezTo>
                  <a:pt x="5600700" y="706828"/>
                  <a:pt x="5583628" y="723900"/>
                  <a:pt x="556260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10300" y="165735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2" name="Shape 30"/>
          <p:cNvSpPr/>
          <p:nvPr/>
        </p:nvSpPr>
        <p:spPr>
          <a:xfrm>
            <a:off x="6372225" y="18097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1824" y="-3870"/>
                </a:moveTo>
                <a:cubicBezTo>
                  <a:pt x="68431" y="-4554"/>
                  <a:pt x="64949" y="-4554"/>
                  <a:pt x="61555" y="-3870"/>
                </a:cubicBezTo>
                <a:lnTo>
                  <a:pt x="5745" y="7293"/>
                </a:lnTo>
                <a:cubicBezTo>
                  <a:pt x="2411" y="7947"/>
                  <a:pt x="0" y="10894"/>
                  <a:pt x="0" y="14288"/>
                </a:cubicBezTo>
                <a:cubicBezTo>
                  <a:pt x="0" y="17353"/>
                  <a:pt x="1935" y="20032"/>
                  <a:pt x="4763" y="21015"/>
                </a:cubicBezTo>
                <a:lnTo>
                  <a:pt x="4763" y="42863"/>
                </a:lnTo>
                <a:lnTo>
                  <a:pt x="89" y="66258"/>
                </a:lnTo>
                <a:cubicBezTo>
                  <a:pt x="30" y="66526"/>
                  <a:pt x="0" y="66824"/>
                  <a:pt x="0" y="67121"/>
                </a:cubicBezTo>
                <a:cubicBezTo>
                  <a:pt x="0" y="69503"/>
                  <a:pt x="1935" y="71467"/>
                  <a:pt x="4346" y="71467"/>
                </a:cubicBezTo>
                <a:lnTo>
                  <a:pt x="14734" y="71467"/>
                </a:lnTo>
                <a:cubicBezTo>
                  <a:pt x="17115" y="71467"/>
                  <a:pt x="19080" y="69533"/>
                  <a:pt x="19080" y="67121"/>
                </a:cubicBezTo>
                <a:cubicBezTo>
                  <a:pt x="19080" y="66824"/>
                  <a:pt x="19050" y="66556"/>
                  <a:pt x="18990" y="66258"/>
                </a:cubicBezTo>
                <a:lnTo>
                  <a:pt x="14288" y="42863"/>
                </a:lnTo>
                <a:lnTo>
                  <a:pt x="14288" y="23009"/>
                </a:lnTo>
                <a:lnTo>
                  <a:pt x="28575" y="25866"/>
                </a:lnTo>
                <a:lnTo>
                  <a:pt x="28575" y="42863"/>
                </a:lnTo>
                <a:cubicBezTo>
                  <a:pt x="28575" y="63907"/>
                  <a:pt x="45631" y="80962"/>
                  <a:pt x="66675" y="80962"/>
                </a:cubicBezTo>
                <a:cubicBezTo>
                  <a:pt x="87719" y="80962"/>
                  <a:pt x="104775" y="63907"/>
                  <a:pt x="104775" y="42863"/>
                </a:cubicBezTo>
                <a:lnTo>
                  <a:pt x="104775" y="25866"/>
                </a:lnTo>
                <a:lnTo>
                  <a:pt x="127605" y="21312"/>
                </a:lnTo>
                <a:cubicBezTo>
                  <a:pt x="130939" y="20628"/>
                  <a:pt x="133350" y="17681"/>
                  <a:pt x="133350" y="14288"/>
                </a:cubicBezTo>
                <a:cubicBezTo>
                  <a:pt x="133350" y="10894"/>
                  <a:pt x="130939" y="7947"/>
                  <a:pt x="127605" y="7293"/>
                </a:cubicBezTo>
                <a:lnTo>
                  <a:pt x="71824" y="-3870"/>
                </a:lnTo>
                <a:close/>
                <a:moveTo>
                  <a:pt x="66675" y="66675"/>
                </a:moveTo>
                <a:cubicBezTo>
                  <a:pt x="53519" y="66675"/>
                  <a:pt x="42863" y="56019"/>
                  <a:pt x="42863" y="42863"/>
                </a:cubicBezTo>
                <a:lnTo>
                  <a:pt x="90488" y="42863"/>
                </a:lnTo>
                <a:cubicBezTo>
                  <a:pt x="90488" y="56019"/>
                  <a:pt x="79831" y="66675"/>
                  <a:pt x="66675" y="66675"/>
                </a:cubicBezTo>
                <a:close/>
                <a:moveTo>
                  <a:pt x="35749" y="95280"/>
                </a:moveTo>
                <a:cubicBezTo>
                  <a:pt x="17472" y="103674"/>
                  <a:pt x="4763" y="122128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59531" y="152400"/>
                </a:lnTo>
                <a:lnTo>
                  <a:pt x="59531" y="108942"/>
                </a:lnTo>
                <a:lnTo>
                  <a:pt x="42446" y="96143"/>
                </a:lnTo>
                <a:cubicBezTo>
                  <a:pt x="40511" y="94684"/>
                  <a:pt x="37921" y="94298"/>
                  <a:pt x="35719" y="95310"/>
                </a:cubicBezTo>
                <a:close/>
                <a:moveTo>
                  <a:pt x="73819" y="152400"/>
                </a:move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22128"/>
                  <a:pt x="115878" y="103674"/>
                  <a:pt x="97601" y="95310"/>
                </a:cubicBezTo>
                <a:cubicBezTo>
                  <a:pt x="95399" y="94298"/>
                  <a:pt x="92809" y="94684"/>
                  <a:pt x="90874" y="96143"/>
                </a:cubicBezTo>
                <a:lnTo>
                  <a:pt x="73789" y="108942"/>
                </a:lnTo>
                <a:lnTo>
                  <a:pt x="73789" y="15240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3" name="Text 31"/>
          <p:cNvSpPr/>
          <p:nvPr/>
        </p:nvSpPr>
        <p:spPr>
          <a:xfrm>
            <a:off x="6534150" y="1771650"/>
            <a:ext cx="523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学员价值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43650" y="2038350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提供统一刷题与作业平台，集中查看评测与错题。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0300" y="2457450"/>
            <a:ext cx="5600700" cy="723900"/>
          </a:xfrm>
          <a:custGeom>
            <a:avLst/>
            <a:gdLst/>
            <a:ahLst/>
            <a:cxnLst/>
            <a:rect l="l" t="t" r="r" b="b"/>
            <a:pathLst>
              <a:path w="5600700" h="723900">
                <a:moveTo>
                  <a:pt x="38099" y="0"/>
                </a:moveTo>
                <a:lnTo>
                  <a:pt x="5562601" y="0"/>
                </a:lnTo>
                <a:cubicBezTo>
                  <a:pt x="5583628" y="0"/>
                  <a:pt x="5600700" y="17072"/>
                  <a:pt x="5600700" y="38099"/>
                </a:cubicBezTo>
                <a:lnTo>
                  <a:pt x="5600700" y="685801"/>
                </a:lnTo>
                <a:cubicBezTo>
                  <a:pt x="5600700" y="706828"/>
                  <a:pt x="5583628" y="723900"/>
                  <a:pt x="556260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10300" y="245745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7" name="Shape 35"/>
          <p:cNvSpPr/>
          <p:nvPr/>
        </p:nvSpPr>
        <p:spPr>
          <a:xfrm>
            <a:off x="6343650" y="26098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38100" y="28575"/>
                </a:moveTo>
                <a:cubicBezTo>
                  <a:pt x="38100" y="18068"/>
                  <a:pt x="46643" y="9525"/>
                  <a:pt x="57150" y="9525"/>
                </a:cubicBezTo>
                <a:lnTo>
                  <a:pt x="161925" y="9525"/>
                </a:lnTo>
                <a:cubicBezTo>
                  <a:pt x="172432" y="9525"/>
                  <a:pt x="180975" y="18068"/>
                  <a:pt x="180975" y="28575"/>
                </a:cubicBezTo>
                <a:lnTo>
                  <a:pt x="180975" y="100013"/>
                </a:lnTo>
                <a:lnTo>
                  <a:pt x="152400" y="100013"/>
                </a:lnTo>
                <a:lnTo>
                  <a:pt x="152400" y="95250"/>
                </a:lnTo>
                <a:cubicBezTo>
                  <a:pt x="152400" y="89981"/>
                  <a:pt x="148144" y="85725"/>
                  <a:pt x="142875" y="85725"/>
                </a:cubicBezTo>
                <a:lnTo>
                  <a:pt x="123825" y="85725"/>
                </a:lnTo>
                <a:cubicBezTo>
                  <a:pt x="118556" y="85725"/>
                  <a:pt x="114300" y="89981"/>
                  <a:pt x="114300" y="95250"/>
                </a:cubicBezTo>
                <a:lnTo>
                  <a:pt x="114300" y="100013"/>
                </a:lnTo>
                <a:lnTo>
                  <a:pt x="75873" y="100013"/>
                </a:lnTo>
                <a:cubicBezTo>
                  <a:pt x="79117" y="94417"/>
                  <a:pt x="80962" y="87898"/>
                  <a:pt x="80962" y="80962"/>
                </a:cubicBezTo>
                <a:cubicBezTo>
                  <a:pt x="80962" y="59918"/>
                  <a:pt x="63907" y="42863"/>
                  <a:pt x="42863" y="42863"/>
                </a:cubicBezTo>
                <a:cubicBezTo>
                  <a:pt x="41255" y="42863"/>
                  <a:pt x="39648" y="42952"/>
                  <a:pt x="38100" y="43160"/>
                </a:cubicBezTo>
                <a:lnTo>
                  <a:pt x="38100" y="28575"/>
                </a:lnTo>
                <a:close/>
                <a:moveTo>
                  <a:pt x="99120" y="133350"/>
                </a:moveTo>
                <a:cubicBezTo>
                  <a:pt x="97601" y="126147"/>
                  <a:pt x="94268" y="119628"/>
                  <a:pt x="89565" y="114300"/>
                </a:cubicBezTo>
                <a:lnTo>
                  <a:pt x="180975" y="114300"/>
                </a:lnTo>
                <a:cubicBezTo>
                  <a:pt x="180975" y="124807"/>
                  <a:pt x="172432" y="133350"/>
                  <a:pt x="161925" y="133350"/>
                </a:cubicBezTo>
                <a:lnTo>
                  <a:pt x="99120" y="133350"/>
                </a:lnTo>
                <a:close/>
                <a:moveTo>
                  <a:pt x="19050" y="80962"/>
                </a:moveTo>
                <a:cubicBezTo>
                  <a:pt x="19050" y="67820"/>
                  <a:pt x="29720" y="57150"/>
                  <a:pt x="42862" y="57150"/>
                </a:cubicBezTo>
                <a:cubicBezTo>
                  <a:pt x="56005" y="57150"/>
                  <a:pt x="66675" y="67820"/>
                  <a:pt x="66675" y="80962"/>
                </a:cubicBezTo>
                <a:cubicBezTo>
                  <a:pt x="66675" y="94105"/>
                  <a:pt x="56005" y="104775"/>
                  <a:pt x="42863" y="104775"/>
                </a:cubicBezTo>
                <a:cubicBezTo>
                  <a:pt x="29720" y="104775"/>
                  <a:pt x="19050" y="94105"/>
                  <a:pt x="19050" y="80962"/>
                </a:cubicBezTo>
                <a:close/>
                <a:moveTo>
                  <a:pt x="0" y="142875"/>
                </a:moveTo>
                <a:cubicBezTo>
                  <a:pt x="0" y="127099"/>
                  <a:pt x="12799" y="114300"/>
                  <a:pt x="28575" y="114300"/>
                </a:cubicBezTo>
                <a:lnTo>
                  <a:pt x="57150" y="114300"/>
                </a:lnTo>
                <a:cubicBezTo>
                  <a:pt x="72926" y="114300"/>
                  <a:pt x="85725" y="127099"/>
                  <a:pt x="85725" y="142875"/>
                </a:cubicBezTo>
                <a:cubicBezTo>
                  <a:pt x="85725" y="148144"/>
                  <a:pt x="81469" y="152400"/>
                  <a:pt x="76200" y="152400"/>
                </a:cubicBezTo>
                <a:lnTo>
                  <a:pt x="9525" y="152400"/>
                </a:lnTo>
                <a:cubicBezTo>
                  <a:pt x="4256" y="152400"/>
                  <a:pt x="0" y="148144"/>
                  <a:pt x="0" y="142875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8" name="Text 36"/>
          <p:cNvSpPr/>
          <p:nvPr/>
        </p:nvSpPr>
        <p:spPr>
          <a:xfrm>
            <a:off x="6534150" y="2571750"/>
            <a:ext cx="523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教师价值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43650" y="2838450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支持发布题单和作业，按班级统计提交与通过。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0300" y="3257550"/>
            <a:ext cx="5600700" cy="723900"/>
          </a:xfrm>
          <a:custGeom>
            <a:avLst/>
            <a:gdLst/>
            <a:ahLst/>
            <a:cxnLst/>
            <a:rect l="l" t="t" r="r" b="b"/>
            <a:pathLst>
              <a:path w="5600700" h="723900">
                <a:moveTo>
                  <a:pt x="38099" y="0"/>
                </a:moveTo>
                <a:lnTo>
                  <a:pt x="5562601" y="0"/>
                </a:lnTo>
                <a:cubicBezTo>
                  <a:pt x="5583628" y="0"/>
                  <a:pt x="5600700" y="17072"/>
                  <a:pt x="5600700" y="38099"/>
                </a:cubicBezTo>
                <a:lnTo>
                  <a:pt x="5600700" y="685801"/>
                </a:lnTo>
                <a:cubicBezTo>
                  <a:pt x="5600700" y="706828"/>
                  <a:pt x="5583628" y="723900"/>
                  <a:pt x="556260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10300" y="325755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2" name="Shape 40"/>
          <p:cNvSpPr/>
          <p:nvPr/>
        </p:nvSpPr>
        <p:spPr>
          <a:xfrm>
            <a:off x="6353175" y="34099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88463" y="152400"/>
                </a:lnTo>
                <a:cubicBezTo>
                  <a:pt x="77688" y="139720"/>
                  <a:pt x="71438" y="123379"/>
                  <a:pt x="71438" y="106085"/>
                </a:cubicBezTo>
                <a:lnTo>
                  <a:pt x="71438" y="96828"/>
                </a:lnTo>
                <a:cubicBezTo>
                  <a:pt x="71438" y="94655"/>
                  <a:pt x="71735" y="92512"/>
                  <a:pt x="72301" y="90487"/>
                </a:cubicBezTo>
                <a:lnTo>
                  <a:pt x="57835" y="90487"/>
                </a:lnTo>
                <a:close/>
                <a:moveTo>
                  <a:pt x="132546" y="145405"/>
                </a:moveTo>
                <a:lnTo>
                  <a:pt x="128588" y="147280"/>
                </a:lnTo>
                <a:lnTo>
                  <a:pt x="128588" y="91291"/>
                </a:lnTo>
                <a:lnTo>
                  <a:pt x="157163" y="100816"/>
                </a:lnTo>
                <a:lnTo>
                  <a:pt x="157163" y="106650"/>
                </a:lnTo>
                <a:cubicBezTo>
                  <a:pt x="157163" y="123259"/>
                  <a:pt x="147578" y="138351"/>
                  <a:pt x="132546" y="145435"/>
                </a:cubicBezTo>
                <a:close/>
                <a:moveTo>
                  <a:pt x="125581" y="77242"/>
                </a:moveTo>
                <a:lnTo>
                  <a:pt x="92244" y="88344"/>
                </a:lnTo>
                <a:cubicBezTo>
                  <a:pt x="88344" y="89654"/>
                  <a:pt x="85725" y="93285"/>
                  <a:pt x="85725" y="97393"/>
                </a:cubicBezTo>
                <a:lnTo>
                  <a:pt x="85725" y="106650"/>
                </a:lnTo>
                <a:cubicBezTo>
                  <a:pt x="85725" y="128796"/>
                  <a:pt x="98524" y="148947"/>
                  <a:pt x="118527" y="158353"/>
                </a:cubicBezTo>
                <a:lnTo>
                  <a:pt x="124033" y="160943"/>
                </a:lnTo>
                <a:cubicBezTo>
                  <a:pt x="125462" y="161598"/>
                  <a:pt x="127010" y="161955"/>
                  <a:pt x="128558" y="161955"/>
                </a:cubicBezTo>
                <a:cubicBezTo>
                  <a:pt x="130106" y="161955"/>
                  <a:pt x="131683" y="161598"/>
                  <a:pt x="133082" y="160943"/>
                </a:cubicBezTo>
                <a:lnTo>
                  <a:pt x="138589" y="158353"/>
                </a:lnTo>
                <a:cubicBezTo>
                  <a:pt x="158651" y="148917"/>
                  <a:pt x="171450" y="128766"/>
                  <a:pt x="171450" y="106620"/>
                </a:cubicBezTo>
                <a:lnTo>
                  <a:pt x="171450" y="97363"/>
                </a:lnTo>
                <a:cubicBezTo>
                  <a:pt x="171450" y="93256"/>
                  <a:pt x="168831" y="89624"/>
                  <a:pt x="164931" y="88315"/>
                </a:cubicBezTo>
                <a:lnTo>
                  <a:pt x="131594" y="77212"/>
                </a:lnTo>
                <a:cubicBezTo>
                  <a:pt x="129629" y="76557"/>
                  <a:pt x="127516" y="76557"/>
                  <a:pt x="125581" y="77212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3" name="Text 41"/>
          <p:cNvSpPr/>
          <p:nvPr/>
        </p:nvSpPr>
        <p:spPr>
          <a:xfrm>
            <a:off x="6534150" y="3371850"/>
            <a:ext cx="523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管理者价值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43650" y="3638550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便于管理账号和班级，汇总基础统计数据。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96013" y="4100513"/>
            <a:ext cx="5610225" cy="390525"/>
          </a:xfrm>
          <a:custGeom>
            <a:avLst/>
            <a:gdLst/>
            <a:ahLst/>
            <a:cxnLst/>
            <a:rect l="l" t="t" r="r" b="b"/>
            <a:pathLst>
              <a:path w="5610225" h="390525">
                <a:moveTo>
                  <a:pt x="38100" y="0"/>
                </a:moveTo>
                <a:lnTo>
                  <a:pt x="5572125" y="0"/>
                </a:lnTo>
                <a:cubicBezTo>
                  <a:pt x="5593167" y="0"/>
                  <a:pt x="5610225" y="17058"/>
                  <a:pt x="5610225" y="38100"/>
                </a:cubicBezTo>
                <a:lnTo>
                  <a:pt x="5610225" y="352425"/>
                </a:lnTo>
                <a:cubicBezTo>
                  <a:pt x="5610225" y="373467"/>
                  <a:pt x="5593167" y="390525"/>
                  <a:pt x="5572125" y="390525"/>
                </a:cubicBezTo>
                <a:lnTo>
                  <a:pt x="38100" y="390525"/>
                </a:lnTo>
                <a:cubicBezTo>
                  <a:pt x="17058" y="390525"/>
                  <a:pt x="0" y="373467"/>
                  <a:pt x="0" y="352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F6AD55">
                  <a:alpha val="20000"/>
                </a:srgbClr>
              </a:gs>
            </a:gsLst>
            <a:lin ang="0" scaled="1"/>
          </a:gra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07498" y="4210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95250"/>
                </a:moveTo>
                <a:lnTo>
                  <a:pt x="7293" y="95250"/>
                </a:lnTo>
                <a:cubicBezTo>
                  <a:pt x="-119" y="95250"/>
                  <a:pt x="-4673" y="87184"/>
                  <a:pt x="-863" y="80814"/>
                </a:cubicBezTo>
                <a:lnTo>
                  <a:pt x="14883" y="54560"/>
                </a:lnTo>
                <a:cubicBezTo>
                  <a:pt x="17472" y="50244"/>
                  <a:pt x="22116" y="47625"/>
                  <a:pt x="27146" y="47625"/>
                </a:cubicBezTo>
                <a:lnTo>
                  <a:pt x="55424" y="47625"/>
                </a:lnTo>
                <a:cubicBezTo>
                  <a:pt x="78075" y="9257"/>
                  <a:pt x="111859" y="7322"/>
                  <a:pt x="134451" y="10626"/>
                </a:cubicBezTo>
                <a:cubicBezTo>
                  <a:pt x="138261" y="11192"/>
                  <a:pt x="141238" y="14168"/>
                  <a:pt x="141774" y="17949"/>
                </a:cubicBezTo>
                <a:cubicBezTo>
                  <a:pt x="145078" y="40541"/>
                  <a:pt x="143143" y="74325"/>
                  <a:pt x="104775" y="96976"/>
                </a:cubicBezTo>
                <a:lnTo>
                  <a:pt x="104775" y="125254"/>
                </a:lnTo>
                <a:cubicBezTo>
                  <a:pt x="104775" y="130284"/>
                  <a:pt x="102156" y="134928"/>
                  <a:pt x="97840" y="137517"/>
                </a:cubicBezTo>
                <a:lnTo>
                  <a:pt x="71586" y="153263"/>
                </a:lnTo>
                <a:cubicBezTo>
                  <a:pt x="65246" y="157073"/>
                  <a:pt x="57150" y="152489"/>
                  <a:pt x="57150" y="145107"/>
                </a:cubicBezTo>
                <a:lnTo>
                  <a:pt x="57150" y="114300"/>
                </a:lnTo>
                <a:cubicBezTo>
                  <a:pt x="57150" y="103793"/>
                  <a:pt x="48607" y="95250"/>
                  <a:pt x="38100" y="95250"/>
                </a:cubicBezTo>
                <a:lnTo>
                  <a:pt x="38070" y="95250"/>
                </a:lnTo>
                <a:close/>
                <a:moveTo>
                  <a:pt x="119062" y="47625"/>
                </a:moveTo>
                <a:cubicBezTo>
                  <a:pt x="119062" y="39740"/>
                  <a:pt x="112660" y="33338"/>
                  <a:pt x="104775" y="33338"/>
                </a:cubicBezTo>
                <a:cubicBezTo>
                  <a:pt x="96890" y="33338"/>
                  <a:pt x="90488" y="39740"/>
                  <a:pt x="90488" y="47625"/>
                </a:cubicBezTo>
                <a:cubicBezTo>
                  <a:pt x="90488" y="55510"/>
                  <a:pt x="96890" y="61912"/>
                  <a:pt x="104775" y="61912"/>
                </a:cubicBezTo>
                <a:cubicBezTo>
                  <a:pt x="112660" y="61912"/>
                  <a:pt x="119062" y="55510"/>
                  <a:pt x="119062" y="47625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7" name="Text 45"/>
          <p:cNvSpPr/>
          <p:nvPr/>
        </p:nvSpPr>
        <p:spPr>
          <a:xfrm>
            <a:off x="6429375" y="4181475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全面提升算法训练教学效率和管理水平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1028700" cy="314325"/>
          </a:xfrm>
          <a:custGeom>
            <a:avLst/>
            <a:gdLst/>
            <a:ahLst/>
            <a:cxnLst/>
            <a:rect l="l" t="t" r="r" b="b"/>
            <a:pathLst>
              <a:path w="1028700" h="314325">
                <a:moveTo>
                  <a:pt x="38099" y="0"/>
                </a:moveTo>
                <a:lnTo>
                  <a:pt x="990601" y="0"/>
                </a:lnTo>
                <a:cubicBezTo>
                  <a:pt x="1011642" y="0"/>
                  <a:pt x="1028700" y="17058"/>
                  <a:pt x="1028700" y="38099"/>
                </a:cubicBezTo>
                <a:lnTo>
                  <a:pt x="1028700" y="276226"/>
                </a:lnTo>
                <a:cubicBezTo>
                  <a:pt x="1028700" y="297267"/>
                  <a:pt x="1011642" y="314325"/>
                  <a:pt x="990601" y="314325"/>
                </a:cubicBezTo>
                <a:lnTo>
                  <a:pt x="38099" y="314325"/>
                </a:lnTo>
                <a:cubicBezTo>
                  <a:pt x="17058" y="314325"/>
                  <a:pt x="0" y="297267"/>
                  <a:pt x="0" y="2762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6AD55">
              <a:alpha val="10196"/>
            </a:srgbClr>
          </a:solidFill>
          <a:ln w="12700">
            <a:solidFill>
              <a:srgbClr val="F6AD5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4825" y="466725"/>
            <a:ext cx="8581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810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国内外研究现状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5528" y="13620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21431" y="4789"/>
                  <a:pt x="16643" y="0"/>
                  <a:pt x="10716" y="0"/>
                </a:cubicBezTo>
                <a:cubicBezTo>
                  <a:pt x="4789" y="0"/>
                  <a:pt x="0" y="4789"/>
                  <a:pt x="0" y="10716"/>
                </a:cubicBezTo>
                <a:lnTo>
                  <a:pt x="0" y="160734"/>
                </a:lnTo>
                <a:cubicBezTo>
                  <a:pt x="0" y="166661"/>
                  <a:pt x="4789" y="171450"/>
                  <a:pt x="10716" y="171450"/>
                </a:cubicBezTo>
                <a:cubicBezTo>
                  <a:pt x="16643" y="171450"/>
                  <a:pt x="21431" y="166661"/>
                  <a:pt x="21431" y="160734"/>
                </a:cubicBezTo>
                <a:lnTo>
                  <a:pt x="21431" y="120015"/>
                </a:lnTo>
                <a:lnTo>
                  <a:pt x="42427" y="113720"/>
                </a:lnTo>
                <a:cubicBezTo>
                  <a:pt x="56458" y="109500"/>
                  <a:pt x="71594" y="110806"/>
                  <a:pt x="84687" y="117370"/>
                </a:cubicBezTo>
                <a:cubicBezTo>
                  <a:pt x="98986" y="124536"/>
                  <a:pt x="115662" y="125406"/>
                  <a:pt x="130630" y="119781"/>
                </a:cubicBezTo>
                <a:lnTo>
                  <a:pt x="143054" y="115126"/>
                </a:lnTo>
                <a:cubicBezTo>
                  <a:pt x="147239" y="113552"/>
                  <a:pt x="150019" y="109567"/>
                  <a:pt x="150019" y="105080"/>
                </a:cubicBezTo>
                <a:lnTo>
                  <a:pt x="150019" y="22134"/>
                </a:lnTo>
                <a:cubicBezTo>
                  <a:pt x="150019" y="14433"/>
                  <a:pt x="141915" y="9410"/>
                  <a:pt x="135017" y="12859"/>
                </a:cubicBezTo>
                <a:lnTo>
                  <a:pt x="131065" y="14834"/>
                </a:lnTo>
                <a:cubicBezTo>
                  <a:pt x="116030" y="22369"/>
                  <a:pt x="98316" y="22369"/>
                  <a:pt x="83247" y="14834"/>
                </a:cubicBezTo>
                <a:cubicBezTo>
                  <a:pt x="71058" y="8740"/>
                  <a:pt x="57027" y="7534"/>
                  <a:pt x="44001" y="11452"/>
                </a:cubicBezTo>
                <a:lnTo>
                  <a:pt x="21431" y="18217"/>
                </a:lnTo>
                <a:lnTo>
                  <a:pt x="21431" y="10716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" name="Text 4"/>
          <p:cNvSpPr/>
          <p:nvPr/>
        </p:nvSpPr>
        <p:spPr>
          <a:xfrm>
            <a:off x="600075" y="1314450"/>
            <a:ext cx="550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国内平台分析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657350"/>
            <a:ext cx="5619750" cy="571500"/>
          </a:xfrm>
          <a:custGeom>
            <a:avLst/>
            <a:gdLst/>
            <a:ahLst/>
            <a:cxnLst/>
            <a:rect l="l" t="t" r="r" b="b"/>
            <a:pathLst>
              <a:path w="5619750" h="571500">
                <a:moveTo>
                  <a:pt x="38100" y="0"/>
                </a:moveTo>
                <a:lnTo>
                  <a:pt x="5581648" y="0"/>
                </a:lnTo>
                <a:cubicBezTo>
                  <a:pt x="5602691" y="0"/>
                  <a:pt x="5619750" y="17059"/>
                  <a:pt x="5619750" y="38102"/>
                </a:cubicBezTo>
                <a:lnTo>
                  <a:pt x="5619750" y="533398"/>
                </a:lnTo>
                <a:cubicBezTo>
                  <a:pt x="5619750" y="554441"/>
                  <a:pt x="5602691" y="571500"/>
                  <a:pt x="5581648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00050" y="16573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9" name="Text 7"/>
          <p:cNvSpPr/>
          <p:nvPr/>
        </p:nvSpPr>
        <p:spPr>
          <a:xfrm>
            <a:off x="495300" y="1733550"/>
            <a:ext cx="552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LeetCode 力扣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5300" y="196215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功能全面，社区活跃，面试导向，支持2000+题目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2305050"/>
            <a:ext cx="5619750" cy="571500"/>
          </a:xfrm>
          <a:custGeom>
            <a:avLst/>
            <a:gdLst/>
            <a:ahLst/>
            <a:cxnLst/>
            <a:rect l="l" t="t" r="r" b="b"/>
            <a:pathLst>
              <a:path w="5619750" h="571500">
                <a:moveTo>
                  <a:pt x="38100" y="0"/>
                </a:moveTo>
                <a:lnTo>
                  <a:pt x="5581648" y="0"/>
                </a:lnTo>
                <a:cubicBezTo>
                  <a:pt x="5602691" y="0"/>
                  <a:pt x="5619750" y="17059"/>
                  <a:pt x="5619750" y="38102"/>
                </a:cubicBezTo>
                <a:lnTo>
                  <a:pt x="5619750" y="533398"/>
                </a:lnTo>
                <a:cubicBezTo>
                  <a:pt x="5619750" y="554441"/>
                  <a:pt x="5602691" y="571500"/>
                  <a:pt x="5581648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23050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3" name="Text 11"/>
          <p:cNvSpPr/>
          <p:nvPr/>
        </p:nvSpPr>
        <p:spPr>
          <a:xfrm>
            <a:off x="495300" y="2381250"/>
            <a:ext cx="552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牛客网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5300" y="260985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剑指Offer，企业真题，讨论区活跃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050" y="2952750"/>
            <a:ext cx="5619750" cy="571500"/>
          </a:xfrm>
          <a:custGeom>
            <a:avLst/>
            <a:gdLst/>
            <a:ahLst/>
            <a:cxnLst/>
            <a:rect l="l" t="t" r="r" b="b"/>
            <a:pathLst>
              <a:path w="5619750" h="571500">
                <a:moveTo>
                  <a:pt x="38100" y="0"/>
                </a:moveTo>
                <a:lnTo>
                  <a:pt x="5581648" y="0"/>
                </a:lnTo>
                <a:cubicBezTo>
                  <a:pt x="5602691" y="0"/>
                  <a:pt x="5619750" y="17059"/>
                  <a:pt x="5619750" y="38102"/>
                </a:cubicBezTo>
                <a:lnTo>
                  <a:pt x="5619750" y="533398"/>
                </a:lnTo>
                <a:cubicBezTo>
                  <a:pt x="5619750" y="554441"/>
                  <a:pt x="5602691" y="571500"/>
                  <a:pt x="5581648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00050" y="29527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7" name="Text 15"/>
          <p:cNvSpPr/>
          <p:nvPr/>
        </p:nvSpPr>
        <p:spPr>
          <a:xfrm>
            <a:off x="495300" y="3028950"/>
            <a:ext cx="552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洛谷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5300" y="325755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算法竞赛特色，题单系统，团队功能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6013" y="13620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7838" y="93762"/>
                </a:moveTo>
                <a:lnTo>
                  <a:pt x="53913" y="93762"/>
                </a:lnTo>
                <a:cubicBezTo>
                  <a:pt x="54884" y="115360"/>
                  <a:pt x="59673" y="135251"/>
                  <a:pt x="66470" y="149818"/>
                </a:cubicBezTo>
                <a:cubicBezTo>
                  <a:pt x="70288" y="158022"/>
                  <a:pt x="74407" y="163815"/>
                  <a:pt x="78224" y="167365"/>
                </a:cubicBezTo>
                <a:cubicBezTo>
                  <a:pt x="81975" y="170881"/>
                  <a:pt x="84553" y="171450"/>
                  <a:pt x="85892" y="171450"/>
                </a:cubicBezTo>
                <a:cubicBezTo>
                  <a:pt x="87232" y="171450"/>
                  <a:pt x="89810" y="170881"/>
                  <a:pt x="93561" y="167365"/>
                </a:cubicBezTo>
                <a:cubicBezTo>
                  <a:pt x="97378" y="163815"/>
                  <a:pt x="101497" y="157988"/>
                  <a:pt x="105315" y="149818"/>
                </a:cubicBezTo>
                <a:cubicBezTo>
                  <a:pt x="112112" y="135251"/>
                  <a:pt x="116901" y="115360"/>
                  <a:pt x="117872" y="93762"/>
                </a:cubicBezTo>
                <a:close/>
                <a:moveTo>
                  <a:pt x="53880" y="77688"/>
                </a:moveTo>
                <a:lnTo>
                  <a:pt x="117805" y="77688"/>
                </a:lnTo>
                <a:cubicBezTo>
                  <a:pt x="116867" y="56090"/>
                  <a:pt x="112079" y="36199"/>
                  <a:pt x="105281" y="21632"/>
                </a:cubicBezTo>
                <a:cubicBezTo>
                  <a:pt x="101464" y="13462"/>
                  <a:pt x="97345" y="7635"/>
                  <a:pt x="93527" y="4085"/>
                </a:cubicBezTo>
                <a:cubicBezTo>
                  <a:pt x="89777" y="569"/>
                  <a:pt x="87198" y="0"/>
                  <a:pt x="85859" y="0"/>
                </a:cubicBezTo>
                <a:cubicBezTo>
                  <a:pt x="84519" y="0"/>
                  <a:pt x="81941" y="569"/>
                  <a:pt x="78191" y="4085"/>
                </a:cubicBezTo>
                <a:cubicBezTo>
                  <a:pt x="74373" y="7635"/>
                  <a:pt x="70254" y="13462"/>
                  <a:pt x="66437" y="21632"/>
                </a:cubicBezTo>
                <a:cubicBezTo>
                  <a:pt x="59639" y="36199"/>
                  <a:pt x="54851" y="56090"/>
                  <a:pt x="53880" y="77688"/>
                </a:cubicBezTo>
                <a:close/>
                <a:moveTo>
                  <a:pt x="37806" y="77688"/>
                </a:moveTo>
                <a:cubicBezTo>
                  <a:pt x="38978" y="49024"/>
                  <a:pt x="46379" y="22402"/>
                  <a:pt x="57195" y="4922"/>
                </a:cubicBezTo>
                <a:cubicBezTo>
                  <a:pt x="26354" y="15839"/>
                  <a:pt x="3650" y="43934"/>
                  <a:pt x="502" y="77688"/>
                </a:cubicBezTo>
                <a:lnTo>
                  <a:pt x="37806" y="77688"/>
                </a:lnTo>
                <a:close/>
                <a:moveTo>
                  <a:pt x="502" y="93762"/>
                </a:moveTo>
                <a:cubicBezTo>
                  <a:pt x="3650" y="127516"/>
                  <a:pt x="26354" y="155611"/>
                  <a:pt x="57195" y="166528"/>
                </a:cubicBezTo>
                <a:cubicBezTo>
                  <a:pt x="46379" y="149048"/>
                  <a:pt x="38978" y="122426"/>
                  <a:pt x="37806" y="93762"/>
                </a:cubicBezTo>
                <a:lnTo>
                  <a:pt x="502" y="93762"/>
                </a:lnTo>
                <a:close/>
                <a:moveTo>
                  <a:pt x="133912" y="93762"/>
                </a:moveTo>
                <a:cubicBezTo>
                  <a:pt x="132740" y="122426"/>
                  <a:pt x="125339" y="149048"/>
                  <a:pt x="114523" y="166528"/>
                </a:cubicBezTo>
                <a:cubicBezTo>
                  <a:pt x="145364" y="155577"/>
                  <a:pt x="168068" y="127516"/>
                  <a:pt x="171216" y="93762"/>
                </a:cubicBezTo>
                <a:lnTo>
                  <a:pt x="133912" y="93762"/>
                </a:lnTo>
                <a:close/>
                <a:moveTo>
                  <a:pt x="171216" y="77688"/>
                </a:moveTo>
                <a:cubicBezTo>
                  <a:pt x="168068" y="43934"/>
                  <a:pt x="145364" y="15839"/>
                  <a:pt x="114523" y="4922"/>
                </a:cubicBezTo>
                <a:cubicBezTo>
                  <a:pt x="125339" y="22402"/>
                  <a:pt x="132740" y="49024"/>
                  <a:pt x="133912" y="77688"/>
                </a:cubicBezTo>
                <a:lnTo>
                  <a:pt x="171216" y="77688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0" name="Text 18"/>
          <p:cNvSpPr/>
          <p:nvPr/>
        </p:nvSpPr>
        <p:spPr>
          <a:xfrm>
            <a:off x="6391275" y="1314450"/>
            <a:ext cx="550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国外平台分析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1250" y="1657350"/>
            <a:ext cx="5619750" cy="571500"/>
          </a:xfrm>
          <a:custGeom>
            <a:avLst/>
            <a:gdLst/>
            <a:ahLst/>
            <a:cxnLst/>
            <a:rect l="l" t="t" r="r" b="b"/>
            <a:pathLst>
              <a:path w="5619750" h="571500">
                <a:moveTo>
                  <a:pt x="38100" y="0"/>
                </a:moveTo>
                <a:lnTo>
                  <a:pt x="5581648" y="0"/>
                </a:lnTo>
                <a:cubicBezTo>
                  <a:pt x="5602691" y="0"/>
                  <a:pt x="5619750" y="17059"/>
                  <a:pt x="5619750" y="38102"/>
                </a:cubicBezTo>
                <a:lnTo>
                  <a:pt x="5619750" y="533398"/>
                </a:lnTo>
                <a:cubicBezTo>
                  <a:pt x="5619750" y="554441"/>
                  <a:pt x="5602691" y="571500"/>
                  <a:pt x="5581648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191250" y="16573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3" name="Text 21"/>
          <p:cNvSpPr/>
          <p:nvPr/>
        </p:nvSpPr>
        <p:spPr>
          <a:xfrm>
            <a:off x="6286500" y="1733550"/>
            <a:ext cx="552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Codeforces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86500" y="196215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竞赛体系完善，评测高效，Rating机制成熟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1250" y="2305050"/>
            <a:ext cx="5619750" cy="571500"/>
          </a:xfrm>
          <a:custGeom>
            <a:avLst/>
            <a:gdLst/>
            <a:ahLst/>
            <a:cxnLst/>
            <a:rect l="l" t="t" r="r" b="b"/>
            <a:pathLst>
              <a:path w="5619750" h="571500">
                <a:moveTo>
                  <a:pt x="38100" y="0"/>
                </a:moveTo>
                <a:lnTo>
                  <a:pt x="5581648" y="0"/>
                </a:lnTo>
                <a:cubicBezTo>
                  <a:pt x="5602691" y="0"/>
                  <a:pt x="5619750" y="17059"/>
                  <a:pt x="5619750" y="38102"/>
                </a:cubicBezTo>
                <a:lnTo>
                  <a:pt x="5619750" y="533398"/>
                </a:lnTo>
                <a:cubicBezTo>
                  <a:pt x="5619750" y="554441"/>
                  <a:pt x="5602691" y="571500"/>
                  <a:pt x="5581648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191250" y="23050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7" name="Text 25"/>
          <p:cNvSpPr/>
          <p:nvPr/>
        </p:nvSpPr>
        <p:spPr>
          <a:xfrm>
            <a:off x="6286500" y="2381250"/>
            <a:ext cx="552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HackerRank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86500" y="260985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多语言支持，企业合作，专项练习路径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1250" y="2952750"/>
            <a:ext cx="5619750" cy="571500"/>
          </a:xfrm>
          <a:custGeom>
            <a:avLst/>
            <a:gdLst/>
            <a:ahLst/>
            <a:cxnLst/>
            <a:rect l="l" t="t" r="r" b="b"/>
            <a:pathLst>
              <a:path w="5619750" h="571500">
                <a:moveTo>
                  <a:pt x="38100" y="0"/>
                </a:moveTo>
                <a:lnTo>
                  <a:pt x="5581648" y="0"/>
                </a:lnTo>
                <a:cubicBezTo>
                  <a:pt x="5602691" y="0"/>
                  <a:pt x="5619750" y="17059"/>
                  <a:pt x="5619750" y="38102"/>
                </a:cubicBezTo>
                <a:lnTo>
                  <a:pt x="5619750" y="533398"/>
                </a:lnTo>
                <a:cubicBezTo>
                  <a:pt x="5619750" y="554441"/>
                  <a:pt x="5602691" y="571500"/>
                  <a:pt x="5581648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191250" y="29527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1" name="Text 29"/>
          <p:cNvSpPr/>
          <p:nvPr/>
        </p:nvSpPr>
        <p:spPr>
          <a:xfrm>
            <a:off x="6286500" y="3028950"/>
            <a:ext cx="552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AtCoder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86500" y="325755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日本平台，Beginner/Regular/Grand分级赛制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04813" y="36861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85725" y="45541"/>
                </a:moveTo>
                <a:cubicBezTo>
                  <a:pt x="90179" y="45541"/>
                  <a:pt x="93762" y="49124"/>
                  <a:pt x="93762" y="53578"/>
                </a:cubicBezTo>
                <a:lnTo>
                  <a:pt x="93762" y="91083"/>
                </a:lnTo>
                <a:cubicBezTo>
                  <a:pt x="93762" y="95536"/>
                  <a:pt x="90179" y="99120"/>
                  <a:pt x="85725" y="99120"/>
                </a:cubicBezTo>
                <a:cubicBezTo>
                  <a:pt x="81271" y="99120"/>
                  <a:pt x="77688" y="95536"/>
                  <a:pt x="77688" y="91083"/>
                </a:cubicBezTo>
                <a:lnTo>
                  <a:pt x="77688" y="53578"/>
                </a:lnTo>
                <a:cubicBezTo>
                  <a:pt x="77688" y="49124"/>
                  <a:pt x="81271" y="45541"/>
                  <a:pt x="85725" y="45541"/>
                </a:cubicBezTo>
                <a:close/>
                <a:moveTo>
                  <a:pt x="76784" y="117872"/>
                </a:moveTo>
                <a:cubicBezTo>
                  <a:pt x="76581" y="114553"/>
                  <a:pt x="78236" y="111396"/>
                  <a:pt x="81081" y="109675"/>
                </a:cubicBezTo>
                <a:cubicBezTo>
                  <a:pt x="83926" y="107954"/>
                  <a:pt x="87491" y="107954"/>
                  <a:pt x="90336" y="109675"/>
                </a:cubicBezTo>
                <a:cubicBezTo>
                  <a:pt x="93181" y="111396"/>
                  <a:pt x="94836" y="114553"/>
                  <a:pt x="94632" y="117872"/>
                </a:cubicBezTo>
                <a:cubicBezTo>
                  <a:pt x="94836" y="121191"/>
                  <a:pt x="93181" y="124348"/>
                  <a:pt x="90336" y="126069"/>
                </a:cubicBezTo>
                <a:cubicBezTo>
                  <a:pt x="87491" y="127790"/>
                  <a:pt x="83926" y="127790"/>
                  <a:pt x="81081" y="126069"/>
                </a:cubicBezTo>
                <a:cubicBezTo>
                  <a:pt x="78236" y="124348"/>
                  <a:pt x="76581" y="121191"/>
                  <a:pt x="76784" y="117872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4" name="Text 32"/>
          <p:cNvSpPr/>
          <p:nvPr/>
        </p:nvSpPr>
        <p:spPr>
          <a:xfrm>
            <a:off x="600075" y="3638550"/>
            <a:ext cx="11296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6AD5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现有平台存在问题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1000" y="4000500"/>
            <a:ext cx="2771775" cy="971550"/>
          </a:xfrm>
          <a:custGeom>
            <a:avLst/>
            <a:gdLst/>
            <a:ahLst/>
            <a:cxnLst/>
            <a:rect l="l" t="t" r="r" b="b"/>
            <a:pathLst>
              <a:path w="2771775" h="9715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933446"/>
                </a:lnTo>
                <a:cubicBezTo>
                  <a:pt x="2771775" y="954490"/>
                  <a:pt x="2754715" y="971550"/>
                  <a:pt x="2733671" y="971550"/>
                </a:cubicBezTo>
                <a:lnTo>
                  <a:pt x="38104" y="971550"/>
                </a:lnTo>
                <a:cubicBezTo>
                  <a:pt x="17060" y="971550"/>
                  <a:pt x="0" y="954490"/>
                  <a:pt x="0" y="93344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1000" y="400050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7" name="Shape 35"/>
          <p:cNvSpPr/>
          <p:nvPr/>
        </p:nvSpPr>
        <p:spPr>
          <a:xfrm>
            <a:off x="1652588" y="4133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013" y="0"/>
                </a:moveTo>
                <a:cubicBezTo>
                  <a:pt x="115773" y="0"/>
                  <a:pt x="128588" y="9599"/>
                  <a:pt x="128588" y="21431"/>
                </a:cubicBezTo>
                <a:cubicBezTo>
                  <a:pt x="128588" y="26075"/>
                  <a:pt x="126623" y="30361"/>
                  <a:pt x="123230" y="33888"/>
                </a:cubicBezTo>
                <a:cubicBezTo>
                  <a:pt x="120283" y="36969"/>
                  <a:pt x="117872" y="40719"/>
                  <a:pt x="117872" y="45006"/>
                </a:cubicBezTo>
                <a:cubicBezTo>
                  <a:pt x="117872" y="51703"/>
                  <a:pt x="123319" y="57150"/>
                  <a:pt x="130016" y="57150"/>
                </a:cubicBezTo>
                <a:lnTo>
                  <a:pt x="150019" y="57150"/>
                </a:lnTo>
                <a:cubicBezTo>
                  <a:pt x="161851" y="57150"/>
                  <a:pt x="171450" y="66749"/>
                  <a:pt x="171450" y="78581"/>
                </a:cubicBezTo>
                <a:lnTo>
                  <a:pt x="171450" y="98584"/>
                </a:lnTo>
                <a:cubicBezTo>
                  <a:pt x="171450" y="105281"/>
                  <a:pt x="176897" y="110728"/>
                  <a:pt x="183594" y="110728"/>
                </a:cubicBezTo>
                <a:cubicBezTo>
                  <a:pt x="187836" y="110728"/>
                  <a:pt x="191631" y="108317"/>
                  <a:pt x="194712" y="105370"/>
                </a:cubicBezTo>
                <a:cubicBezTo>
                  <a:pt x="198239" y="102022"/>
                  <a:pt x="202525" y="100013"/>
                  <a:pt x="207169" y="100013"/>
                </a:cubicBezTo>
                <a:cubicBezTo>
                  <a:pt x="219001" y="100013"/>
                  <a:pt x="228600" y="112827"/>
                  <a:pt x="228600" y="128588"/>
                </a:cubicBezTo>
                <a:cubicBezTo>
                  <a:pt x="228600" y="144348"/>
                  <a:pt x="219001" y="157163"/>
                  <a:pt x="207169" y="157163"/>
                </a:cubicBezTo>
                <a:cubicBezTo>
                  <a:pt x="202525" y="157163"/>
                  <a:pt x="198194" y="155198"/>
                  <a:pt x="194712" y="151805"/>
                </a:cubicBezTo>
                <a:cubicBezTo>
                  <a:pt x="191631" y="148858"/>
                  <a:pt x="187881" y="146447"/>
                  <a:pt x="183594" y="146447"/>
                </a:cubicBezTo>
                <a:cubicBezTo>
                  <a:pt x="176897" y="146447"/>
                  <a:pt x="171450" y="151894"/>
                  <a:pt x="171450" y="158591"/>
                </a:cubicBezTo>
                <a:lnTo>
                  <a:pt x="171450" y="207169"/>
                </a:lnTo>
                <a:cubicBezTo>
                  <a:pt x="171450" y="219001"/>
                  <a:pt x="161851" y="228600"/>
                  <a:pt x="150019" y="228600"/>
                </a:cubicBezTo>
                <a:lnTo>
                  <a:pt x="124658" y="228600"/>
                </a:lnTo>
                <a:cubicBezTo>
                  <a:pt x="118943" y="228600"/>
                  <a:pt x="114300" y="223957"/>
                  <a:pt x="114300" y="218242"/>
                </a:cubicBezTo>
                <a:cubicBezTo>
                  <a:pt x="114300" y="214134"/>
                  <a:pt x="116890" y="210517"/>
                  <a:pt x="120194" y="208062"/>
                </a:cubicBezTo>
                <a:cubicBezTo>
                  <a:pt x="125373" y="204177"/>
                  <a:pt x="128588" y="198819"/>
                  <a:pt x="128588" y="192881"/>
                </a:cubicBezTo>
                <a:cubicBezTo>
                  <a:pt x="128588" y="181049"/>
                  <a:pt x="115773" y="171450"/>
                  <a:pt x="100013" y="171450"/>
                </a:cubicBezTo>
                <a:cubicBezTo>
                  <a:pt x="84252" y="171450"/>
                  <a:pt x="71438" y="181049"/>
                  <a:pt x="71438" y="192881"/>
                </a:cubicBezTo>
                <a:cubicBezTo>
                  <a:pt x="71438" y="198819"/>
                  <a:pt x="74652" y="204177"/>
                  <a:pt x="79831" y="208062"/>
                </a:cubicBezTo>
                <a:cubicBezTo>
                  <a:pt x="83135" y="210517"/>
                  <a:pt x="85725" y="214089"/>
                  <a:pt x="85725" y="218242"/>
                </a:cubicBezTo>
                <a:cubicBezTo>
                  <a:pt x="85725" y="223957"/>
                  <a:pt x="81082" y="228600"/>
                  <a:pt x="75367" y="228600"/>
                </a:cubicBezTo>
                <a:lnTo>
                  <a:pt x="21431" y="228600"/>
                </a:lnTo>
                <a:cubicBezTo>
                  <a:pt x="9599" y="228600"/>
                  <a:pt x="0" y="219001"/>
                  <a:pt x="0" y="207169"/>
                </a:cubicBezTo>
                <a:lnTo>
                  <a:pt x="0" y="153233"/>
                </a:lnTo>
                <a:cubicBezTo>
                  <a:pt x="0" y="147518"/>
                  <a:pt x="4643" y="142875"/>
                  <a:pt x="10358" y="142875"/>
                </a:cubicBezTo>
                <a:cubicBezTo>
                  <a:pt x="14466" y="142875"/>
                  <a:pt x="18083" y="145465"/>
                  <a:pt x="20538" y="148769"/>
                </a:cubicBezTo>
                <a:cubicBezTo>
                  <a:pt x="24423" y="153948"/>
                  <a:pt x="29781" y="157163"/>
                  <a:pt x="35719" y="157163"/>
                </a:cubicBezTo>
                <a:cubicBezTo>
                  <a:pt x="47551" y="157163"/>
                  <a:pt x="57150" y="144348"/>
                  <a:pt x="57150" y="128588"/>
                </a:cubicBezTo>
                <a:cubicBezTo>
                  <a:pt x="57150" y="112827"/>
                  <a:pt x="47551" y="100013"/>
                  <a:pt x="35719" y="100013"/>
                </a:cubicBezTo>
                <a:cubicBezTo>
                  <a:pt x="29781" y="100013"/>
                  <a:pt x="24423" y="103227"/>
                  <a:pt x="20538" y="108406"/>
                </a:cubicBezTo>
                <a:cubicBezTo>
                  <a:pt x="18083" y="111710"/>
                  <a:pt x="14511" y="114300"/>
                  <a:pt x="10358" y="114300"/>
                </a:cubicBezTo>
                <a:cubicBezTo>
                  <a:pt x="4643" y="114300"/>
                  <a:pt x="0" y="109657"/>
                  <a:pt x="0" y="103942"/>
                </a:cubicBezTo>
                <a:lnTo>
                  <a:pt x="0" y="78581"/>
                </a:lnTo>
                <a:cubicBezTo>
                  <a:pt x="0" y="66749"/>
                  <a:pt x="9599" y="57150"/>
                  <a:pt x="21431" y="57150"/>
                </a:cubicBezTo>
                <a:lnTo>
                  <a:pt x="70009" y="57150"/>
                </a:lnTo>
                <a:cubicBezTo>
                  <a:pt x="76706" y="57150"/>
                  <a:pt x="82153" y="51703"/>
                  <a:pt x="82153" y="45006"/>
                </a:cubicBezTo>
                <a:cubicBezTo>
                  <a:pt x="82153" y="40764"/>
                  <a:pt x="79742" y="36969"/>
                  <a:pt x="76795" y="33888"/>
                </a:cubicBezTo>
                <a:cubicBezTo>
                  <a:pt x="73447" y="30361"/>
                  <a:pt x="71438" y="26075"/>
                  <a:pt x="71438" y="21431"/>
                </a:cubicBezTo>
                <a:cubicBezTo>
                  <a:pt x="71438" y="9599"/>
                  <a:pt x="84252" y="0"/>
                  <a:pt x="100013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400550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教学管理缺失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1963" y="4667250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缺少训练计划和班级管理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267075" y="4000500"/>
            <a:ext cx="2771775" cy="971550"/>
          </a:xfrm>
          <a:custGeom>
            <a:avLst/>
            <a:gdLst/>
            <a:ahLst/>
            <a:cxnLst/>
            <a:rect l="l" t="t" r="r" b="b"/>
            <a:pathLst>
              <a:path w="2771775" h="9715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933446"/>
                </a:lnTo>
                <a:cubicBezTo>
                  <a:pt x="2771775" y="954490"/>
                  <a:pt x="2754715" y="971550"/>
                  <a:pt x="2733671" y="971550"/>
                </a:cubicBezTo>
                <a:lnTo>
                  <a:pt x="38104" y="971550"/>
                </a:lnTo>
                <a:cubicBezTo>
                  <a:pt x="17060" y="971550"/>
                  <a:pt x="0" y="954490"/>
                  <a:pt x="0" y="93344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267075" y="400050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2" name="Shape 40"/>
          <p:cNvSpPr/>
          <p:nvPr/>
        </p:nvSpPr>
        <p:spPr>
          <a:xfrm>
            <a:off x="4538663" y="4133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3" name="Text 41"/>
          <p:cNvSpPr/>
          <p:nvPr/>
        </p:nvSpPr>
        <p:spPr>
          <a:xfrm>
            <a:off x="3343275" y="4400550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组织结构图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348038" y="4667250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不支持学校院系班级管理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53150" y="4000500"/>
            <a:ext cx="2771775" cy="971550"/>
          </a:xfrm>
          <a:custGeom>
            <a:avLst/>
            <a:gdLst/>
            <a:ahLst/>
            <a:cxnLst/>
            <a:rect l="l" t="t" r="r" b="b"/>
            <a:pathLst>
              <a:path w="2771775" h="9715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933446"/>
                </a:lnTo>
                <a:cubicBezTo>
                  <a:pt x="2771775" y="954490"/>
                  <a:pt x="2754715" y="971550"/>
                  <a:pt x="2733671" y="971550"/>
                </a:cubicBezTo>
                <a:lnTo>
                  <a:pt x="38104" y="971550"/>
                </a:lnTo>
                <a:cubicBezTo>
                  <a:pt x="17060" y="971550"/>
                  <a:pt x="0" y="954490"/>
                  <a:pt x="0" y="93344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153150" y="400050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7" name="Shape 45"/>
          <p:cNvSpPr/>
          <p:nvPr/>
        </p:nvSpPr>
        <p:spPr>
          <a:xfrm>
            <a:off x="7396162" y="41338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100013"/>
                </a:moveTo>
                <a:cubicBezTo>
                  <a:pt x="168503" y="100013"/>
                  <a:pt x="189309" y="79206"/>
                  <a:pt x="189309" y="53578"/>
                </a:cubicBezTo>
                <a:cubicBezTo>
                  <a:pt x="189309" y="27950"/>
                  <a:pt x="168503" y="7144"/>
                  <a:pt x="142875" y="7144"/>
                </a:cubicBezTo>
                <a:cubicBezTo>
                  <a:pt x="117247" y="7144"/>
                  <a:pt x="96441" y="27950"/>
                  <a:pt x="96441" y="53578"/>
                </a:cubicBezTo>
                <a:cubicBezTo>
                  <a:pt x="96441" y="79206"/>
                  <a:pt x="117247" y="100013"/>
                  <a:pt x="142875" y="100013"/>
                </a:cubicBezTo>
                <a:close/>
                <a:moveTo>
                  <a:pt x="42863" y="103584"/>
                </a:moveTo>
                <a:cubicBezTo>
                  <a:pt x="60605" y="103584"/>
                  <a:pt x="75009" y="89180"/>
                  <a:pt x="75009" y="71438"/>
                </a:cubicBezTo>
                <a:cubicBezTo>
                  <a:pt x="75009" y="53695"/>
                  <a:pt x="60605" y="39291"/>
                  <a:pt x="42863" y="39291"/>
                </a:cubicBezTo>
                <a:cubicBezTo>
                  <a:pt x="25120" y="39291"/>
                  <a:pt x="10716" y="53695"/>
                  <a:pt x="10716" y="71438"/>
                </a:cubicBezTo>
                <a:cubicBezTo>
                  <a:pt x="10716" y="89180"/>
                  <a:pt x="25120" y="103584"/>
                  <a:pt x="42862" y="103584"/>
                </a:cubicBezTo>
                <a:close/>
                <a:moveTo>
                  <a:pt x="0" y="185738"/>
                </a:moveTo>
                <a:lnTo>
                  <a:pt x="0" y="200025"/>
                </a:lnTo>
                <a:cubicBezTo>
                  <a:pt x="0" y="207928"/>
                  <a:pt x="6385" y="214313"/>
                  <a:pt x="14288" y="214313"/>
                </a:cubicBezTo>
                <a:lnTo>
                  <a:pt x="52998" y="214313"/>
                </a:lnTo>
                <a:cubicBezTo>
                  <a:pt x="51078" y="209937"/>
                  <a:pt x="50006" y="205115"/>
                  <a:pt x="50006" y="200025"/>
                </a:cubicBezTo>
                <a:lnTo>
                  <a:pt x="50006" y="192881"/>
                </a:lnTo>
                <a:cubicBezTo>
                  <a:pt x="50006" y="169128"/>
                  <a:pt x="58936" y="147429"/>
                  <a:pt x="73625" y="130999"/>
                </a:cubicBezTo>
                <a:cubicBezTo>
                  <a:pt x="68401" y="129436"/>
                  <a:pt x="62865" y="128588"/>
                  <a:pt x="57150" y="128588"/>
                </a:cubicBezTo>
                <a:cubicBezTo>
                  <a:pt x="25584" y="128588"/>
                  <a:pt x="0" y="154171"/>
                  <a:pt x="0" y="185738"/>
                </a:cubicBezTo>
                <a:close/>
                <a:moveTo>
                  <a:pt x="275034" y="71438"/>
                </a:moveTo>
                <a:cubicBezTo>
                  <a:pt x="275034" y="53695"/>
                  <a:pt x="260630" y="39291"/>
                  <a:pt x="242888" y="39291"/>
                </a:cubicBezTo>
                <a:cubicBezTo>
                  <a:pt x="225145" y="39291"/>
                  <a:pt x="210741" y="53695"/>
                  <a:pt x="210741" y="71438"/>
                </a:cubicBezTo>
                <a:cubicBezTo>
                  <a:pt x="210741" y="89180"/>
                  <a:pt x="225145" y="103584"/>
                  <a:pt x="242888" y="103584"/>
                </a:cubicBezTo>
                <a:cubicBezTo>
                  <a:pt x="260630" y="103584"/>
                  <a:pt x="275034" y="89180"/>
                  <a:pt x="275034" y="71438"/>
                </a:cubicBezTo>
                <a:close/>
                <a:moveTo>
                  <a:pt x="71438" y="192881"/>
                </a:moveTo>
                <a:lnTo>
                  <a:pt x="71438" y="200025"/>
                </a:lnTo>
                <a:cubicBezTo>
                  <a:pt x="71438" y="207928"/>
                  <a:pt x="77822" y="214313"/>
                  <a:pt x="85725" y="214313"/>
                </a:cubicBezTo>
                <a:lnTo>
                  <a:pt x="155734" y="214313"/>
                </a:lnTo>
                <a:cubicBezTo>
                  <a:pt x="152564" y="204668"/>
                  <a:pt x="152921" y="194489"/>
                  <a:pt x="160511" y="185738"/>
                </a:cubicBezTo>
                <a:cubicBezTo>
                  <a:pt x="154260" y="178504"/>
                  <a:pt x="151358" y="168012"/>
                  <a:pt x="155421" y="157475"/>
                </a:cubicBezTo>
                <a:cubicBezTo>
                  <a:pt x="158368" y="149840"/>
                  <a:pt x="162520" y="142696"/>
                  <a:pt x="167655" y="136356"/>
                </a:cubicBezTo>
                <a:cubicBezTo>
                  <a:pt x="170066" y="133410"/>
                  <a:pt x="172834" y="131132"/>
                  <a:pt x="175826" y="129480"/>
                </a:cubicBezTo>
                <a:cubicBezTo>
                  <a:pt x="165958" y="124346"/>
                  <a:pt x="154751" y="121444"/>
                  <a:pt x="142875" y="121444"/>
                </a:cubicBezTo>
                <a:cubicBezTo>
                  <a:pt x="103406" y="121444"/>
                  <a:pt x="71438" y="153412"/>
                  <a:pt x="71438" y="192881"/>
                </a:cubicBezTo>
                <a:close/>
                <a:moveTo>
                  <a:pt x="278874" y="173191"/>
                </a:moveTo>
                <a:cubicBezTo>
                  <a:pt x="281687" y="171584"/>
                  <a:pt x="283116" y="168235"/>
                  <a:pt x="281910" y="165155"/>
                </a:cubicBezTo>
                <a:cubicBezTo>
                  <a:pt x="279767" y="159618"/>
                  <a:pt x="276776" y="154394"/>
                  <a:pt x="273025" y="149796"/>
                </a:cubicBezTo>
                <a:cubicBezTo>
                  <a:pt x="270971" y="147251"/>
                  <a:pt x="267355" y="146804"/>
                  <a:pt x="264542" y="148456"/>
                </a:cubicBezTo>
                <a:cubicBezTo>
                  <a:pt x="254809" y="154082"/>
                  <a:pt x="242843" y="147206"/>
                  <a:pt x="242843" y="135910"/>
                </a:cubicBezTo>
                <a:cubicBezTo>
                  <a:pt x="242843" y="132651"/>
                  <a:pt x="240655" y="129748"/>
                  <a:pt x="237440" y="129257"/>
                </a:cubicBezTo>
                <a:cubicBezTo>
                  <a:pt x="231681" y="128364"/>
                  <a:pt x="225475" y="128364"/>
                  <a:pt x="219715" y="129257"/>
                </a:cubicBezTo>
                <a:cubicBezTo>
                  <a:pt x="216500" y="129748"/>
                  <a:pt x="214312" y="132651"/>
                  <a:pt x="214312" y="135910"/>
                </a:cubicBezTo>
                <a:cubicBezTo>
                  <a:pt x="214312" y="147161"/>
                  <a:pt x="202347" y="154082"/>
                  <a:pt x="192613" y="148456"/>
                </a:cubicBezTo>
                <a:cubicBezTo>
                  <a:pt x="189801" y="146849"/>
                  <a:pt x="186184" y="147295"/>
                  <a:pt x="184130" y="149796"/>
                </a:cubicBezTo>
                <a:cubicBezTo>
                  <a:pt x="180380" y="154394"/>
                  <a:pt x="177388" y="159618"/>
                  <a:pt x="175245" y="165155"/>
                </a:cubicBezTo>
                <a:cubicBezTo>
                  <a:pt x="174084" y="168191"/>
                  <a:pt x="175468" y="171539"/>
                  <a:pt x="178281" y="173147"/>
                </a:cubicBezTo>
                <a:cubicBezTo>
                  <a:pt x="188059" y="178772"/>
                  <a:pt x="188059" y="192569"/>
                  <a:pt x="178281" y="198239"/>
                </a:cubicBezTo>
                <a:cubicBezTo>
                  <a:pt x="175468" y="199846"/>
                  <a:pt x="174040" y="203195"/>
                  <a:pt x="175245" y="206231"/>
                </a:cubicBezTo>
                <a:cubicBezTo>
                  <a:pt x="177388" y="211768"/>
                  <a:pt x="180380" y="216991"/>
                  <a:pt x="184130" y="221590"/>
                </a:cubicBezTo>
                <a:cubicBezTo>
                  <a:pt x="186184" y="224135"/>
                  <a:pt x="189801" y="224582"/>
                  <a:pt x="192613" y="222930"/>
                </a:cubicBezTo>
                <a:cubicBezTo>
                  <a:pt x="202347" y="217304"/>
                  <a:pt x="214312" y="224224"/>
                  <a:pt x="214312" y="235476"/>
                </a:cubicBezTo>
                <a:cubicBezTo>
                  <a:pt x="214312" y="238735"/>
                  <a:pt x="216500" y="241637"/>
                  <a:pt x="219715" y="242128"/>
                </a:cubicBezTo>
                <a:cubicBezTo>
                  <a:pt x="225475" y="243021"/>
                  <a:pt x="231681" y="243021"/>
                  <a:pt x="237440" y="242128"/>
                </a:cubicBezTo>
                <a:cubicBezTo>
                  <a:pt x="240655" y="241637"/>
                  <a:pt x="242843" y="238735"/>
                  <a:pt x="242843" y="235476"/>
                </a:cubicBezTo>
                <a:cubicBezTo>
                  <a:pt x="242843" y="224224"/>
                  <a:pt x="254809" y="217304"/>
                  <a:pt x="264542" y="222930"/>
                </a:cubicBezTo>
                <a:cubicBezTo>
                  <a:pt x="267355" y="224537"/>
                  <a:pt x="270971" y="224091"/>
                  <a:pt x="273025" y="221590"/>
                </a:cubicBezTo>
                <a:cubicBezTo>
                  <a:pt x="276776" y="216991"/>
                  <a:pt x="279767" y="211768"/>
                  <a:pt x="281910" y="206231"/>
                </a:cubicBezTo>
                <a:cubicBezTo>
                  <a:pt x="283071" y="203195"/>
                  <a:pt x="281687" y="199846"/>
                  <a:pt x="278874" y="198239"/>
                </a:cubicBezTo>
                <a:cubicBezTo>
                  <a:pt x="269096" y="192613"/>
                  <a:pt x="269096" y="178817"/>
                  <a:pt x="278874" y="173147"/>
                </a:cubicBezTo>
                <a:close/>
                <a:moveTo>
                  <a:pt x="210741" y="185738"/>
                </a:moveTo>
                <a:cubicBezTo>
                  <a:pt x="210741" y="175881"/>
                  <a:pt x="218743" y="167878"/>
                  <a:pt x="228600" y="167878"/>
                </a:cubicBezTo>
                <a:cubicBezTo>
                  <a:pt x="238457" y="167878"/>
                  <a:pt x="246459" y="175881"/>
                  <a:pt x="246459" y="185738"/>
                </a:cubicBezTo>
                <a:cubicBezTo>
                  <a:pt x="246459" y="195594"/>
                  <a:pt x="238457" y="203597"/>
                  <a:pt x="228600" y="203597"/>
                </a:cubicBezTo>
                <a:cubicBezTo>
                  <a:pt x="218743" y="203597"/>
                  <a:pt x="210741" y="195594"/>
                  <a:pt x="210741" y="185738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8" name="Text 46"/>
          <p:cNvSpPr/>
          <p:nvPr/>
        </p:nvSpPr>
        <p:spPr>
          <a:xfrm>
            <a:off x="6229350" y="4400550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管理薄弱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234113" y="4667250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多角色权限划分较粗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039225" y="4000500"/>
            <a:ext cx="2771775" cy="971550"/>
          </a:xfrm>
          <a:custGeom>
            <a:avLst/>
            <a:gdLst/>
            <a:ahLst/>
            <a:cxnLst/>
            <a:rect l="l" t="t" r="r" b="b"/>
            <a:pathLst>
              <a:path w="2771775" h="9715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933446"/>
                </a:lnTo>
                <a:cubicBezTo>
                  <a:pt x="2771775" y="954490"/>
                  <a:pt x="2754715" y="971550"/>
                  <a:pt x="2733671" y="971550"/>
                </a:cubicBezTo>
                <a:lnTo>
                  <a:pt x="38104" y="971550"/>
                </a:lnTo>
                <a:cubicBezTo>
                  <a:pt x="17060" y="971550"/>
                  <a:pt x="0" y="954490"/>
                  <a:pt x="0" y="93344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039225" y="400050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2" name="Shape 50"/>
          <p:cNvSpPr/>
          <p:nvPr/>
        </p:nvSpPr>
        <p:spPr>
          <a:xfrm>
            <a:off x="10310813" y="4133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3" name="Text 51"/>
          <p:cNvSpPr/>
          <p:nvPr/>
        </p:nvSpPr>
        <p:spPr>
          <a:xfrm>
            <a:off x="9115425" y="4400550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分析缺失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120188" y="4667250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缺少面向教学的数据统计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85763" y="5091113"/>
            <a:ext cx="11420475" cy="1076325"/>
          </a:xfrm>
          <a:custGeom>
            <a:avLst/>
            <a:gdLst/>
            <a:ahLst/>
            <a:cxnLst/>
            <a:rect l="l" t="t" r="r" b="b"/>
            <a:pathLst>
              <a:path w="11420475" h="1076325">
                <a:moveTo>
                  <a:pt x="76204" y="0"/>
                </a:moveTo>
                <a:lnTo>
                  <a:pt x="11344271" y="0"/>
                </a:lnTo>
                <a:cubicBezTo>
                  <a:pt x="11386357" y="0"/>
                  <a:pt x="11420475" y="34118"/>
                  <a:pt x="11420475" y="76204"/>
                </a:cubicBezTo>
                <a:lnTo>
                  <a:pt x="11420475" y="1000121"/>
                </a:lnTo>
                <a:cubicBezTo>
                  <a:pt x="11420475" y="1042207"/>
                  <a:pt x="11386357" y="1076325"/>
                  <a:pt x="11344271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F6AD55">
                  <a:alpha val="20000"/>
                </a:srgbClr>
              </a:gs>
            </a:gsLst>
            <a:lin ang="0" scaled="1"/>
          </a:gra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7922" y="52578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-5358"/>
                </a:moveTo>
                <a:cubicBezTo>
                  <a:pt x="102368" y="-5358"/>
                  <a:pt x="107156" y="-569"/>
                  <a:pt x="107156" y="5358"/>
                </a:cubicBezTo>
                <a:lnTo>
                  <a:pt x="107156" y="11486"/>
                </a:lnTo>
                <a:cubicBezTo>
                  <a:pt x="140006" y="16174"/>
                  <a:pt x="165992" y="42159"/>
                  <a:pt x="170680" y="75009"/>
                </a:cubicBezTo>
                <a:lnTo>
                  <a:pt x="176808" y="75009"/>
                </a:lnTo>
                <a:cubicBezTo>
                  <a:pt x="182735" y="75009"/>
                  <a:pt x="187523" y="79798"/>
                  <a:pt x="187523" y="85725"/>
                </a:cubicBezTo>
                <a:cubicBezTo>
                  <a:pt x="187523" y="91652"/>
                  <a:pt x="182735" y="96441"/>
                  <a:pt x="176808" y="96441"/>
                </a:cubicBezTo>
                <a:lnTo>
                  <a:pt x="170680" y="96441"/>
                </a:lnTo>
                <a:cubicBezTo>
                  <a:pt x="165992" y="129291"/>
                  <a:pt x="140006" y="155276"/>
                  <a:pt x="107156" y="159964"/>
                </a:cubicBezTo>
                <a:lnTo>
                  <a:pt x="107156" y="166092"/>
                </a:lnTo>
                <a:cubicBezTo>
                  <a:pt x="107156" y="172019"/>
                  <a:pt x="102368" y="176808"/>
                  <a:pt x="96441" y="176808"/>
                </a:cubicBezTo>
                <a:cubicBezTo>
                  <a:pt x="90514" y="176808"/>
                  <a:pt x="85725" y="172019"/>
                  <a:pt x="85725" y="166092"/>
                </a:cubicBezTo>
                <a:lnTo>
                  <a:pt x="85725" y="159964"/>
                </a:lnTo>
                <a:cubicBezTo>
                  <a:pt x="52875" y="155276"/>
                  <a:pt x="26890" y="129291"/>
                  <a:pt x="22201" y="96441"/>
                </a:cubicBezTo>
                <a:lnTo>
                  <a:pt x="16073" y="96441"/>
                </a:lnTo>
                <a:cubicBezTo>
                  <a:pt x="10146" y="96441"/>
                  <a:pt x="5358" y="91652"/>
                  <a:pt x="5358" y="85725"/>
                </a:cubicBezTo>
                <a:cubicBezTo>
                  <a:pt x="5358" y="79798"/>
                  <a:pt x="10146" y="75009"/>
                  <a:pt x="16073" y="75009"/>
                </a:cubicBezTo>
                <a:lnTo>
                  <a:pt x="22201" y="75009"/>
                </a:lnTo>
                <a:cubicBezTo>
                  <a:pt x="26890" y="42159"/>
                  <a:pt x="52875" y="16174"/>
                  <a:pt x="85725" y="11486"/>
                </a:cubicBezTo>
                <a:lnTo>
                  <a:pt x="85725" y="5358"/>
                </a:lnTo>
                <a:cubicBezTo>
                  <a:pt x="85725" y="-569"/>
                  <a:pt x="90514" y="-5358"/>
                  <a:pt x="96441" y="-5358"/>
                </a:cubicBezTo>
                <a:close/>
                <a:moveTo>
                  <a:pt x="43934" y="96441"/>
                </a:moveTo>
                <a:cubicBezTo>
                  <a:pt x="48187" y="117437"/>
                  <a:pt x="64729" y="133979"/>
                  <a:pt x="85725" y="138232"/>
                </a:cubicBezTo>
                <a:lnTo>
                  <a:pt x="85725" y="133945"/>
                </a:lnTo>
                <a:cubicBezTo>
                  <a:pt x="85725" y="128018"/>
                  <a:pt x="90514" y="123230"/>
                  <a:pt x="96441" y="123230"/>
                </a:cubicBezTo>
                <a:cubicBezTo>
                  <a:pt x="102368" y="123230"/>
                  <a:pt x="107156" y="128018"/>
                  <a:pt x="107156" y="133945"/>
                </a:cubicBezTo>
                <a:lnTo>
                  <a:pt x="107156" y="138232"/>
                </a:lnTo>
                <a:cubicBezTo>
                  <a:pt x="128152" y="133979"/>
                  <a:pt x="144694" y="117437"/>
                  <a:pt x="148947" y="96441"/>
                </a:cubicBezTo>
                <a:lnTo>
                  <a:pt x="144661" y="96441"/>
                </a:lnTo>
                <a:cubicBezTo>
                  <a:pt x="138734" y="96441"/>
                  <a:pt x="133945" y="91652"/>
                  <a:pt x="133945" y="85725"/>
                </a:cubicBezTo>
                <a:cubicBezTo>
                  <a:pt x="133945" y="79798"/>
                  <a:pt x="138734" y="75009"/>
                  <a:pt x="144661" y="75009"/>
                </a:cubicBezTo>
                <a:lnTo>
                  <a:pt x="148947" y="75009"/>
                </a:lnTo>
                <a:cubicBezTo>
                  <a:pt x="144694" y="54013"/>
                  <a:pt x="128152" y="37471"/>
                  <a:pt x="107156" y="33218"/>
                </a:cubicBezTo>
                <a:lnTo>
                  <a:pt x="107156" y="37505"/>
                </a:lnTo>
                <a:cubicBezTo>
                  <a:pt x="107156" y="43432"/>
                  <a:pt x="102368" y="48220"/>
                  <a:pt x="96441" y="48220"/>
                </a:cubicBezTo>
                <a:cubicBezTo>
                  <a:pt x="90514" y="48220"/>
                  <a:pt x="85725" y="43432"/>
                  <a:pt x="85725" y="37505"/>
                </a:cubicBezTo>
                <a:lnTo>
                  <a:pt x="85725" y="33218"/>
                </a:lnTo>
                <a:cubicBezTo>
                  <a:pt x="64729" y="37471"/>
                  <a:pt x="48187" y="54013"/>
                  <a:pt x="43934" y="75009"/>
                </a:cubicBezTo>
                <a:lnTo>
                  <a:pt x="48220" y="75009"/>
                </a:lnTo>
                <a:cubicBezTo>
                  <a:pt x="54147" y="75009"/>
                  <a:pt x="58936" y="79798"/>
                  <a:pt x="58936" y="85725"/>
                </a:cubicBezTo>
                <a:cubicBezTo>
                  <a:pt x="58936" y="91652"/>
                  <a:pt x="54147" y="96441"/>
                  <a:pt x="48220" y="96441"/>
                </a:cubicBezTo>
                <a:lnTo>
                  <a:pt x="43934" y="96441"/>
                </a:lnTo>
                <a:close/>
                <a:moveTo>
                  <a:pt x="96441" y="69652"/>
                </a:moveTo>
                <a:cubicBezTo>
                  <a:pt x="105312" y="69652"/>
                  <a:pt x="112514" y="76854"/>
                  <a:pt x="112514" y="85725"/>
                </a:cubicBezTo>
                <a:cubicBezTo>
                  <a:pt x="112514" y="94596"/>
                  <a:pt x="105312" y="101798"/>
                  <a:pt x="96441" y="101798"/>
                </a:cubicBezTo>
                <a:cubicBezTo>
                  <a:pt x="87569" y="101798"/>
                  <a:pt x="80367" y="94596"/>
                  <a:pt x="80367" y="85725"/>
                </a:cubicBezTo>
                <a:cubicBezTo>
                  <a:pt x="80367" y="76854"/>
                  <a:pt x="87569" y="69652"/>
                  <a:pt x="96441" y="69652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7" name="Text 55"/>
          <p:cNvSpPr/>
          <p:nvPr/>
        </p:nvSpPr>
        <p:spPr>
          <a:xfrm>
            <a:off x="723900" y="5210175"/>
            <a:ext cx="1104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本研究定位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90537" y="5406137"/>
            <a:ext cx="11258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面向高校和训练营</a:t>
            </a:r>
            <a:r>
              <a:rPr lang="zh-CN" altLang="en-US" sz="12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的多角色在线判题与教学管理系统，通过统一题库管理和基础教学功能支持，结合班级组织与数据统计，在一定程度上提升算法训练的组织管理效率。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1028700" cy="314325"/>
          </a:xfrm>
          <a:custGeom>
            <a:avLst/>
            <a:gdLst/>
            <a:ahLst/>
            <a:cxnLst/>
            <a:rect l="l" t="t" r="r" b="b"/>
            <a:pathLst>
              <a:path w="1028700" h="314325">
                <a:moveTo>
                  <a:pt x="38099" y="0"/>
                </a:moveTo>
                <a:lnTo>
                  <a:pt x="990601" y="0"/>
                </a:lnTo>
                <a:cubicBezTo>
                  <a:pt x="1011642" y="0"/>
                  <a:pt x="1028700" y="17058"/>
                  <a:pt x="1028700" y="38099"/>
                </a:cubicBezTo>
                <a:lnTo>
                  <a:pt x="1028700" y="276226"/>
                </a:lnTo>
                <a:cubicBezTo>
                  <a:pt x="1028700" y="297267"/>
                  <a:pt x="1011642" y="314325"/>
                  <a:pt x="990601" y="314325"/>
                </a:cubicBezTo>
                <a:lnTo>
                  <a:pt x="38099" y="314325"/>
                </a:lnTo>
                <a:cubicBezTo>
                  <a:pt x="17058" y="314325"/>
                  <a:pt x="0" y="297267"/>
                  <a:pt x="0" y="2762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4825" y="466725"/>
            <a:ext cx="8593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810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研究内容与目标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4813" y="1352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" name="Text 4"/>
          <p:cNvSpPr/>
          <p:nvPr/>
        </p:nvSpPr>
        <p:spPr>
          <a:xfrm>
            <a:off x="619125" y="1314450"/>
            <a:ext cx="547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六大核心研究内容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695450"/>
            <a:ext cx="5619750" cy="571500"/>
          </a:xfrm>
          <a:custGeom>
            <a:avLst/>
            <a:gdLst/>
            <a:ahLst/>
            <a:cxnLst/>
            <a:rect l="l" t="t" r="r" b="b"/>
            <a:pathLst>
              <a:path w="5619750" h="571500">
                <a:moveTo>
                  <a:pt x="38102" y="0"/>
                </a:moveTo>
                <a:lnTo>
                  <a:pt x="5581648" y="0"/>
                </a:lnTo>
                <a:cubicBezTo>
                  <a:pt x="5602691" y="0"/>
                  <a:pt x="5619750" y="17059"/>
                  <a:pt x="5619750" y="38102"/>
                </a:cubicBezTo>
                <a:lnTo>
                  <a:pt x="5619750" y="533398"/>
                </a:lnTo>
                <a:cubicBezTo>
                  <a:pt x="5619750" y="554441"/>
                  <a:pt x="5602691" y="571500"/>
                  <a:pt x="558164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716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9" name="Text 7"/>
          <p:cNvSpPr/>
          <p:nvPr/>
        </p:nvSpPr>
        <p:spPr>
          <a:xfrm>
            <a:off x="579537" y="1809750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76300" y="177165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多角色权限管理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6300" y="2000250"/>
            <a:ext cx="3800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设计学员、教师、校方、管理员四类角色，实现细粒度权限控制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2343150"/>
            <a:ext cx="5619750" cy="571500"/>
          </a:xfrm>
          <a:custGeom>
            <a:avLst/>
            <a:gdLst/>
            <a:ahLst/>
            <a:cxnLst/>
            <a:rect l="l" t="t" r="r" b="b"/>
            <a:pathLst>
              <a:path w="5619750" h="571500">
                <a:moveTo>
                  <a:pt x="38102" y="0"/>
                </a:moveTo>
                <a:lnTo>
                  <a:pt x="5581648" y="0"/>
                </a:lnTo>
                <a:cubicBezTo>
                  <a:pt x="5602691" y="0"/>
                  <a:pt x="5619750" y="17059"/>
                  <a:pt x="5619750" y="38102"/>
                </a:cubicBezTo>
                <a:lnTo>
                  <a:pt x="5619750" y="533398"/>
                </a:lnTo>
                <a:cubicBezTo>
                  <a:pt x="5619750" y="554441"/>
                  <a:pt x="5602691" y="571500"/>
                  <a:pt x="558164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4193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4" name="Text 12"/>
          <p:cNvSpPr/>
          <p:nvPr/>
        </p:nvSpPr>
        <p:spPr>
          <a:xfrm>
            <a:off x="566738" y="245745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6300" y="2419350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题库管理与分类展示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6300" y="2647950"/>
            <a:ext cx="3133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支持按标签、难度、分类筛选，构建结构化题库体系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2990850"/>
            <a:ext cx="5619750" cy="571500"/>
          </a:xfrm>
          <a:custGeom>
            <a:avLst/>
            <a:gdLst/>
            <a:ahLst/>
            <a:cxnLst/>
            <a:rect l="l" t="t" r="r" b="b"/>
            <a:pathLst>
              <a:path w="5619750" h="571500">
                <a:moveTo>
                  <a:pt x="38102" y="0"/>
                </a:moveTo>
                <a:lnTo>
                  <a:pt x="5581648" y="0"/>
                </a:lnTo>
                <a:cubicBezTo>
                  <a:pt x="5602691" y="0"/>
                  <a:pt x="5619750" y="17059"/>
                  <a:pt x="5619750" y="38102"/>
                </a:cubicBezTo>
                <a:lnTo>
                  <a:pt x="5619750" y="533398"/>
                </a:lnTo>
                <a:cubicBezTo>
                  <a:pt x="5619750" y="554441"/>
                  <a:pt x="5602691" y="571500"/>
                  <a:pt x="558164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0670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9" name="Text 17"/>
          <p:cNvSpPr/>
          <p:nvPr/>
        </p:nvSpPr>
        <p:spPr>
          <a:xfrm>
            <a:off x="564654" y="310515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6300" y="3067050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在线评测系统设计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6300" y="3295650"/>
            <a:ext cx="3267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实现多语言支持、实时反馈、沙箱隔离的安全评测环境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3638550"/>
            <a:ext cx="5619750" cy="571500"/>
          </a:xfrm>
          <a:custGeom>
            <a:avLst/>
            <a:gdLst/>
            <a:ahLst/>
            <a:cxnLst/>
            <a:rect l="l" t="t" r="r" b="b"/>
            <a:pathLst>
              <a:path w="5619750" h="571500">
                <a:moveTo>
                  <a:pt x="38102" y="0"/>
                </a:moveTo>
                <a:lnTo>
                  <a:pt x="5581648" y="0"/>
                </a:lnTo>
                <a:cubicBezTo>
                  <a:pt x="5602691" y="0"/>
                  <a:pt x="5619750" y="17059"/>
                  <a:pt x="5619750" y="38102"/>
                </a:cubicBezTo>
                <a:lnTo>
                  <a:pt x="5619750" y="533398"/>
                </a:lnTo>
                <a:cubicBezTo>
                  <a:pt x="5619750" y="554441"/>
                  <a:pt x="5602691" y="571500"/>
                  <a:pt x="558164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7147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4" name="Text 22"/>
          <p:cNvSpPr/>
          <p:nvPr/>
        </p:nvSpPr>
        <p:spPr>
          <a:xfrm>
            <a:off x="564803" y="375285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6300" y="3714750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训练计划与竞赛管理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6300" y="3943350"/>
            <a:ext cx="3133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支持教师发布训练计划、配置题目集、管理竞赛活动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1000" y="4286250"/>
            <a:ext cx="5619750" cy="571500"/>
          </a:xfrm>
          <a:custGeom>
            <a:avLst/>
            <a:gdLst/>
            <a:ahLst/>
            <a:cxnLst/>
            <a:rect l="l" t="t" r="r" b="b"/>
            <a:pathLst>
              <a:path w="5619750" h="571500">
                <a:moveTo>
                  <a:pt x="38102" y="0"/>
                </a:moveTo>
                <a:lnTo>
                  <a:pt x="5581648" y="0"/>
                </a:lnTo>
                <a:cubicBezTo>
                  <a:pt x="5602691" y="0"/>
                  <a:pt x="5619750" y="17059"/>
                  <a:pt x="5619750" y="38102"/>
                </a:cubicBezTo>
                <a:lnTo>
                  <a:pt x="5619750" y="533398"/>
                </a:lnTo>
                <a:cubicBezTo>
                  <a:pt x="5619750" y="554441"/>
                  <a:pt x="5602691" y="571500"/>
                  <a:pt x="558164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43624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9" name="Text 27"/>
          <p:cNvSpPr/>
          <p:nvPr/>
        </p:nvSpPr>
        <p:spPr>
          <a:xfrm>
            <a:off x="564059" y="4400550"/>
            <a:ext cx="17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6300" y="4362450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学习数据分析与统计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76300" y="4591050"/>
            <a:ext cx="2867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自动生成能力画像、识别薄弱点、生成学习报告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1000" y="4933950"/>
            <a:ext cx="5619750" cy="571500"/>
          </a:xfrm>
          <a:custGeom>
            <a:avLst/>
            <a:gdLst/>
            <a:ahLst/>
            <a:cxnLst/>
            <a:rect l="l" t="t" r="r" b="b"/>
            <a:pathLst>
              <a:path w="5619750" h="571500">
                <a:moveTo>
                  <a:pt x="38102" y="0"/>
                </a:moveTo>
                <a:lnTo>
                  <a:pt x="5581648" y="0"/>
                </a:lnTo>
                <a:cubicBezTo>
                  <a:pt x="5602691" y="0"/>
                  <a:pt x="5619750" y="17059"/>
                  <a:pt x="5619750" y="38102"/>
                </a:cubicBezTo>
                <a:lnTo>
                  <a:pt x="5619750" y="533398"/>
                </a:lnTo>
                <a:cubicBezTo>
                  <a:pt x="5619750" y="554441"/>
                  <a:pt x="5602691" y="571500"/>
                  <a:pt x="558164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50101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4" name="Text 32"/>
          <p:cNvSpPr/>
          <p:nvPr/>
        </p:nvSpPr>
        <p:spPr>
          <a:xfrm>
            <a:off x="563761" y="5048250"/>
            <a:ext cx="17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76300" y="5010150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组织架构管理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76300" y="5238750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构建学校-院系-班级三级组织结构，匹配高校管理需求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15063" y="1352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8" name="Text 36"/>
          <p:cNvSpPr/>
          <p:nvPr/>
        </p:nvSpPr>
        <p:spPr>
          <a:xfrm>
            <a:off x="6429375" y="1314450"/>
            <a:ext cx="547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6AD5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三大量化研究目标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00775" y="1704975"/>
            <a:ext cx="5600700" cy="1352550"/>
          </a:xfrm>
          <a:custGeom>
            <a:avLst/>
            <a:gdLst/>
            <a:ahLst/>
            <a:cxnLst/>
            <a:rect l="l" t="t" r="r" b="b"/>
            <a:pathLst>
              <a:path w="5600700" h="1352550">
                <a:moveTo>
                  <a:pt x="76203" y="0"/>
                </a:moveTo>
                <a:lnTo>
                  <a:pt x="5524497" y="0"/>
                </a:lnTo>
                <a:cubicBezTo>
                  <a:pt x="5566583" y="0"/>
                  <a:pt x="5600700" y="34117"/>
                  <a:pt x="5600700" y="76203"/>
                </a:cubicBezTo>
                <a:lnTo>
                  <a:pt x="5600700" y="1276347"/>
                </a:lnTo>
                <a:cubicBezTo>
                  <a:pt x="5600700" y="1318433"/>
                  <a:pt x="5566583" y="1352550"/>
                  <a:pt x="5524497" y="1352550"/>
                </a:cubicBezTo>
                <a:lnTo>
                  <a:pt x="76203" y="1352550"/>
                </a:lnTo>
                <a:cubicBezTo>
                  <a:pt x="34117" y="1352550"/>
                  <a:pt x="0" y="1318433"/>
                  <a:pt x="0" y="12763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4FD1C5">
                  <a:alpha val="5000"/>
                </a:srgbClr>
              </a:gs>
            </a:gsLst>
            <a:lin ang="2700000" scaled="1"/>
          </a:gradFill>
          <a:ln w="25400">
            <a:solidFill>
              <a:srgbClr val="4FD1C5">
                <a:alpha val="5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62700" y="1866900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日均活跃提交量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396663" y="18859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14300" y="48801"/>
                </a:moveTo>
                <a:lnTo>
                  <a:pt x="114300" y="142875"/>
                </a:lnTo>
                <a:cubicBezTo>
                  <a:pt x="114300" y="150778"/>
                  <a:pt x="107915" y="157163"/>
                  <a:pt x="100013" y="157163"/>
                </a:cubicBezTo>
                <a:cubicBezTo>
                  <a:pt x="92110" y="157163"/>
                  <a:pt x="85725" y="150778"/>
                  <a:pt x="85725" y="142875"/>
                </a:cubicBezTo>
                <a:lnTo>
                  <a:pt x="85725" y="48801"/>
                </a:lnTo>
                <a:lnTo>
                  <a:pt x="67241" y="67285"/>
                </a:lnTo>
                <a:cubicBezTo>
                  <a:pt x="61659" y="72866"/>
                  <a:pt x="52596" y="72866"/>
                  <a:pt x="47015" y="67285"/>
                </a:cubicBezTo>
                <a:cubicBezTo>
                  <a:pt x="41434" y="61704"/>
                  <a:pt x="41434" y="52641"/>
                  <a:pt x="47015" y="47059"/>
                </a:cubicBezTo>
                <a:lnTo>
                  <a:pt x="89877" y="4197"/>
                </a:lnTo>
                <a:cubicBezTo>
                  <a:pt x="95458" y="-1384"/>
                  <a:pt x="104522" y="-1384"/>
                  <a:pt x="110103" y="4197"/>
                </a:cubicBezTo>
                <a:lnTo>
                  <a:pt x="152966" y="47059"/>
                </a:lnTo>
                <a:cubicBezTo>
                  <a:pt x="158547" y="52641"/>
                  <a:pt x="158547" y="61704"/>
                  <a:pt x="152966" y="67285"/>
                </a:cubicBezTo>
                <a:cubicBezTo>
                  <a:pt x="147384" y="72866"/>
                  <a:pt x="138321" y="72866"/>
                  <a:pt x="132740" y="67285"/>
                </a:cubicBezTo>
                <a:lnTo>
                  <a:pt x="114300" y="48801"/>
                </a:lnTo>
                <a:close/>
                <a:moveTo>
                  <a:pt x="100013" y="178594"/>
                </a:moveTo>
                <a:cubicBezTo>
                  <a:pt x="119747" y="178594"/>
                  <a:pt x="135731" y="162610"/>
                  <a:pt x="135731" y="142875"/>
                </a:cubicBezTo>
                <a:lnTo>
                  <a:pt x="171450" y="142875"/>
                </a:lnTo>
                <a:cubicBezTo>
                  <a:pt x="187211" y="142875"/>
                  <a:pt x="200025" y="155689"/>
                  <a:pt x="200025" y="1714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171450"/>
                </a:lnTo>
                <a:cubicBezTo>
                  <a:pt x="0" y="155689"/>
                  <a:pt x="12814" y="142875"/>
                  <a:pt x="28575" y="142875"/>
                </a:cubicBezTo>
                <a:lnTo>
                  <a:pt x="64294" y="142875"/>
                </a:lnTo>
                <a:cubicBezTo>
                  <a:pt x="64294" y="162610"/>
                  <a:pt x="80278" y="178594"/>
                  <a:pt x="100013" y="178594"/>
                </a:cubicBezTo>
                <a:close/>
                <a:moveTo>
                  <a:pt x="164306" y="189309"/>
                </a:moveTo>
                <a:cubicBezTo>
                  <a:pt x="170220" y="189309"/>
                  <a:pt x="175022" y="184508"/>
                  <a:pt x="175022" y="178594"/>
                </a:cubicBezTo>
                <a:cubicBezTo>
                  <a:pt x="175022" y="172680"/>
                  <a:pt x="170220" y="167878"/>
                  <a:pt x="164306" y="167878"/>
                </a:cubicBezTo>
                <a:cubicBezTo>
                  <a:pt x="158392" y="167878"/>
                  <a:pt x="153591" y="172680"/>
                  <a:pt x="153591" y="178594"/>
                </a:cubicBezTo>
                <a:cubicBezTo>
                  <a:pt x="153591" y="184508"/>
                  <a:pt x="158392" y="189309"/>
                  <a:pt x="164306" y="189309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2" name="Text 40"/>
          <p:cNvSpPr/>
          <p:nvPr/>
        </p:nvSpPr>
        <p:spPr>
          <a:xfrm>
            <a:off x="6362700" y="2209800"/>
            <a:ext cx="1352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≥500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554813" y="2428875"/>
            <a:ext cx="43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次/天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62700" y="270510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支持并发提交，满足中小规模用户同时使用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00775" y="3190875"/>
            <a:ext cx="5600700" cy="1352550"/>
          </a:xfrm>
          <a:custGeom>
            <a:avLst/>
            <a:gdLst/>
            <a:ahLst/>
            <a:cxnLst/>
            <a:rect l="l" t="t" r="r" b="b"/>
            <a:pathLst>
              <a:path w="5600700" h="1352550">
                <a:moveTo>
                  <a:pt x="76203" y="0"/>
                </a:moveTo>
                <a:lnTo>
                  <a:pt x="5524497" y="0"/>
                </a:lnTo>
                <a:cubicBezTo>
                  <a:pt x="5566583" y="0"/>
                  <a:pt x="5600700" y="34117"/>
                  <a:pt x="5600700" y="76203"/>
                </a:cubicBezTo>
                <a:lnTo>
                  <a:pt x="5600700" y="1276347"/>
                </a:lnTo>
                <a:cubicBezTo>
                  <a:pt x="5600700" y="1318433"/>
                  <a:pt x="5566583" y="1352550"/>
                  <a:pt x="5524497" y="1352550"/>
                </a:cubicBezTo>
                <a:lnTo>
                  <a:pt x="76203" y="1352550"/>
                </a:lnTo>
                <a:cubicBezTo>
                  <a:pt x="34117" y="1352550"/>
                  <a:pt x="0" y="1318433"/>
                  <a:pt x="0" y="12763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F6AD55">
                  <a:alpha val="5000"/>
                </a:srgbClr>
              </a:gs>
            </a:gsLst>
            <a:lin ang="2700000" scaled="1"/>
          </a:gradFill>
          <a:ln w="25400">
            <a:solidFill>
              <a:srgbClr val="F6AD55">
                <a:alpha val="50196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62700" y="3352800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评测平均响应时间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382375" y="3371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8" name="Text 46"/>
          <p:cNvSpPr/>
          <p:nvPr/>
        </p:nvSpPr>
        <p:spPr>
          <a:xfrm>
            <a:off x="6362700" y="3695700"/>
            <a:ext cx="9213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6AD5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≤10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305675" y="39147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秒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62700" y="419100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快速反馈评测结果，提升用户体验和训练效率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00775" y="4676775"/>
            <a:ext cx="5600700" cy="1352550"/>
          </a:xfrm>
          <a:custGeom>
            <a:avLst/>
            <a:gdLst/>
            <a:ahLst/>
            <a:cxnLst/>
            <a:rect l="l" t="t" r="r" b="b"/>
            <a:pathLst>
              <a:path w="5600700" h="1352550">
                <a:moveTo>
                  <a:pt x="76203" y="0"/>
                </a:moveTo>
                <a:lnTo>
                  <a:pt x="5524497" y="0"/>
                </a:lnTo>
                <a:cubicBezTo>
                  <a:pt x="5566583" y="0"/>
                  <a:pt x="5600700" y="34117"/>
                  <a:pt x="5600700" y="76203"/>
                </a:cubicBezTo>
                <a:lnTo>
                  <a:pt x="5600700" y="1276347"/>
                </a:lnTo>
                <a:cubicBezTo>
                  <a:pt x="5600700" y="1318433"/>
                  <a:pt x="5566583" y="1352550"/>
                  <a:pt x="5524497" y="1352550"/>
                </a:cubicBezTo>
                <a:lnTo>
                  <a:pt x="76203" y="1352550"/>
                </a:lnTo>
                <a:cubicBezTo>
                  <a:pt x="34117" y="1352550"/>
                  <a:pt x="0" y="1318433"/>
                  <a:pt x="0" y="12763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4FD1C5">
                  <a:alpha val="5000"/>
                </a:srgbClr>
              </a:gs>
            </a:gsLst>
            <a:lin ang="2700000" scaled="1"/>
          </a:gradFill>
          <a:ln w="25400">
            <a:solidFill>
              <a:srgbClr val="4FD1C5">
                <a:alpha val="50196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62700" y="4838700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系统可用性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1396663" y="48577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4" name="Text 52"/>
          <p:cNvSpPr/>
          <p:nvPr/>
        </p:nvSpPr>
        <p:spPr>
          <a:xfrm>
            <a:off x="6362700" y="5181600"/>
            <a:ext cx="1466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≥95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291519" y="5410200"/>
            <a:ext cx="200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%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362700" y="567690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保障系统稳定运行，支持日常教学训练需求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1028700" cy="314325"/>
          </a:xfrm>
          <a:custGeom>
            <a:avLst/>
            <a:gdLst/>
            <a:ahLst/>
            <a:cxnLst/>
            <a:rect l="l" t="t" r="r" b="b"/>
            <a:pathLst>
              <a:path w="1028700" h="314325">
                <a:moveTo>
                  <a:pt x="38099" y="0"/>
                </a:moveTo>
                <a:lnTo>
                  <a:pt x="990601" y="0"/>
                </a:lnTo>
                <a:cubicBezTo>
                  <a:pt x="1011642" y="0"/>
                  <a:pt x="1028700" y="17058"/>
                  <a:pt x="1028700" y="38099"/>
                </a:cubicBezTo>
                <a:lnTo>
                  <a:pt x="1028700" y="276226"/>
                </a:lnTo>
                <a:cubicBezTo>
                  <a:pt x="1028700" y="297267"/>
                  <a:pt x="1011642" y="314325"/>
                  <a:pt x="990601" y="314325"/>
                </a:cubicBezTo>
                <a:lnTo>
                  <a:pt x="38099" y="314325"/>
                </a:lnTo>
                <a:cubicBezTo>
                  <a:pt x="17058" y="314325"/>
                  <a:pt x="0" y="297267"/>
                  <a:pt x="0" y="2762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4825" y="466725"/>
            <a:ext cx="8593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810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研究内容与目标（续）- 学员端功能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33500"/>
            <a:ext cx="3733800" cy="1466850"/>
          </a:xfrm>
          <a:custGeom>
            <a:avLst/>
            <a:gdLst/>
            <a:ahLst/>
            <a:cxnLst/>
            <a:rect l="l" t="t" r="r" b="b"/>
            <a:pathLst>
              <a:path w="3733800" h="146685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1390647"/>
                </a:lnTo>
                <a:cubicBezTo>
                  <a:pt x="3733800" y="1432705"/>
                  <a:pt x="3699655" y="1466850"/>
                  <a:pt x="3657597" y="1466850"/>
                </a:cubicBezTo>
                <a:lnTo>
                  <a:pt x="76203" y="1466850"/>
                </a:lnTo>
                <a:cubicBezTo>
                  <a:pt x="34145" y="1466850"/>
                  <a:pt x="0" y="1432705"/>
                  <a:pt x="0" y="13906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33350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" name="Shape 5"/>
          <p:cNvSpPr/>
          <p:nvPr/>
        </p:nvSpPr>
        <p:spPr>
          <a:xfrm>
            <a:off x="519113" y="1504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8364" y="101575"/>
                </a:moveTo>
                <a:cubicBezTo>
                  <a:pt x="131862" y="98078"/>
                  <a:pt x="131862" y="92422"/>
                  <a:pt x="128364" y="88962"/>
                </a:cubicBezTo>
                <a:lnTo>
                  <a:pt x="74786" y="35347"/>
                </a:lnTo>
                <a:cubicBezTo>
                  <a:pt x="72219" y="32779"/>
                  <a:pt x="68387" y="32035"/>
                  <a:pt x="65038" y="33412"/>
                </a:cubicBezTo>
                <a:cubicBezTo>
                  <a:pt x="61689" y="34789"/>
                  <a:pt x="59531" y="38063"/>
                  <a:pt x="59531" y="41672"/>
                </a:cubicBezTo>
                <a:lnTo>
                  <a:pt x="59531" y="71438"/>
                </a:lnTo>
                <a:lnTo>
                  <a:pt x="17859" y="71438"/>
                </a:lnTo>
                <a:cubicBezTo>
                  <a:pt x="8000" y="71438"/>
                  <a:pt x="0" y="79437"/>
                  <a:pt x="0" y="89297"/>
                </a:cubicBezTo>
                <a:lnTo>
                  <a:pt x="0" y="101203"/>
                </a:lnTo>
                <a:cubicBezTo>
                  <a:pt x="0" y="111063"/>
                  <a:pt x="8000" y="119063"/>
                  <a:pt x="17859" y="119063"/>
                </a:cubicBezTo>
                <a:lnTo>
                  <a:pt x="59531" y="119063"/>
                </a:lnTo>
                <a:lnTo>
                  <a:pt x="59531" y="148828"/>
                </a:lnTo>
                <a:cubicBezTo>
                  <a:pt x="59531" y="152437"/>
                  <a:pt x="61689" y="155711"/>
                  <a:pt x="65038" y="157088"/>
                </a:cubicBezTo>
                <a:cubicBezTo>
                  <a:pt x="68387" y="158465"/>
                  <a:pt x="72219" y="157721"/>
                  <a:pt x="74786" y="155153"/>
                </a:cubicBezTo>
                <a:lnTo>
                  <a:pt x="128364" y="101575"/>
                </a:lnTo>
                <a:close/>
                <a:moveTo>
                  <a:pt x="130969" y="154781"/>
                </a:moveTo>
                <a:cubicBezTo>
                  <a:pt x="124383" y="154781"/>
                  <a:pt x="119063" y="160102"/>
                  <a:pt x="119063" y="166688"/>
                </a:cubicBezTo>
                <a:cubicBezTo>
                  <a:pt x="119063" y="173273"/>
                  <a:pt x="124383" y="178594"/>
                  <a:pt x="130969" y="178594"/>
                </a:cubicBezTo>
                <a:lnTo>
                  <a:pt x="154781" y="178594"/>
                </a:lnTo>
                <a:cubicBezTo>
                  <a:pt x="174501" y="178594"/>
                  <a:pt x="190500" y="162595"/>
                  <a:pt x="190500" y="142875"/>
                </a:cubicBezTo>
                <a:lnTo>
                  <a:pt x="190500" y="47625"/>
                </a:lnTo>
                <a:cubicBezTo>
                  <a:pt x="190500" y="27905"/>
                  <a:pt x="174501" y="11906"/>
                  <a:pt x="154781" y="11906"/>
                </a:cubicBezTo>
                <a:lnTo>
                  <a:pt x="130969" y="11906"/>
                </a:lnTo>
                <a:cubicBezTo>
                  <a:pt x="124383" y="11906"/>
                  <a:pt x="119063" y="17227"/>
                  <a:pt x="119063" y="23812"/>
                </a:cubicBezTo>
                <a:cubicBezTo>
                  <a:pt x="119063" y="30398"/>
                  <a:pt x="124383" y="35719"/>
                  <a:pt x="130969" y="35719"/>
                </a:cubicBez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42875"/>
                </a:lnTo>
                <a:cubicBezTo>
                  <a:pt x="166688" y="149461"/>
                  <a:pt x="161367" y="154781"/>
                  <a:pt x="154781" y="154781"/>
                </a:cubicBezTo>
                <a:lnTo>
                  <a:pt x="130969" y="154781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8" name="Text 6"/>
          <p:cNvSpPr/>
          <p:nvPr/>
        </p:nvSpPr>
        <p:spPr>
          <a:xfrm>
            <a:off x="809625" y="146685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用户注册登录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5300" y="180975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邮箱/手机号注册：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支持多种方式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5300" y="203835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JWT认证：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无状态安全认证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5300" y="226695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密码加密：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BCrypt加密存储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5300" y="249555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会话管理：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Redis管理JWT黑名单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29100" y="1333500"/>
            <a:ext cx="3733800" cy="1466850"/>
          </a:xfrm>
          <a:custGeom>
            <a:avLst/>
            <a:gdLst/>
            <a:ahLst/>
            <a:cxnLst/>
            <a:rect l="l" t="t" r="r" b="b"/>
            <a:pathLst>
              <a:path w="3733800" h="146685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1390647"/>
                </a:lnTo>
                <a:cubicBezTo>
                  <a:pt x="3733800" y="1432705"/>
                  <a:pt x="3699655" y="1466850"/>
                  <a:pt x="3657597" y="1466850"/>
                </a:cubicBezTo>
                <a:lnTo>
                  <a:pt x="76203" y="1466850"/>
                </a:lnTo>
                <a:cubicBezTo>
                  <a:pt x="34145" y="1466850"/>
                  <a:pt x="0" y="1432705"/>
                  <a:pt x="0" y="13906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229100" y="133350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5" name="Shape 13"/>
          <p:cNvSpPr/>
          <p:nvPr/>
        </p:nvSpPr>
        <p:spPr>
          <a:xfrm>
            <a:off x="4379119" y="15049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6" name="Text 14"/>
          <p:cNvSpPr/>
          <p:nvPr/>
        </p:nvSpPr>
        <p:spPr>
          <a:xfrm>
            <a:off x="4657725" y="146685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题库浏览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43400" y="180975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按标签筛选：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算法、数据结构等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43400" y="203835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按难度筛选：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简单、中等、困难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43400" y="226695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按分类筛选：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数组、字符串等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43400" y="249555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搜索功能：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题目关键词模糊搜索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77200" y="1333500"/>
            <a:ext cx="3733800" cy="1466850"/>
          </a:xfrm>
          <a:custGeom>
            <a:avLst/>
            <a:gdLst/>
            <a:ahLst/>
            <a:cxnLst/>
            <a:rect l="l" t="t" r="r" b="b"/>
            <a:pathLst>
              <a:path w="3733800" h="146685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1390647"/>
                </a:lnTo>
                <a:cubicBezTo>
                  <a:pt x="3733800" y="1432705"/>
                  <a:pt x="3699655" y="1466850"/>
                  <a:pt x="3657597" y="1466850"/>
                </a:cubicBezTo>
                <a:lnTo>
                  <a:pt x="76203" y="1466850"/>
                </a:lnTo>
                <a:cubicBezTo>
                  <a:pt x="34145" y="1466850"/>
                  <a:pt x="0" y="1432705"/>
                  <a:pt x="0" y="13906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077200" y="133350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3" name="Shape 21"/>
          <p:cNvSpPr/>
          <p:nvPr/>
        </p:nvSpPr>
        <p:spPr>
          <a:xfrm>
            <a:off x="8203406" y="15049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4" name="Text 22"/>
          <p:cNvSpPr/>
          <p:nvPr/>
        </p:nvSpPr>
        <p:spPr>
          <a:xfrm>
            <a:off x="8505825" y="1466850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题目提交与评测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91500" y="180975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 err="1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多语言支持：</a:t>
            </a:r>
            <a:r>
              <a:rPr lang="en-US" altLang="zh-CN" sz="1050" dirty="0" err="1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</a:t>
            </a:r>
            <a:r>
              <a:rPr lang="en-US" altLang="zh-CN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/C++</a:t>
            </a:r>
            <a:r>
              <a:rPr lang="zh-CN" alt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050" dirty="0" err="1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Java、Python等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91500" y="203835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在线编辑器：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语法高亮、自动补全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91500" y="226695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实时评测：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快速反馈结果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91500" y="249555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结果展示：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详细评测信息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2933700"/>
            <a:ext cx="3733800" cy="1466850"/>
          </a:xfrm>
          <a:custGeom>
            <a:avLst/>
            <a:gdLst/>
            <a:ahLst/>
            <a:cxnLst/>
            <a:rect l="l" t="t" r="r" b="b"/>
            <a:pathLst>
              <a:path w="3733800" h="146685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1390647"/>
                </a:lnTo>
                <a:cubicBezTo>
                  <a:pt x="3733800" y="1432705"/>
                  <a:pt x="3699655" y="1466850"/>
                  <a:pt x="3657597" y="1466850"/>
                </a:cubicBezTo>
                <a:lnTo>
                  <a:pt x="76203" y="1466850"/>
                </a:lnTo>
                <a:cubicBezTo>
                  <a:pt x="34145" y="1466850"/>
                  <a:pt x="0" y="1432705"/>
                  <a:pt x="0" y="13906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81000" y="293370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1" name="Shape 29"/>
          <p:cNvSpPr/>
          <p:nvPr/>
        </p:nvSpPr>
        <p:spPr>
          <a:xfrm>
            <a:off x="519113" y="3105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456" y="142949"/>
                </a:moveTo>
                <a:cubicBezTo>
                  <a:pt x="140233" y="128662"/>
                  <a:pt x="124792" y="119063"/>
                  <a:pt x="107156" y="119063"/>
                </a:cubicBezTo>
                <a:lnTo>
                  <a:pt x="83344" y="119063"/>
                </a:lnTo>
                <a:cubicBezTo>
                  <a:pt x="65708" y="119063"/>
                  <a:pt x="50267" y="128662"/>
                  <a:pt x="42044" y="142949"/>
                </a:cubicBezTo>
                <a:cubicBezTo>
                  <a:pt x="55141" y="157535"/>
                  <a:pt x="74116" y="166688"/>
                  <a:pt x="95250" y="166688"/>
                </a:cubicBezTo>
                <a:cubicBezTo>
                  <a:pt x="116384" y="166688"/>
                  <a:pt x="135359" y="157497"/>
                  <a:pt x="148456" y="142949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01203"/>
                </a:moveTo>
                <a:cubicBezTo>
                  <a:pt x="110035" y="101203"/>
                  <a:pt x="122039" y="89199"/>
                  <a:pt x="122039" y="74414"/>
                </a:cubicBezTo>
                <a:cubicBezTo>
                  <a:pt x="122039" y="59629"/>
                  <a:pt x="110035" y="47625"/>
                  <a:pt x="95250" y="47625"/>
                </a:cubicBezTo>
                <a:cubicBezTo>
                  <a:pt x="80465" y="47625"/>
                  <a:pt x="68461" y="59629"/>
                  <a:pt x="68461" y="74414"/>
                </a:cubicBezTo>
                <a:cubicBezTo>
                  <a:pt x="68461" y="89199"/>
                  <a:pt x="80465" y="101203"/>
                  <a:pt x="95250" y="101203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2" name="Text 30"/>
          <p:cNvSpPr/>
          <p:nvPr/>
        </p:nvSpPr>
        <p:spPr>
          <a:xfrm>
            <a:off x="809625" y="306705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个人中心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95300" y="340995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信息管理：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修改昵称、头像等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95300" y="363855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提交记录：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查看历史提交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95300" y="386715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错题本：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自动收集错题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95300" y="409575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学习报告：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能力雷达图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29100" y="2933700"/>
            <a:ext cx="3733800" cy="1466850"/>
          </a:xfrm>
          <a:custGeom>
            <a:avLst/>
            <a:gdLst/>
            <a:ahLst/>
            <a:cxnLst/>
            <a:rect l="l" t="t" r="r" b="b"/>
            <a:pathLst>
              <a:path w="3733800" h="146685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1390647"/>
                </a:lnTo>
                <a:cubicBezTo>
                  <a:pt x="3733800" y="1432705"/>
                  <a:pt x="3699655" y="1466850"/>
                  <a:pt x="3657597" y="1466850"/>
                </a:cubicBezTo>
                <a:lnTo>
                  <a:pt x="76203" y="1466850"/>
                </a:lnTo>
                <a:cubicBezTo>
                  <a:pt x="34145" y="1466850"/>
                  <a:pt x="0" y="1432705"/>
                  <a:pt x="0" y="13906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229100" y="293370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9" name="Shape 37"/>
          <p:cNvSpPr/>
          <p:nvPr/>
        </p:nvSpPr>
        <p:spPr>
          <a:xfrm>
            <a:off x="4343400" y="31051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35719" y="41672"/>
                </a:moveTo>
                <a:cubicBezTo>
                  <a:pt x="35719" y="31812"/>
                  <a:pt x="43718" y="23812"/>
                  <a:pt x="53578" y="23812"/>
                </a:cubicBezTo>
                <a:cubicBezTo>
                  <a:pt x="63438" y="23812"/>
                  <a:pt x="71438" y="31812"/>
                  <a:pt x="71438" y="41672"/>
                </a:cubicBezTo>
                <a:lnTo>
                  <a:pt x="71438" y="83344"/>
                </a:lnTo>
                <a:lnTo>
                  <a:pt x="166688" y="83344"/>
                </a:lnTo>
                <a:lnTo>
                  <a:pt x="166688" y="41672"/>
                </a:lnTo>
                <a:cubicBezTo>
                  <a:pt x="166688" y="31812"/>
                  <a:pt x="174687" y="23812"/>
                  <a:pt x="184547" y="23812"/>
                </a:cubicBezTo>
                <a:cubicBezTo>
                  <a:pt x="194407" y="23812"/>
                  <a:pt x="202406" y="31812"/>
                  <a:pt x="202406" y="41672"/>
                </a:cubicBezTo>
                <a:lnTo>
                  <a:pt x="202406" y="47625"/>
                </a:lnTo>
                <a:lnTo>
                  <a:pt x="208359" y="47625"/>
                </a:lnTo>
                <a:cubicBezTo>
                  <a:pt x="218219" y="47625"/>
                  <a:pt x="226219" y="55625"/>
                  <a:pt x="226219" y="65484"/>
                </a:cubicBezTo>
                <a:lnTo>
                  <a:pt x="226219" y="83344"/>
                </a:lnTo>
                <a:cubicBezTo>
                  <a:pt x="232804" y="83344"/>
                  <a:pt x="238125" y="88664"/>
                  <a:pt x="238125" y="95250"/>
                </a:cubicBezTo>
                <a:cubicBezTo>
                  <a:pt x="238125" y="101836"/>
                  <a:pt x="232804" y="107156"/>
                  <a:pt x="226219" y="107156"/>
                </a:cubicBezTo>
                <a:lnTo>
                  <a:pt x="226219" y="125016"/>
                </a:lnTo>
                <a:cubicBezTo>
                  <a:pt x="226219" y="134875"/>
                  <a:pt x="218219" y="142875"/>
                  <a:pt x="208359" y="142875"/>
                </a:cubicBezTo>
                <a:lnTo>
                  <a:pt x="202406" y="142875"/>
                </a:lnTo>
                <a:lnTo>
                  <a:pt x="202406" y="148828"/>
                </a:lnTo>
                <a:cubicBezTo>
                  <a:pt x="202406" y="158688"/>
                  <a:pt x="194407" y="166688"/>
                  <a:pt x="184547" y="166688"/>
                </a:cubicBezTo>
                <a:cubicBezTo>
                  <a:pt x="174687" y="166688"/>
                  <a:pt x="166688" y="158688"/>
                  <a:pt x="166688" y="148828"/>
                </a:cubicBezTo>
                <a:lnTo>
                  <a:pt x="166688" y="107156"/>
                </a:lnTo>
                <a:lnTo>
                  <a:pt x="71438" y="107156"/>
                </a:lnTo>
                <a:lnTo>
                  <a:pt x="71438" y="148828"/>
                </a:lnTo>
                <a:cubicBezTo>
                  <a:pt x="71438" y="158688"/>
                  <a:pt x="63438" y="166688"/>
                  <a:pt x="53578" y="166688"/>
                </a:cubicBezTo>
                <a:cubicBezTo>
                  <a:pt x="43718" y="166688"/>
                  <a:pt x="35719" y="158688"/>
                  <a:pt x="35719" y="148828"/>
                </a:cubicBezTo>
                <a:lnTo>
                  <a:pt x="35719" y="142875"/>
                </a:lnTo>
                <a:lnTo>
                  <a:pt x="29766" y="142875"/>
                </a:lnTo>
                <a:cubicBezTo>
                  <a:pt x="19906" y="142875"/>
                  <a:pt x="11906" y="134875"/>
                  <a:pt x="11906" y="125016"/>
                </a:cubicBezTo>
                <a:lnTo>
                  <a:pt x="11906" y="107156"/>
                </a:lnTo>
                <a:cubicBezTo>
                  <a:pt x="5321" y="107156"/>
                  <a:pt x="0" y="101836"/>
                  <a:pt x="0" y="95250"/>
                </a:cubicBezTo>
                <a:cubicBezTo>
                  <a:pt x="0" y="88664"/>
                  <a:pt x="5321" y="83344"/>
                  <a:pt x="11906" y="83344"/>
                </a:cubicBezTo>
                <a:lnTo>
                  <a:pt x="11906" y="65484"/>
                </a:lnTo>
                <a:cubicBezTo>
                  <a:pt x="11906" y="55625"/>
                  <a:pt x="19906" y="47625"/>
                  <a:pt x="29766" y="47625"/>
                </a:cubicBezTo>
                <a:lnTo>
                  <a:pt x="35719" y="47625"/>
                </a:lnTo>
                <a:lnTo>
                  <a:pt x="35719" y="41672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0" name="Text 38"/>
          <p:cNvSpPr/>
          <p:nvPr/>
        </p:nvSpPr>
        <p:spPr>
          <a:xfrm>
            <a:off x="4657725" y="3067050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训练与练习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343400" y="340995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训练计划：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参与教师发布的训练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343400" y="363855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竞赛活动：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参加在线编程竞赛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343400" y="386715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排行榜：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查看训练排名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343400" y="409575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进度跟踪：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查看训练完成度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077200" y="2933700"/>
            <a:ext cx="3733800" cy="1466850"/>
          </a:xfrm>
          <a:custGeom>
            <a:avLst/>
            <a:gdLst/>
            <a:ahLst/>
            <a:cxnLst/>
            <a:rect l="l" t="t" r="r" b="b"/>
            <a:pathLst>
              <a:path w="3733800" h="146685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1390647"/>
                </a:lnTo>
                <a:cubicBezTo>
                  <a:pt x="3733800" y="1432705"/>
                  <a:pt x="3699655" y="1466850"/>
                  <a:pt x="3657597" y="1466850"/>
                </a:cubicBezTo>
                <a:lnTo>
                  <a:pt x="76203" y="1466850"/>
                </a:lnTo>
                <a:cubicBezTo>
                  <a:pt x="34145" y="1466850"/>
                  <a:pt x="0" y="1432705"/>
                  <a:pt x="0" y="13906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077200" y="293370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7" name="Shape 45"/>
          <p:cNvSpPr/>
          <p:nvPr/>
        </p:nvSpPr>
        <p:spPr>
          <a:xfrm>
            <a:off x="8191500" y="31051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8" name="Text 46"/>
          <p:cNvSpPr/>
          <p:nvPr/>
        </p:nvSpPr>
        <p:spPr>
          <a:xfrm>
            <a:off x="8505825" y="306705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班级管理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191500" y="340995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申请加入：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输入班级邀请码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191500" y="363855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查看成员：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查看同班学员信息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191500" y="386715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班级排名：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查看班级内排行榜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191500" y="409575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退出班级：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灵活管理班级关系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85763" y="4519613"/>
            <a:ext cx="11420475" cy="1381125"/>
          </a:xfrm>
          <a:custGeom>
            <a:avLst/>
            <a:gdLst/>
            <a:ahLst/>
            <a:cxnLst/>
            <a:rect l="l" t="t" r="r" b="b"/>
            <a:pathLst>
              <a:path w="11420475" h="1381125">
                <a:moveTo>
                  <a:pt x="76197" y="0"/>
                </a:moveTo>
                <a:lnTo>
                  <a:pt x="11344278" y="0"/>
                </a:lnTo>
                <a:cubicBezTo>
                  <a:pt x="11386361" y="0"/>
                  <a:pt x="11420475" y="34114"/>
                  <a:pt x="11420475" y="76197"/>
                </a:cubicBezTo>
                <a:lnTo>
                  <a:pt x="11420475" y="1304928"/>
                </a:lnTo>
                <a:cubicBezTo>
                  <a:pt x="11420475" y="1347011"/>
                  <a:pt x="11386361" y="1381125"/>
                  <a:pt x="11344278" y="1381125"/>
                </a:cubicBezTo>
                <a:lnTo>
                  <a:pt x="76197" y="1381125"/>
                </a:lnTo>
                <a:cubicBezTo>
                  <a:pt x="34114" y="1381125"/>
                  <a:pt x="0" y="1347011"/>
                  <a:pt x="0" y="130492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10000"/>
                </a:srgbClr>
              </a:gs>
              <a:gs pos="100000">
                <a:srgbClr val="F6AD55">
                  <a:alpha val="10000"/>
                </a:srgbClr>
              </a:gs>
            </a:gsLst>
            <a:lin ang="0" scaled="1"/>
          </a:gra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4825" y="4638675"/>
            <a:ext cx="11268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学员端工作流程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04825" y="5019675"/>
            <a:ext cx="1924050" cy="762000"/>
          </a:xfrm>
          <a:custGeom>
            <a:avLst/>
            <a:gdLst/>
            <a:ahLst/>
            <a:cxnLst/>
            <a:rect l="l" t="t" r="r" b="b"/>
            <a:pathLst>
              <a:path w="1924050" h="762000">
                <a:moveTo>
                  <a:pt x="38100" y="0"/>
                </a:moveTo>
                <a:lnTo>
                  <a:pt x="1885950" y="0"/>
                </a:lnTo>
                <a:cubicBezTo>
                  <a:pt x="1906978" y="0"/>
                  <a:pt x="1924050" y="17072"/>
                  <a:pt x="1924050" y="38100"/>
                </a:cubicBezTo>
                <a:lnTo>
                  <a:pt x="1924050" y="723900"/>
                </a:lnTo>
                <a:cubicBezTo>
                  <a:pt x="1924050" y="744928"/>
                  <a:pt x="1906978" y="762000"/>
                  <a:pt x="18859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276350" y="5095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7" name="Text 55"/>
          <p:cNvSpPr/>
          <p:nvPr/>
        </p:nvSpPr>
        <p:spPr>
          <a:xfrm>
            <a:off x="1390204" y="5153025"/>
            <a:ext cx="15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47688" y="5514975"/>
            <a:ext cx="1838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注册登录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2528888" y="5305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0" name="Shape 58"/>
          <p:cNvSpPr/>
          <p:nvPr/>
        </p:nvSpPr>
        <p:spPr>
          <a:xfrm>
            <a:off x="2819400" y="5019675"/>
            <a:ext cx="1924050" cy="762000"/>
          </a:xfrm>
          <a:custGeom>
            <a:avLst/>
            <a:gdLst/>
            <a:ahLst/>
            <a:cxnLst/>
            <a:rect l="l" t="t" r="r" b="b"/>
            <a:pathLst>
              <a:path w="1924050" h="762000">
                <a:moveTo>
                  <a:pt x="38100" y="0"/>
                </a:moveTo>
                <a:lnTo>
                  <a:pt x="1885950" y="0"/>
                </a:lnTo>
                <a:cubicBezTo>
                  <a:pt x="1906978" y="0"/>
                  <a:pt x="1924050" y="17072"/>
                  <a:pt x="1924050" y="38100"/>
                </a:cubicBezTo>
                <a:lnTo>
                  <a:pt x="1924050" y="723900"/>
                </a:lnTo>
                <a:cubicBezTo>
                  <a:pt x="1924050" y="744928"/>
                  <a:pt x="1906978" y="762000"/>
                  <a:pt x="18859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3590925" y="5095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2" name="Text 60"/>
          <p:cNvSpPr/>
          <p:nvPr/>
        </p:nvSpPr>
        <p:spPr>
          <a:xfrm>
            <a:off x="3690342" y="5153025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2862263" y="5514975"/>
            <a:ext cx="1838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浏览题库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843463" y="5305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5" name="Shape 63"/>
          <p:cNvSpPr/>
          <p:nvPr/>
        </p:nvSpPr>
        <p:spPr>
          <a:xfrm>
            <a:off x="5133975" y="5019675"/>
            <a:ext cx="1924050" cy="762000"/>
          </a:xfrm>
          <a:custGeom>
            <a:avLst/>
            <a:gdLst/>
            <a:ahLst/>
            <a:cxnLst/>
            <a:rect l="l" t="t" r="r" b="b"/>
            <a:pathLst>
              <a:path w="1924050" h="762000">
                <a:moveTo>
                  <a:pt x="38100" y="0"/>
                </a:moveTo>
                <a:lnTo>
                  <a:pt x="1885950" y="0"/>
                </a:lnTo>
                <a:cubicBezTo>
                  <a:pt x="1906978" y="0"/>
                  <a:pt x="1924050" y="17072"/>
                  <a:pt x="1924050" y="38100"/>
                </a:cubicBezTo>
                <a:lnTo>
                  <a:pt x="1924050" y="723900"/>
                </a:lnTo>
                <a:cubicBezTo>
                  <a:pt x="1924050" y="744928"/>
                  <a:pt x="1906978" y="762000"/>
                  <a:pt x="18859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905500" y="5095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67" name="Text 65"/>
          <p:cNvSpPr/>
          <p:nvPr/>
        </p:nvSpPr>
        <p:spPr>
          <a:xfrm>
            <a:off x="6002685" y="515302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5176838" y="5514975"/>
            <a:ext cx="1838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提交代码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158038" y="5305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70" name="Shape 68"/>
          <p:cNvSpPr/>
          <p:nvPr/>
        </p:nvSpPr>
        <p:spPr>
          <a:xfrm>
            <a:off x="7448550" y="5019675"/>
            <a:ext cx="1924050" cy="762000"/>
          </a:xfrm>
          <a:custGeom>
            <a:avLst/>
            <a:gdLst/>
            <a:ahLst/>
            <a:cxnLst/>
            <a:rect l="l" t="t" r="r" b="b"/>
            <a:pathLst>
              <a:path w="1924050" h="762000">
                <a:moveTo>
                  <a:pt x="38100" y="0"/>
                </a:moveTo>
                <a:lnTo>
                  <a:pt x="1885950" y="0"/>
                </a:lnTo>
                <a:cubicBezTo>
                  <a:pt x="1906978" y="0"/>
                  <a:pt x="1924050" y="17072"/>
                  <a:pt x="1924050" y="38100"/>
                </a:cubicBezTo>
                <a:lnTo>
                  <a:pt x="1924050" y="723900"/>
                </a:lnTo>
                <a:cubicBezTo>
                  <a:pt x="1924050" y="744928"/>
                  <a:pt x="1906978" y="762000"/>
                  <a:pt x="18859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220075" y="5095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72" name="Text 70"/>
          <p:cNvSpPr/>
          <p:nvPr/>
        </p:nvSpPr>
        <p:spPr>
          <a:xfrm>
            <a:off x="8317409" y="515302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7491413" y="5514975"/>
            <a:ext cx="1838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查看结果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9472613" y="5305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75" name="Shape 73"/>
          <p:cNvSpPr/>
          <p:nvPr/>
        </p:nvSpPr>
        <p:spPr>
          <a:xfrm>
            <a:off x="9763125" y="5019675"/>
            <a:ext cx="1924050" cy="762000"/>
          </a:xfrm>
          <a:custGeom>
            <a:avLst/>
            <a:gdLst/>
            <a:ahLst/>
            <a:cxnLst/>
            <a:rect l="l" t="t" r="r" b="b"/>
            <a:pathLst>
              <a:path w="1924050" h="762000">
                <a:moveTo>
                  <a:pt x="38100" y="0"/>
                </a:moveTo>
                <a:lnTo>
                  <a:pt x="1885950" y="0"/>
                </a:lnTo>
                <a:cubicBezTo>
                  <a:pt x="1906978" y="0"/>
                  <a:pt x="1924050" y="17072"/>
                  <a:pt x="1924050" y="38100"/>
                </a:cubicBezTo>
                <a:lnTo>
                  <a:pt x="1924050" y="723900"/>
                </a:lnTo>
                <a:cubicBezTo>
                  <a:pt x="1924050" y="744928"/>
                  <a:pt x="1906978" y="762000"/>
                  <a:pt x="18859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10534650" y="5095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77" name="Text 75"/>
          <p:cNvSpPr/>
          <p:nvPr/>
        </p:nvSpPr>
        <p:spPr>
          <a:xfrm>
            <a:off x="10631091" y="515302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9805988" y="5514975"/>
            <a:ext cx="1838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参与训练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1028700" cy="314325"/>
          </a:xfrm>
          <a:custGeom>
            <a:avLst/>
            <a:gdLst/>
            <a:ahLst/>
            <a:cxnLst/>
            <a:rect l="l" t="t" r="r" b="b"/>
            <a:pathLst>
              <a:path w="1028700" h="314325">
                <a:moveTo>
                  <a:pt x="38099" y="0"/>
                </a:moveTo>
                <a:lnTo>
                  <a:pt x="990601" y="0"/>
                </a:lnTo>
                <a:cubicBezTo>
                  <a:pt x="1011642" y="0"/>
                  <a:pt x="1028700" y="17058"/>
                  <a:pt x="1028700" y="38099"/>
                </a:cubicBezTo>
                <a:lnTo>
                  <a:pt x="1028700" y="276226"/>
                </a:lnTo>
                <a:cubicBezTo>
                  <a:pt x="1028700" y="297267"/>
                  <a:pt x="1011642" y="314325"/>
                  <a:pt x="990601" y="314325"/>
                </a:cubicBezTo>
                <a:lnTo>
                  <a:pt x="38099" y="314325"/>
                </a:lnTo>
                <a:cubicBezTo>
                  <a:pt x="17058" y="314325"/>
                  <a:pt x="0" y="297267"/>
                  <a:pt x="0" y="2762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4825" y="466725"/>
            <a:ext cx="8593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810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研究内容与目标（续）- 教师端功能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525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47625" y="35719"/>
                </a:moveTo>
                <a:cubicBezTo>
                  <a:pt x="47625" y="22585"/>
                  <a:pt x="58303" y="11906"/>
                  <a:pt x="71438" y="11906"/>
                </a:cubicBezTo>
                <a:lnTo>
                  <a:pt x="202406" y="11906"/>
                </a:lnTo>
                <a:cubicBezTo>
                  <a:pt x="215540" y="11906"/>
                  <a:pt x="226219" y="22585"/>
                  <a:pt x="226219" y="35719"/>
                </a:cubicBezTo>
                <a:lnTo>
                  <a:pt x="226219" y="125016"/>
                </a:lnTo>
                <a:lnTo>
                  <a:pt x="190500" y="125016"/>
                </a:lnTo>
                <a:lnTo>
                  <a:pt x="190500" y="119063"/>
                </a:lnTo>
                <a:cubicBezTo>
                  <a:pt x="190500" y="112477"/>
                  <a:pt x="185179" y="107156"/>
                  <a:pt x="178594" y="107156"/>
                </a:cubicBezTo>
                <a:lnTo>
                  <a:pt x="154781" y="107156"/>
                </a:lnTo>
                <a:cubicBezTo>
                  <a:pt x="148196" y="107156"/>
                  <a:pt x="142875" y="112477"/>
                  <a:pt x="142875" y="119063"/>
                </a:cubicBezTo>
                <a:lnTo>
                  <a:pt x="142875" y="125016"/>
                </a:lnTo>
                <a:lnTo>
                  <a:pt x="94841" y="125016"/>
                </a:lnTo>
                <a:cubicBezTo>
                  <a:pt x="98896" y="118021"/>
                  <a:pt x="101203" y="109872"/>
                  <a:pt x="101203" y="101203"/>
                </a:cubicBezTo>
                <a:cubicBezTo>
                  <a:pt x="101203" y="74898"/>
                  <a:pt x="79883" y="53578"/>
                  <a:pt x="53578" y="53578"/>
                </a:cubicBezTo>
                <a:cubicBezTo>
                  <a:pt x="51569" y="53578"/>
                  <a:pt x="49560" y="53690"/>
                  <a:pt x="47625" y="53950"/>
                </a:cubicBezTo>
                <a:lnTo>
                  <a:pt x="47625" y="35719"/>
                </a:lnTo>
                <a:close/>
                <a:moveTo>
                  <a:pt x="123899" y="166688"/>
                </a:moveTo>
                <a:cubicBezTo>
                  <a:pt x="122002" y="157683"/>
                  <a:pt x="117835" y="149535"/>
                  <a:pt x="111956" y="142875"/>
                </a:cubicBezTo>
                <a:lnTo>
                  <a:pt x="226219" y="142875"/>
                </a:lnTo>
                <a:cubicBezTo>
                  <a:pt x="226219" y="156009"/>
                  <a:pt x="215540" y="166688"/>
                  <a:pt x="202406" y="166688"/>
                </a:cubicBezTo>
                <a:lnTo>
                  <a:pt x="123899" y="166688"/>
                </a:lnTo>
                <a:close/>
                <a:moveTo>
                  <a:pt x="23812" y="101203"/>
                </a:moveTo>
                <a:cubicBezTo>
                  <a:pt x="23812" y="84775"/>
                  <a:pt x="37150" y="71438"/>
                  <a:pt x="53578" y="71438"/>
                </a:cubicBezTo>
                <a:cubicBezTo>
                  <a:pt x="70006" y="71438"/>
                  <a:pt x="83344" y="84775"/>
                  <a:pt x="83344" y="101203"/>
                </a:cubicBezTo>
                <a:cubicBezTo>
                  <a:pt x="83344" y="117631"/>
                  <a:pt x="70006" y="130969"/>
                  <a:pt x="53578" y="130969"/>
                </a:cubicBezTo>
                <a:cubicBezTo>
                  <a:pt x="37150" y="130969"/>
                  <a:pt x="23813" y="117631"/>
                  <a:pt x="23812" y="101203"/>
                </a:cubicBezTo>
                <a:close/>
                <a:moveTo>
                  <a:pt x="0" y="178594"/>
                </a:moveTo>
                <a:cubicBezTo>
                  <a:pt x="0" y="158874"/>
                  <a:pt x="15999" y="142875"/>
                  <a:pt x="35719" y="142875"/>
                </a:cubicBezTo>
                <a:lnTo>
                  <a:pt x="71438" y="142875"/>
                </a:lnTo>
                <a:cubicBezTo>
                  <a:pt x="91157" y="142875"/>
                  <a:pt x="107156" y="158874"/>
                  <a:pt x="107156" y="178594"/>
                </a:cubicBezTo>
                <a:cubicBezTo>
                  <a:pt x="107156" y="185179"/>
                  <a:pt x="101836" y="190500"/>
                  <a:pt x="95250" y="190500"/>
                </a:cubicBezTo>
                <a:lnTo>
                  <a:pt x="11906" y="190500"/>
                </a:lnTo>
                <a:cubicBezTo>
                  <a:pt x="5321" y="190500"/>
                  <a:pt x="0" y="185179"/>
                  <a:pt x="0" y="178594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" name="Text 4"/>
          <p:cNvSpPr/>
          <p:nvPr/>
        </p:nvSpPr>
        <p:spPr>
          <a:xfrm>
            <a:off x="619125" y="1314450"/>
            <a:ext cx="547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四大核心功能模块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695450"/>
            <a:ext cx="5600700" cy="1219200"/>
          </a:xfrm>
          <a:custGeom>
            <a:avLst/>
            <a:gdLst/>
            <a:ahLst/>
            <a:cxnLst/>
            <a:rect l="l" t="t" r="r" b="b"/>
            <a:pathLst>
              <a:path w="5600700" h="12192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143000"/>
                </a:lnTo>
                <a:cubicBezTo>
                  <a:pt x="5600700" y="1185056"/>
                  <a:pt x="5566556" y="1219200"/>
                  <a:pt x="552450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00050" y="169545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9" name="Shape 7"/>
          <p:cNvSpPr/>
          <p:nvPr/>
        </p:nvSpPr>
        <p:spPr>
          <a:xfrm>
            <a:off x="535781" y="18573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0" name="Text 8"/>
          <p:cNvSpPr/>
          <p:nvPr/>
        </p:nvSpPr>
        <p:spPr>
          <a:xfrm>
            <a:off x="752475" y="1809750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班级管理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3400" y="2152650"/>
            <a:ext cx="541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创建班级：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填写班级信息，生成唯一邀请码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3400" y="2381250"/>
            <a:ext cx="541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审核申请：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审批学生加入申请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3400" y="2609850"/>
            <a:ext cx="541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成员管理：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移除学生、设置助教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0050" y="3028950"/>
            <a:ext cx="5600700" cy="1219200"/>
          </a:xfrm>
          <a:custGeom>
            <a:avLst/>
            <a:gdLst/>
            <a:ahLst/>
            <a:cxnLst/>
            <a:rect l="l" t="t" r="r" b="b"/>
            <a:pathLst>
              <a:path w="5600700" h="12192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143000"/>
                </a:lnTo>
                <a:cubicBezTo>
                  <a:pt x="5600700" y="1185056"/>
                  <a:pt x="5566556" y="1219200"/>
                  <a:pt x="552450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00050" y="302895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16" name="Shape 14"/>
          <p:cNvSpPr/>
          <p:nvPr/>
        </p:nvSpPr>
        <p:spPr>
          <a:xfrm>
            <a:off x="557213" y="31908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4805" y="12156"/>
                </a:moveTo>
                <a:cubicBezTo>
                  <a:pt x="48455" y="14700"/>
                  <a:pt x="49325" y="19723"/>
                  <a:pt x="46780" y="23340"/>
                </a:cubicBezTo>
                <a:lnTo>
                  <a:pt x="28028" y="50129"/>
                </a:lnTo>
                <a:cubicBezTo>
                  <a:pt x="26655" y="52071"/>
                  <a:pt x="24512" y="53310"/>
                  <a:pt x="22134" y="53511"/>
                </a:cubicBezTo>
                <a:cubicBezTo>
                  <a:pt x="19757" y="53712"/>
                  <a:pt x="17413" y="52908"/>
                  <a:pt x="15739" y="51234"/>
                </a:cubicBezTo>
                <a:lnTo>
                  <a:pt x="2344" y="37840"/>
                </a:lnTo>
                <a:cubicBezTo>
                  <a:pt x="-770" y="34692"/>
                  <a:pt x="-770" y="29602"/>
                  <a:pt x="2344" y="26454"/>
                </a:cubicBezTo>
                <a:cubicBezTo>
                  <a:pt x="5458" y="23306"/>
                  <a:pt x="10582" y="23340"/>
                  <a:pt x="13729" y="26454"/>
                </a:cubicBezTo>
                <a:lnTo>
                  <a:pt x="20360" y="33084"/>
                </a:lnTo>
                <a:lnTo>
                  <a:pt x="33620" y="14131"/>
                </a:lnTo>
                <a:cubicBezTo>
                  <a:pt x="36165" y="10481"/>
                  <a:pt x="41188" y="9611"/>
                  <a:pt x="44805" y="12156"/>
                </a:cubicBezTo>
                <a:close/>
                <a:moveTo>
                  <a:pt x="44805" y="65734"/>
                </a:moveTo>
                <a:cubicBezTo>
                  <a:pt x="48455" y="68279"/>
                  <a:pt x="49325" y="73302"/>
                  <a:pt x="46780" y="76918"/>
                </a:cubicBezTo>
                <a:lnTo>
                  <a:pt x="28028" y="103707"/>
                </a:lnTo>
                <a:cubicBezTo>
                  <a:pt x="26655" y="105649"/>
                  <a:pt x="24512" y="106888"/>
                  <a:pt x="22134" y="107089"/>
                </a:cubicBezTo>
                <a:cubicBezTo>
                  <a:pt x="19757" y="107290"/>
                  <a:pt x="17413" y="106487"/>
                  <a:pt x="15739" y="104812"/>
                </a:cubicBezTo>
                <a:lnTo>
                  <a:pt x="2344" y="91418"/>
                </a:lnTo>
                <a:cubicBezTo>
                  <a:pt x="-804" y="88270"/>
                  <a:pt x="-804" y="83180"/>
                  <a:pt x="2344" y="80066"/>
                </a:cubicBezTo>
                <a:cubicBezTo>
                  <a:pt x="5492" y="76952"/>
                  <a:pt x="10582" y="76918"/>
                  <a:pt x="13696" y="80066"/>
                </a:cubicBezTo>
                <a:lnTo>
                  <a:pt x="20326" y="86696"/>
                </a:lnTo>
                <a:lnTo>
                  <a:pt x="33587" y="67743"/>
                </a:lnTo>
                <a:cubicBezTo>
                  <a:pt x="36132" y="64093"/>
                  <a:pt x="41155" y="63222"/>
                  <a:pt x="44771" y="65767"/>
                </a:cubicBezTo>
                <a:close/>
                <a:moveTo>
                  <a:pt x="75009" y="32147"/>
                </a:moveTo>
                <a:cubicBezTo>
                  <a:pt x="75009" y="26220"/>
                  <a:pt x="79798" y="21431"/>
                  <a:pt x="85725" y="21431"/>
                </a:cubicBez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85725" y="42863"/>
                </a:lnTo>
                <a:cubicBezTo>
                  <a:pt x="79798" y="42863"/>
                  <a:pt x="75009" y="38074"/>
                  <a:pt x="75009" y="32147"/>
                </a:cubicBezTo>
                <a:close/>
                <a:moveTo>
                  <a:pt x="75009" y="85725"/>
                </a:moveTo>
                <a:cubicBezTo>
                  <a:pt x="75009" y="79798"/>
                  <a:pt x="79798" y="75009"/>
                  <a:pt x="85725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85725" y="96441"/>
                </a:lnTo>
                <a:cubicBezTo>
                  <a:pt x="79798" y="96441"/>
                  <a:pt x="75009" y="91652"/>
                  <a:pt x="75009" y="85725"/>
                </a:cubicBezTo>
                <a:close/>
                <a:moveTo>
                  <a:pt x="53578" y="139303"/>
                </a:moveTo>
                <a:cubicBezTo>
                  <a:pt x="53578" y="133376"/>
                  <a:pt x="58367" y="128588"/>
                  <a:pt x="64294" y="128588"/>
                </a:cubicBez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64294" y="150019"/>
                </a:lnTo>
                <a:cubicBezTo>
                  <a:pt x="58367" y="150019"/>
                  <a:pt x="53578" y="145230"/>
                  <a:pt x="53578" y="139303"/>
                </a:cubicBezTo>
                <a:close/>
                <a:moveTo>
                  <a:pt x="21431" y="125909"/>
                </a:moveTo>
                <a:cubicBezTo>
                  <a:pt x="28824" y="125909"/>
                  <a:pt x="34826" y="131910"/>
                  <a:pt x="34826" y="139303"/>
                </a:cubicBezTo>
                <a:cubicBezTo>
                  <a:pt x="34826" y="146696"/>
                  <a:pt x="28824" y="152698"/>
                  <a:pt x="21431" y="152698"/>
                </a:cubicBezTo>
                <a:cubicBezTo>
                  <a:pt x="14039" y="152698"/>
                  <a:pt x="8037" y="146696"/>
                  <a:pt x="8037" y="139303"/>
                </a:cubicBezTo>
                <a:cubicBezTo>
                  <a:pt x="8037" y="131910"/>
                  <a:pt x="14039" y="125909"/>
                  <a:pt x="21431" y="125909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17" name="Text 15"/>
          <p:cNvSpPr/>
          <p:nvPr/>
        </p:nvSpPr>
        <p:spPr>
          <a:xfrm>
            <a:off x="752475" y="3143250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训练发布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3400" y="3486150"/>
            <a:ext cx="541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创建训练计划：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填写训练名称、描述、时间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3400" y="3714750"/>
            <a:ext cx="541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配置题目：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从题库选择题目组成训练集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3400" y="3943350"/>
            <a:ext cx="541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发布作业：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设置截止日期、作业说明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0050" y="4362450"/>
            <a:ext cx="5600700" cy="1219200"/>
          </a:xfrm>
          <a:custGeom>
            <a:avLst/>
            <a:gdLst/>
            <a:ahLst/>
            <a:cxnLst/>
            <a:rect l="l" t="t" r="r" b="b"/>
            <a:pathLst>
              <a:path w="5600700" h="12192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143000"/>
                </a:lnTo>
                <a:cubicBezTo>
                  <a:pt x="5600700" y="1185056"/>
                  <a:pt x="5566556" y="1219200"/>
                  <a:pt x="552450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00050" y="436245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3" name="Shape 21"/>
          <p:cNvSpPr/>
          <p:nvPr/>
        </p:nvSpPr>
        <p:spPr>
          <a:xfrm>
            <a:off x="578644" y="45243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40184" y="85725"/>
                </a:moveTo>
                <a:cubicBezTo>
                  <a:pt x="35730" y="85725"/>
                  <a:pt x="32147" y="89308"/>
                  <a:pt x="32147" y="93762"/>
                </a:cubicBezTo>
                <a:cubicBezTo>
                  <a:pt x="32147" y="98215"/>
                  <a:pt x="35730" y="101798"/>
                  <a:pt x="40184" y="101798"/>
                </a:cubicBezTo>
                <a:lnTo>
                  <a:pt x="88404" y="101798"/>
                </a:lnTo>
                <a:cubicBezTo>
                  <a:pt x="92858" y="101798"/>
                  <a:pt x="96441" y="98215"/>
                  <a:pt x="96441" y="93762"/>
                </a:cubicBezTo>
                <a:cubicBezTo>
                  <a:pt x="96441" y="89308"/>
                  <a:pt x="92858" y="85725"/>
                  <a:pt x="88404" y="85725"/>
                </a:cubicBezTo>
                <a:lnTo>
                  <a:pt x="40184" y="85725"/>
                </a:lnTo>
                <a:close/>
                <a:moveTo>
                  <a:pt x="40184" y="117872"/>
                </a:moveTo>
                <a:cubicBezTo>
                  <a:pt x="35730" y="117872"/>
                  <a:pt x="32147" y="121455"/>
                  <a:pt x="32147" y="125909"/>
                </a:cubicBezTo>
                <a:cubicBezTo>
                  <a:pt x="32147" y="130362"/>
                  <a:pt x="35730" y="133945"/>
                  <a:pt x="40184" y="133945"/>
                </a:cubicBezTo>
                <a:lnTo>
                  <a:pt x="88404" y="133945"/>
                </a:lnTo>
                <a:cubicBezTo>
                  <a:pt x="92858" y="133945"/>
                  <a:pt x="96441" y="130362"/>
                  <a:pt x="96441" y="125909"/>
                </a:cubicBezTo>
                <a:cubicBezTo>
                  <a:pt x="96441" y="121455"/>
                  <a:pt x="92858" y="117872"/>
                  <a:pt x="88404" y="117872"/>
                </a:cubicBezTo>
                <a:lnTo>
                  <a:pt x="40184" y="117872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4" name="Text 22"/>
          <p:cNvSpPr/>
          <p:nvPr/>
        </p:nvSpPr>
        <p:spPr>
          <a:xfrm>
            <a:off x="752475" y="4476750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题目管理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3400" y="4819650"/>
            <a:ext cx="541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创建编辑：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编写题目描述、输入输出格式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3400" y="5048250"/>
            <a:ext cx="541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测试用例管理：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上传输入输出文件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3400" y="5276850"/>
            <a:ext cx="541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题解发布：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编写官方题解和讲解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0300" y="1314450"/>
            <a:ext cx="5600700" cy="2552700"/>
          </a:xfrm>
          <a:custGeom>
            <a:avLst/>
            <a:gdLst/>
            <a:ahLst/>
            <a:cxnLst/>
            <a:rect l="l" t="t" r="r" b="b"/>
            <a:pathLst>
              <a:path w="5600700" h="2552700">
                <a:moveTo>
                  <a:pt x="38100" y="0"/>
                </a:moveTo>
                <a:lnTo>
                  <a:pt x="5524502" y="0"/>
                </a:lnTo>
                <a:cubicBezTo>
                  <a:pt x="5566585" y="0"/>
                  <a:pt x="5600700" y="34115"/>
                  <a:pt x="5600700" y="76198"/>
                </a:cubicBezTo>
                <a:lnTo>
                  <a:pt x="5600700" y="2476502"/>
                </a:lnTo>
                <a:cubicBezTo>
                  <a:pt x="5600700" y="2518585"/>
                  <a:pt x="5566585" y="2552700"/>
                  <a:pt x="5524502" y="2552700"/>
                </a:cubicBezTo>
                <a:lnTo>
                  <a:pt x="38100" y="2552700"/>
                </a:lnTo>
                <a:cubicBezTo>
                  <a:pt x="17072" y="2552700"/>
                  <a:pt x="0" y="2535628"/>
                  <a:pt x="0" y="2514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210300" y="1314450"/>
            <a:ext cx="38100" cy="2552700"/>
          </a:xfrm>
          <a:custGeom>
            <a:avLst/>
            <a:gdLst/>
            <a:ahLst/>
            <a:cxnLst/>
            <a:rect l="l" t="t" r="r" b="b"/>
            <a:pathLst>
              <a:path w="38100" h="2552700">
                <a:moveTo>
                  <a:pt x="38100" y="0"/>
                </a:moveTo>
                <a:lnTo>
                  <a:pt x="38100" y="0"/>
                </a:lnTo>
                <a:lnTo>
                  <a:pt x="38100" y="2552700"/>
                </a:lnTo>
                <a:lnTo>
                  <a:pt x="38100" y="2552700"/>
                </a:lnTo>
                <a:cubicBezTo>
                  <a:pt x="17072" y="2552700"/>
                  <a:pt x="0" y="2535628"/>
                  <a:pt x="0" y="2514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0" name="Shape 28"/>
          <p:cNvSpPr/>
          <p:nvPr/>
        </p:nvSpPr>
        <p:spPr>
          <a:xfrm>
            <a:off x="6367463" y="14763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1" name="Text 29"/>
          <p:cNvSpPr/>
          <p:nvPr/>
        </p:nvSpPr>
        <p:spPr>
          <a:xfrm>
            <a:off x="6562725" y="1428750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数据分析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43650" y="1771650"/>
            <a:ext cx="5353050" cy="609600"/>
          </a:xfrm>
          <a:custGeom>
            <a:avLst/>
            <a:gdLst/>
            <a:ahLst/>
            <a:cxnLst/>
            <a:rect l="l" t="t" r="r" b="b"/>
            <a:pathLst>
              <a:path w="5353050" h="609600">
                <a:moveTo>
                  <a:pt x="38100" y="0"/>
                </a:moveTo>
                <a:lnTo>
                  <a:pt x="5314950" y="0"/>
                </a:lnTo>
                <a:cubicBezTo>
                  <a:pt x="5335978" y="0"/>
                  <a:pt x="5353050" y="17072"/>
                  <a:pt x="5353050" y="38100"/>
                </a:cubicBezTo>
                <a:lnTo>
                  <a:pt x="5353050" y="571500"/>
                </a:lnTo>
                <a:cubicBezTo>
                  <a:pt x="5353050" y="592528"/>
                  <a:pt x="5335978" y="609600"/>
                  <a:pt x="53149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19850" y="184785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班级表现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19850" y="2114550"/>
            <a:ext cx="526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查看班级整体通过率、平均提交次数、题目完成度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43650" y="2457450"/>
            <a:ext cx="5353050" cy="609600"/>
          </a:xfrm>
          <a:custGeom>
            <a:avLst/>
            <a:gdLst/>
            <a:ahLst/>
            <a:cxnLst/>
            <a:rect l="l" t="t" r="r" b="b"/>
            <a:pathLst>
              <a:path w="5353050" h="609600">
                <a:moveTo>
                  <a:pt x="38100" y="0"/>
                </a:moveTo>
                <a:lnTo>
                  <a:pt x="5314950" y="0"/>
                </a:lnTo>
                <a:cubicBezTo>
                  <a:pt x="5335978" y="0"/>
                  <a:pt x="5353050" y="17072"/>
                  <a:pt x="5353050" y="38100"/>
                </a:cubicBezTo>
                <a:lnTo>
                  <a:pt x="5353050" y="571500"/>
                </a:lnTo>
                <a:cubicBezTo>
                  <a:pt x="5353050" y="592528"/>
                  <a:pt x="5335978" y="609600"/>
                  <a:pt x="53149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19850" y="253365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学员对比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19850" y="2800350"/>
            <a:ext cx="526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横向对比学员表现，识别优秀学员和需要帮助的学生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43650" y="3143250"/>
            <a:ext cx="5353050" cy="609600"/>
          </a:xfrm>
          <a:custGeom>
            <a:avLst/>
            <a:gdLst/>
            <a:ahLst/>
            <a:cxnLst/>
            <a:rect l="l" t="t" r="r" b="b"/>
            <a:pathLst>
              <a:path w="5353050" h="609600">
                <a:moveTo>
                  <a:pt x="38100" y="0"/>
                </a:moveTo>
                <a:lnTo>
                  <a:pt x="5314950" y="0"/>
                </a:lnTo>
                <a:cubicBezTo>
                  <a:pt x="5335978" y="0"/>
                  <a:pt x="5353050" y="17072"/>
                  <a:pt x="5353050" y="38100"/>
                </a:cubicBezTo>
                <a:lnTo>
                  <a:pt x="5353050" y="571500"/>
                </a:lnTo>
                <a:cubicBezTo>
                  <a:pt x="5353050" y="592528"/>
                  <a:pt x="5335978" y="609600"/>
                  <a:pt x="53149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19850" y="321945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题目统计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19850" y="3486150"/>
            <a:ext cx="526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分析每道题的通过率、平均尝试次数、错误类型分布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96013" y="4024313"/>
            <a:ext cx="5610225" cy="2295525"/>
          </a:xfrm>
          <a:custGeom>
            <a:avLst/>
            <a:gdLst/>
            <a:ahLst/>
            <a:cxnLst/>
            <a:rect l="l" t="t" r="r" b="b"/>
            <a:pathLst>
              <a:path w="5610225" h="2295525">
                <a:moveTo>
                  <a:pt x="76211" y="0"/>
                </a:moveTo>
                <a:lnTo>
                  <a:pt x="5534014" y="0"/>
                </a:lnTo>
                <a:cubicBezTo>
                  <a:pt x="5576104" y="0"/>
                  <a:pt x="5610225" y="34121"/>
                  <a:pt x="5610225" y="76211"/>
                </a:cubicBezTo>
                <a:lnTo>
                  <a:pt x="5610225" y="2219314"/>
                </a:lnTo>
                <a:cubicBezTo>
                  <a:pt x="5610225" y="2261404"/>
                  <a:pt x="5576104" y="2295525"/>
                  <a:pt x="5534014" y="2295525"/>
                </a:cubicBezTo>
                <a:lnTo>
                  <a:pt x="76211" y="2295525"/>
                </a:lnTo>
                <a:cubicBezTo>
                  <a:pt x="34121" y="2295525"/>
                  <a:pt x="0" y="2261404"/>
                  <a:pt x="0" y="2219314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F6AD55">
                  <a:alpha val="20000"/>
                </a:srgbClr>
              </a:gs>
            </a:gsLst>
            <a:lin ang="2700000" scaled="1"/>
          </a:gra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76988" y="42291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3" name="Text 41"/>
          <p:cNvSpPr/>
          <p:nvPr/>
        </p:nvSpPr>
        <p:spPr>
          <a:xfrm>
            <a:off x="6572250" y="4181475"/>
            <a:ext cx="516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教师工作流程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53175" y="45815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5" name="Text 43"/>
          <p:cNvSpPr/>
          <p:nvPr/>
        </p:nvSpPr>
        <p:spPr>
          <a:xfrm>
            <a:off x="6475512" y="4619625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772275" y="4562475"/>
            <a:ext cx="4876800" cy="342900"/>
          </a:xfrm>
          <a:custGeom>
            <a:avLst/>
            <a:gdLst/>
            <a:ahLst/>
            <a:cxnLst/>
            <a:rect l="l" t="t" r="r" b="b"/>
            <a:pathLst>
              <a:path w="4876800" h="342900">
                <a:moveTo>
                  <a:pt x="38100" y="0"/>
                </a:moveTo>
                <a:lnTo>
                  <a:pt x="4838700" y="0"/>
                </a:lnTo>
                <a:cubicBezTo>
                  <a:pt x="4859742" y="0"/>
                  <a:pt x="4876800" y="17058"/>
                  <a:pt x="4876800" y="38100"/>
                </a:cubicBezTo>
                <a:lnTo>
                  <a:pt x="4876800" y="304800"/>
                </a:lnTo>
                <a:cubicBezTo>
                  <a:pt x="4876800" y="325842"/>
                  <a:pt x="4859742" y="342900"/>
                  <a:pt x="48387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848475" y="4638675"/>
            <a:ext cx="479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创建班级</a:t>
            </a:r>
            <a:r>
              <a:rPr lang="en-US" sz="10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→ 生成邀请码 → 审核学生加入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53175" y="50006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9" name="Text 47"/>
          <p:cNvSpPr/>
          <p:nvPr/>
        </p:nvSpPr>
        <p:spPr>
          <a:xfrm>
            <a:off x="6462713" y="5038725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772275" y="4981575"/>
            <a:ext cx="4876800" cy="342900"/>
          </a:xfrm>
          <a:custGeom>
            <a:avLst/>
            <a:gdLst/>
            <a:ahLst/>
            <a:cxnLst/>
            <a:rect l="l" t="t" r="r" b="b"/>
            <a:pathLst>
              <a:path w="4876800" h="342900">
                <a:moveTo>
                  <a:pt x="38100" y="0"/>
                </a:moveTo>
                <a:lnTo>
                  <a:pt x="4838700" y="0"/>
                </a:lnTo>
                <a:cubicBezTo>
                  <a:pt x="4859742" y="0"/>
                  <a:pt x="4876800" y="17058"/>
                  <a:pt x="4876800" y="38100"/>
                </a:cubicBezTo>
                <a:lnTo>
                  <a:pt x="4876800" y="304800"/>
                </a:lnTo>
                <a:cubicBezTo>
                  <a:pt x="4876800" y="325842"/>
                  <a:pt x="4859742" y="342900"/>
                  <a:pt x="48387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848475" y="5057775"/>
            <a:ext cx="479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创建训练</a:t>
            </a:r>
            <a:r>
              <a:rPr lang="en-US" sz="10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→ 从题库选题 → 发布给班级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53175" y="54197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3" name="Text 51"/>
          <p:cNvSpPr/>
          <p:nvPr/>
        </p:nvSpPr>
        <p:spPr>
          <a:xfrm>
            <a:off x="6460629" y="5457825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772275" y="5400675"/>
            <a:ext cx="4876800" cy="342900"/>
          </a:xfrm>
          <a:custGeom>
            <a:avLst/>
            <a:gdLst/>
            <a:ahLst/>
            <a:cxnLst/>
            <a:rect l="l" t="t" r="r" b="b"/>
            <a:pathLst>
              <a:path w="4876800" h="342900">
                <a:moveTo>
                  <a:pt x="38100" y="0"/>
                </a:moveTo>
                <a:lnTo>
                  <a:pt x="4838700" y="0"/>
                </a:lnTo>
                <a:cubicBezTo>
                  <a:pt x="4859742" y="0"/>
                  <a:pt x="4876800" y="17058"/>
                  <a:pt x="4876800" y="38100"/>
                </a:cubicBezTo>
                <a:lnTo>
                  <a:pt x="4876800" y="304800"/>
                </a:lnTo>
                <a:cubicBezTo>
                  <a:pt x="4876800" y="325842"/>
                  <a:pt x="4859742" y="342900"/>
                  <a:pt x="48387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848475" y="5476875"/>
            <a:ext cx="479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监控进度</a:t>
            </a:r>
            <a:r>
              <a:rPr lang="en-US" sz="10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→ 查看学员提交 → 分析数据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53175" y="58388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7" name="Text 55"/>
          <p:cNvSpPr/>
          <p:nvPr/>
        </p:nvSpPr>
        <p:spPr>
          <a:xfrm>
            <a:off x="6460778" y="5876925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772275" y="5819775"/>
            <a:ext cx="4876800" cy="342900"/>
          </a:xfrm>
          <a:custGeom>
            <a:avLst/>
            <a:gdLst/>
            <a:ahLst/>
            <a:cxnLst/>
            <a:rect l="l" t="t" r="r" b="b"/>
            <a:pathLst>
              <a:path w="4876800" h="342900">
                <a:moveTo>
                  <a:pt x="38100" y="0"/>
                </a:moveTo>
                <a:lnTo>
                  <a:pt x="4838700" y="0"/>
                </a:lnTo>
                <a:cubicBezTo>
                  <a:pt x="4859742" y="0"/>
                  <a:pt x="4876800" y="17058"/>
                  <a:pt x="4876800" y="38100"/>
                </a:cubicBezTo>
                <a:lnTo>
                  <a:pt x="4876800" y="304800"/>
                </a:lnTo>
                <a:cubicBezTo>
                  <a:pt x="4876800" y="325842"/>
                  <a:pt x="4859742" y="342900"/>
                  <a:pt x="48387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848475" y="5895975"/>
            <a:ext cx="479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针对性辅导</a:t>
            </a:r>
            <a:r>
              <a:rPr lang="en-US" sz="10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→ 根据数据反馈 → 个性化指导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1028700" cy="314325"/>
          </a:xfrm>
          <a:custGeom>
            <a:avLst/>
            <a:gdLst/>
            <a:ahLst/>
            <a:cxnLst/>
            <a:rect l="l" t="t" r="r" b="b"/>
            <a:pathLst>
              <a:path w="1028700" h="314325">
                <a:moveTo>
                  <a:pt x="38099" y="0"/>
                </a:moveTo>
                <a:lnTo>
                  <a:pt x="990601" y="0"/>
                </a:lnTo>
                <a:cubicBezTo>
                  <a:pt x="1011642" y="0"/>
                  <a:pt x="1028700" y="17058"/>
                  <a:pt x="1028700" y="38099"/>
                </a:cubicBezTo>
                <a:lnTo>
                  <a:pt x="1028700" y="276226"/>
                </a:lnTo>
                <a:cubicBezTo>
                  <a:pt x="1028700" y="297267"/>
                  <a:pt x="1011642" y="314325"/>
                  <a:pt x="990601" y="314325"/>
                </a:cubicBezTo>
                <a:lnTo>
                  <a:pt x="38099" y="314325"/>
                </a:lnTo>
                <a:cubicBezTo>
                  <a:pt x="17058" y="314325"/>
                  <a:pt x="0" y="297267"/>
                  <a:pt x="0" y="2762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4825" y="466725"/>
            <a:ext cx="8593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810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研究内容与目标（续）- 校方/管理员端功能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4097" y="13620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64294"/>
                </a:moveTo>
                <a:cubicBezTo>
                  <a:pt x="0" y="52473"/>
                  <a:pt x="9611" y="42863"/>
                  <a:pt x="21431" y="42863"/>
                </a:cubicBezTo>
                <a:lnTo>
                  <a:pt x="42863" y="42863"/>
                </a:lnTo>
                <a:lnTo>
                  <a:pt x="85692" y="4320"/>
                </a:lnTo>
                <a:cubicBezTo>
                  <a:pt x="91820" y="-1172"/>
                  <a:pt x="101095" y="-1172"/>
                  <a:pt x="107190" y="4320"/>
                </a:cubicBezTo>
                <a:lnTo>
                  <a:pt x="150019" y="42863"/>
                </a:lnTo>
                <a:lnTo>
                  <a:pt x="171450" y="42863"/>
                </a:lnTo>
                <a:cubicBezTo>
                  <a:pt x="183271" y="42863"/>
                  <a:pt x="192881" y="52473"/>
                  <a:pt x="192881" y="64294"/>
                </a:cubicBezTo>
                <a:lnTo>
                  <a:pt x="192881" y="150019"/>
                </a:lnTo>
                <a:cubicBezTo>
                  <a:pt x="192881" y="161839"/>
                  <a:pt x="183271" y="171450"/>
                  <a:pt x="171450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64294"/>
                </a:lnTo>
                <a:close/>
                <a:moveTo>
                  <a:pt x="75009" y="125909"/>
                </a:moveTo>
                <a:lnTo>
                  <a:pt x="75009" y="155377"/>
                </a:lnTo>
                <a:lnTo>
                  <a:pt x="117872" y="155377"/>
                </a:lnTo>
                <a:lnTo>
                  <a:pt x="117872" y="125909"/>
                </a:lnTo>
                <a:cubicBezTo>
                  <a:pt x="117872" y="118508"/>
                  <a:pt x="111878" y="112514"/>
                  <a:pt x="104477" y="112514"/>
                </a:cubicBezTo>
                <a:lnTo>
                  <a:pt x="88404" y="112514"/>
                </a:lnTo>
                <a:cubicBezTo>
                  <a:pt x="81003" y="112514"/>
                  <a:pt x="75009" y="118508"/>
                  <a:pt x="75009" y="125909"/>
                </a:cubicBezTo>
                <a:close/>
                <a:moveTo>
                  <a:pt x="37505" y="128588"/>
                </a:moveTo>
                <a:cubicBezTo>
                  <a:pt x="40451" y="128588"/>
                  <a:pt x="42863" y="126176"/>
                  <a:pt x="42863" y="123230"/>
                </a:cubicBezTo>
                <a:lnTo>
                  <a:pt x="42863" y="112514"/>
                </a:lnTo>
                <a:cubicBezTo>
                  <a:pt x="42863" y="109567"/>
                  <a:pt x="40451" y="107156"/>
                  <a:pt x="37505" y="107156"/>
                </a:cubicBezTo>
                <a:lnTo>
                  <a:pt x="26789" y="107156"/>
                </a:lnTo>
                <a:cubicBezTo>
                  <a:pt x="23842" y="107156"/>
                  <a:pt x="21431" y="109567"/>
                  <a:pt x="21431" y="112514"/>
                </a:cubicBezTo>
                <a:lnTo>
                  <a:pt x="21431" y="123230"/>
                </a:lnTo>
                <a:cubicBezTo>
                  <a:pt x="21431" y="126176"/>
                  <a:pt x="23842" y="128588"/>
                  <a:pt x="26789" y="128588"/>
                </a:cubicBezTo>
                <a:lnTo>
                  <a:pt x="37505" y="128588"/>
                </a:lnTo>
                <a:close/>
                <a:moveTo>
                  <a:pt x="42863" y="80367"/>
                </a:moveTo>
                <a:lnTo>
                  <a:pt x="42863" y="69652"/>
                </a:lnTo>
                <a:cubicBezTo>
                  <a:pt x="42863" y="66705"/>
                  <a:pt x="40451" y="64294"/>
                  <a:pt x="37505" y="64294"/>
                </a:cubicBezTo>
                <a:lnTo>
                  <a:pt x="26789" y="64294"/>
                </a:lnTo>
                <a:cubicBezTo>
                  <a:pt x="23842" y="64294"/>
                  <a:pt x="21431" y="66705"/>
                  <a:pt x="21431" y="69652"/>
                </a:cubicBezTo>
                <a:lnTo>
                  <a:pt x="21431" y="80367"/>
                </a:lnTo>
                <a:cubicBezTo>
                  <a:pt x="21431" y="83314"/>
                  <a:pt x="23842" y="85725"/>
                  <a:pt x="26789" y="85725"/>
                </a:cubicBezTo>
                <a:lnTo>
                  <a:pt x="37505" y="85725"/>
                </a:lnTo>
                <a:cubicBezTo>
                  <a:pt x="40451" y="85725"/>
                  <a:pt x="42863" y="83314"/>
                  <a:pt x="42863" y="80367"/>
                </a:cubicBezTo>
                <a:close/>
                <a:moveTo>
                  <a:pt x="166092" y="128588"/>
                </a:moveTo>
                <a:cubicBezTo>
                  <a:pt x="169039" y="128588"/>
                  <a:pt x="171450" y="126176"/>
                  <a:pt x="171450" y="123230"/>
                </a:cubicBezTo>
                <a:lnTo>
                  <a:pt x="171450" y="112514"/>
                </a:lnTo>
                <a:cubicBezTo>
                  <a:pt x="171450" y="109567"/>
                  <a:pt x="169039" y="107156"/>
                  <a:pt x="166092" y="107156"/>
                </a:cubicBezTo>
                <a:lnTo>
                  <a:pt x="155377" y="107156"/>
                </a:lnTo>
                <a:cubicBezTo>
                  <a:pt x="152430" y="107156"/>
                  <a:pt x="150019" y="109567"/>
                  <a:pt x="150019" y="112514"/>
                </a:cubicBezTo>
                <a:lnTo>
                  <a:pt x="150019" y="123230"/>
                </a:lnTo>
                <a:cubicBezTo>
                  <a:pt x="150019" y="126176"/>
                  <a:pt x="152430" y="128588"/>
                  <a:pt x="155377" y="128588"/>
                </a:cubicBezTo>
                <a:lnTo>
                  <a:pt x="166092" y="128588"/>
                </a:lnTo>
                <a:close/>
                <a:moveTo>
                  <a:pt x="171450" y="80367"/>
                </a:moveTo>
                <a:lnTo>
                  <a:pt x="171450" y="69652"/>
                </a:lnTo>
                <a:cubicBezTo>
                  <a:pt x="171450" y="66705"/>
                  <a:pt x="169039" y="64294"/>
                  <a:pt x="166092" y="64294"/>
                </a:cubicBezTo>
                <a:lnTo>
                  <a:pt x="155377" y="64294"/>
                </a:lnTo>
                <a:cubicBezTo>
                  <a:pt x="152430" y="64294"/>
                  <a:pt x="150019" y="66705"/>
                  <a:pt x="150019" y="69652"/>
                </a:cubicBezTo>
                <a:lnTo>
                  <a:pt x="150019" y="80367"/>
                </a:lnTo>
                <a:cubicBezTo>
                  <a:pt x="150019" y="83314"/>
                  <a:pt x="152430" y="85725"/>
                  <a:pt x="155377" y="85725"/>
                </a:cubicBezTo>
                <a:lnTo>
                  <a:pt x="166092" y="85725"/>
                </a:lnTo>
                <a:cubicBezTo>
                  <a:pt x="169039" y="85725"/>
                  <a:pt x="171450" y="83314"/>
                  <a:pt x="171450" y="80367"/>
                </a:cubicBezTo>
                <a:close/>
                <a:moveTo>
                  <a:pt x="96441" y="85725"/>
                </a:moveTo>
                <a:cubicBezTo>
                  <a:pt x="108269" y="85725"/>
                  <a:pt x="117872" y="76122"/>
                  <a:pt x="117872" y="64294"/>
                </a:cubicBezTo>
                <a:cubicBezTo>
                  <a:pt x="117872" y="52466"/>
                  <a:pt x="108269" y="42863"/>
                  <a:pt x="96441" y="42863"/>
                </a:cubicBezTo>
                <a:cubicBezTo>
                  <a:pt x="84612" y="42863"/>
                  <a:pt x="75009" y="52466"/>
                  <a:pt x="75009" y="64294"/>
                </a:cubicBezTo>
                <a:cubicBezTo>
                  <a:pt x="75009" y="76122"/>
                  <a:pt x="84612" y="85725"/>
                  <a:pt x="96441" y="85725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" name="Text 4"/>
          <p:cNvSpPr/>
          <p:nvPr/>
        </p:nvSpPr>
        <p:spPr>
          <a:xfrm>
            <a:off x="600075" y="1314450"/>
            <a:ext cx="550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校方功能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657350"/>
            <a:ext cx="5619750" cy="609600"/>
          </a:xfrm>
          <a:custGeom>
            <a:avLst/>
            <a:gdLst/>
            <a:ahLst/>
            <a:cxnLst/>
            <a:rect l="l" t="t" r="r" b="b"/>
            <a:pathLst>
              <a:path w="5619750" h="6096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571500"/>
                </a:lnTo>
                <a:cubicBezTo>
                  <a:pt x="5619750" y="592528"/>
                  <a:pt x="5602678" y="609600"/>
                  <a:pt x="55816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00050" y="165735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9" name="Text 7"/>
          <p:cNvSpPr/>
          <p:nvPr/>
        </p:nvSpPr>
        <p:spPr>
          <a:xfrm>
            <a:off x="495300" y="1733550"/>
            <a:ext cx="552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学校信息管理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5300" y="200025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管理学校基本信息、LOGO、联系方式等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2343150"/>
            <a:ext cx="5619750" cy="609600"/>
          </a:xfrm>
          <a:custGeom>
            <a:avLst/>
            <a:gdLst/>
            <a:ahLst/>
            <a:cxnLst/>
            <a:rect l="l" t="t" r="r" b="b"/>
            <a:pathLst>
              <a:path w="5619750" h="6096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571500"/>
                </a:lnTo>
                <a:cubicBezTo>
                  <a:pt x="5619750" y="592528"/>
                  <a:pt x="5602678" y="609600"/>
                  <a:pt x="55816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234315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3" name="Text 11"/>
          <p:cNvSpPr/>
          <p:nvPr/>
        </p:nvSpPr>
        <p:spPr>
          <a:xfrm>
            <a:off x="495300" y="2419350"/>
            <a:ext cx="552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组织架构管理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5300" y="268605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构建和管理学校-院系-班级三级组织结构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050" y="3028950"/>
            <a:ext cx="5619750" cy="609600"/>
          </a:xfrm>
          <a:custGeom>
            <a:avLst/>
            <a:gdLst/>
            <a:ahLst/>
            <a:cxnLst/>
            <a:rect l="l" t="t" r="r" b="b"/>
            <a:pathLst>
              <a:path w="5619750" h="6096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571500"/>
                </a:lnTo>
                <a:cubicBezTo>
                  <a:pt x="5619750" y="592528"/>
                  <a:pt x="5602678" y="609600"/>
                  <a:pt x="55816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00050" y="302895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7" name="Text 15"/>
          <p:cNvSpPr/>
          <p:nvPr/>
        </p:nvSpPr>
        <p:spPr>
          <a:xfrm>
            <a:off x="495300" y="3105150"/>
            <a:ext cx="552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数据看板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5300" y="337185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查看学校整体运营数据：注册人数、提交量等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1000" y="375285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三级组织架构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19100" y="4057650"/>
            <a:ext cx="1695450" cy="571500"/>
          </a:xfrm>
          <a:custGeom>
            <a:avLst/>
            <a:gdLst/>
            <a:ahLst/>
            <a:cxnLst/>
            <a:rect l="l" t="t" r="r" b="b"/>
            <a:pathLst>
              <a:path w="1695450" h="571500">
                <a:moveTo>
                  <a:pt x="38102" y="0"/>
                </a:moveTo>
                <a:lnTo>
                  <a:pt x="1657348" y="0"/>
                </a:lnTo>
                <a:cubicBezTo>
                  <a:pt x="1678391" y="0"/>
                  <a:pt x="1695450" y="17059"/>
                  <a:pt x="1695450" y="38102"/>
                </a:cubicBezTo>
                <a:lnTo>
                  <a:pt x="1695450" y="533398"/>
                </a:lnTo>
                <a:cubicBezTo>
                  <a:pt x="1695450" y="554441"/>
                  <a:pt x="1678391" y="571500"/>
                  <a:pt x="165734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69938" y="4133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1166" y="7516"/>
                </a:moveTo>
                <a:cubicBezTo>
                  <a:pt x="97520" y="5432"/>
                  <a:pt x="93018" y="5432"/>
                  <a:pt x="89334" y="7516"/>
                </a:cubicBezTo>
                <a:lnTo>
                  <a:pt x="5990" y="55141"/>
                </a:lnTo>
                <a:cubicBezTo>
                  <a:pt x="1302" y="57820"/>
                  <a:pt x="-1005" y="63326"/>
                  <a:pt x="372" y="68535"/>
                </a:cubicBezTo>
                <a:cubicBezTo>
                  <a:pt x="1749" y="73744"/>
                  <a:pt x="6511" y="77391"/>
                  <a:pt x="11906" y="77391"/>
                </a:cubicBezTo>
                <a:lnTo>
                  <a:pt x="23812" y="77391"/>
                </a:lnTo>
                <a:lnTo>
                  <a:pt x="23812" y="154781"/>
                </a:lnTo>
                <a:lnTo>
                  <a:pt x="23812" y="154781"/>
                </a:lnTo>
                <a:lnTo>
                  <a:pt x="4762" y="169069"/>
                </a:lnTo>
                <a:cubicBezTo>
                  <a:pt x="1749" y="171301"/>
                  <a:pt x="0" y="174836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4836"/>
                  <a:pt x="188751" y="171301"/>
                  <a:pt x="185738" y="169069"/>
                </a:cubicBezTo>
                <a:lnTo>
                  <a:pt x="166688" y="154781"/>
                </a:lnTo>
                <a:lnTo>
                  <a:pt x="166688" y="77391"/>
                </a:lnTo>
                <a:lnTo>
                  <a:pt x="178594" y="77391"/>
                </a:lnTo>
                <a:cubicBezTo>
                  <a:pt x="183989" y="77391"/>
                  <a:pt x="188714" y="73744"/>
                  <a:pt x="190091" y="68535"/>
                </a:cubicBezTo>
                <a:cubicBezTo>
                  <a:pt x="191467" y="63326"/>
                  <a:pt x="189161" y="57820"/>
                  <a:pt x="184472" y="55141"/>
                </a:cubicBezTo>
                <a:lnTo>
                  <a:pt x="101129" y="7516"/>
                </a:lnTo>
                <a:close/>
                <a:moveTo>
                  <a:pt x="148828" y="77391"/>
                </a:moveTo>
                <a:lnTo>
                  <a:pt x="148828" y="154781"/>
                </a:lnTo>
                <a:lnTo>
                  <a:pt x="125016" y="154781"/>
                </a:lnTo>
                <a:lnTo>
                  <a:pt x="125016" y="77391"/>
                </a:lnTo>
                <a:lnTo>
                  <a:pt x="148828" y="77391"/>
                </a:lnTo>
                <a:close/>
                <a:moveTo>
                  <a:pt x="107156" y="77391"/>
                </a:moveTo>
                <a:lnTo>
                  <a:pt x="107156" y="154781"/>
                </a:lnTo>
                <a:lnTo>
                  <a:pt x="83344" y="154781"/>
                </a:lnTo>
                <a:lnTo>
                  <a:pt x="83344" y="77391"/>
                </a:lnTo>
                <a:lnTo>
                  <a:pt x="107156" y="77391"/>
                </a:lnTo>
                <a:close/>
                <a:moveTo>
                  <a:pt x="65484" y="77391"/>
                </a:moveTo>
                <a:lnTo>
                  <a:pt x="65484" y="154781"/>
                </a:lnTo>
                <a:lnTo>
                  <a:pt x="41672" y="154781"/>
                </a:lnTo>
                <a:lnTo>
                  <a:pt x="41672" y="77391"/>
                </a:lnTo>
                <a:lnTo>
                  <a:pt x="65484" y="77391"/>
                </a:lnTo>
                <a:close/>
                <a:moveTo>
                  <a:pt x="95250" y="35719"/>
                </a:moveTo>
                <a:cubicBezTo>
                  <a:pt x="101821" y="35719"/>
                  <a:pt x="107156" y="41054"/>
                  <a:pt x="107156" y="47625"/>
                </a:cubicBezTo>
                <a:cubicBezTo>
                  <a:pt x="107156" y="54196"/>
                  <a:pt x="101821" y="59531"/>
                  <a:pt x="95250" y="59531"/>
                </a:cubicBezTo>
                <a:cubicBezTo>
                  <a:pt x="88679" y="59531"/>
                  <a:pt x="83344" y="54196"/>
                  <a:pt x="83344" y="47625"/>
                </a:cubicBezTo>
                <a:cubicBezTo>
                  <a:pt x="83344" y="41054"/>
                  <a:pt x="88679" y="35719"/>
                  <a:pt x="95250" y="35719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2" name="Text 20"/>
          <p:cNvSpPr/>
          <p:nvPr/>
        </p:nvSpPr>
        <p:spPr>
          <a:xfrm>
            <a:off x="461963" y="4362450"/>
            <a:ext cx="160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学校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168575" y="42767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4" name="Shape 22"/>
          <p:cNvSpPr/>
          <p:nvPr/>
        </p:nvSpPr>
        <p:spPr>
          <a:xfrm>
            <a:off x="2354312" y="4057650"/>
            <a:ext cx="1695450" cy="571500"/>
          </a:xfrm>
          <a:custGeom>
            <a:avLst/>
            <a:gdLst/>
            <a:ahLst/>
            <a:cxnLst/>
            <a:rect l="l" t="t" r="r" b="b"/>
            <a:pathLst>
              <a:path w="1695450" h="571500">
                <a:moveTo>
                  <a:pt x="38102" y="0"/>
                </a:moveTo>
                <a:lnTo>
                  <a:pt x="1657348" y="0"/>
                </a:lnTo>
                <a:cubicBezTo>
                  <a:pt x="1678391" y="0"/>
                  <a:pt x="1695450" y="17059"/>
                  <a:pt x="1695450" y="38102"/>
                </a:cubicBezTo>
                <a:lnTo>
                  <a:pt x="1695450" y="533398"/>
                </a:lnTo>
                <a:cubicBezTo>
                  <a:pt x="1695450" y="554441"/>
                  <a:pt x="1678391" y="571500"/>
                  <a:pt x="165734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128963" y="41338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6" name="Text 24"/>
          <p:cNvSpPr/>
          <p:nvPr/>
        </p:nvSpPr>
        <p:spPr>
          <a:xfrm>
            <a:off x="2397175" y="4362450"/>
            <a:ext cx="160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院系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103787" y="42767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8" name="Shape 26"/>
          <p:cNvSpPr/>
          <p:nvPr/>
        </p:nvSpPr>
        <p:spPr>
          <a:xfrm>
            <a:off x="4289524" y="4057650"/>
            <a:ext cx="1695450" cy="571500"/>
          </a:xfrm>
          <a:custGeom>
            <a:avLst/>
            <a:gdLst/>
            <a:ahLst/>
            <a:cxnLst/>
            <a:rect l="l" t="t" r="r" b="b"/>
            <a:pathLst>
              <a:path w="1695450" h="571500">
                <a:moveTo>
                  <a:pt x="38102" y="0"/>
                </a:moveTo>
                <a:lnTo>
                  <a:pt x="1657348" y="0"/>
                </a:lnTo>
                <a:cubicBezTo>
                  <a:pt x="1678391" y="0"/>
                  <a:pt x="1695450" y="17059"/>
                  <a:pt x="1695450" y="38102"/>
                </a:cubicBezTo>
                <a:lnTo>
                  <a:pt x="1695450" y="533398"/>
                </a:lnTo>
                <a:cubicBezTo>
                  <a:pt x="1695450" y="554441"/>
                  <a:pt x="1678391" y="571500"/>
                  <a:pt x="165734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016550" y="41338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0" name="Text 28"/>
          <p:cNvSpPr/>
          <p:nvPr/>
        </p:nvSpPr>
        <p:spPr>
          <a:xfrm>
            <a:off x="4332387" y="4362450"/>
            <a:ext cx="160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班级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85297" y="13620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75009" y="83046"/>
                </a:moveTo>
                <a:cubicBezTo>
                  <a:pt x="97187" y="83046"/>
                  <a:pt x="115193" y="65040"/>
                  <a:pt x="115193" y="42863"/>
                </a:cubicBezTo>
                <a:cubicBezTo>
                  <a:pt x="115193" y="20685"/>
                  <a:pt x="97187" y="2679"/>
                  <a:pt x="75009" y="2679"/>
                </a:cubicBezTo>
                <a:cubicBezTo>
                  <a:pt x="52831" y="2679"/>
                  <a:pt x="34826" y="20685"/>
                  <a:pt x="34826" y="42863"/>
                </a:cubicBezTo>
                <a:cubicBezTo>
                  <a:pt x="34826" y="65040"/>
                  <a:pt x="52831" y="83046"/>
                  <a:pt x="75009" y="83046"/>
                </a:cubicBezTo>
                <a:close/>
                <a:moveTo>
                  <a:pt x="65064" y="101798"/>
                </a:moveTo>
                <a:cubicBezTo>
                  <a:pt x="32080" y="101798"/>
                  <a:pt x="5358" y="128521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99521" y="171450"/>
                </a:lnTo>
                <a:cubicBezTo>
                  <a:pt x="87399" y="157185"/>
                  <a:pt x="80367" y="138801"/>
                  <a:pt x="80367" y="119345"/>
                </a:cubicBezTo>
                <a:lnTo>
                  <a:pt x="80367" y="108931"/>
                </a:lnTo>
                <a:cubicBezTo>
                  <a:pt x="80367" y="106487"/>
                  <a:pt x="80702" y="104076"/>
                  <a:pt x="81338" y="101798"/>
                </a:cubicBezTo>
                <a:lnTo>
                  <a:pt x="65064" y="101798"/>
                </a:lnTo>
                <a:close/>
                <a:moveTo>
                  <a:pt x="149115" y="163581"/>
                </a:moveTo>
                <a:lnTo>
                  <a:pt x="144661" y="165690"/>
                </a:lnTo>
                <a:lnTo>
                  <a:pt x="144661" y="102703"/>
                </a:lnTo>
                <a:lnTo>
                  <a:pt x="176808" y="113418"/>
                </a:lnTo>
                <a:lnTo>
                  <a:pt x="176808" y="119982"/>
                </a:lnTo>
                <a:cubicBezTo>
                  <a:pt x="176808" y="138667"/>
                  <a:pt x="166025" y="155644"/>
                  <a:pt x="149115" y="163614"/>
                </a:cubicBezTo>
                <a:close/>
                <a:moveTo>
                  <a:pt x="141279" y="86897"/>
                </a:moveTo>
                <a:lnTo>
                  <a:pt x="103774" y="99387"/>
                </a:lnTo>
                <a:cubicBezTo>
                  <a:pt x="99387" y="100861"/>
                  <a:pt x="96441" y="104946"/>
                  <a:pt x="96441" y="109567"/>
                </a:cubicBezTo>
                <a:lnTo>
                  <a:pt x="96441" y="119982"/>
                </a:lnTo>
                <a:cubicBezTo>
                  <a:pt x="96441" y="144895"/>
                  <a:pt x="110840" y="167566"/>
                  <a:pt x="133343" y="178147"/>
                </a:cubicBezTo>
                <a:lnTo>
                  <a:pt x="139538" y="181061"/>
                </a:lnTo>
                <a:cubicBezTo>
                  <a:pt x="141145" y="181797"/>
                  <a:pt x="142886" y="182199"/>
                  <a:pt x="144627" y="182199"/>
                </a:cubicBezTo>
                <a:cubicBezTo>
                  <a:pt x="146369" y="182199"/>
                  <a:pt x="148144" y="181797"/>
                  <a:pt x="149717" y="181061"/>
                </a:cubicBezTo>
                <a:lnTo>
                  <a:pt x="155912" y="178147"/>
                </a:lnTo>
                <a:cubicBezTo>
                  <a:pt x="178482" y="167532"/>
                  <a:pt x="192881" y="144862"/>
                  <a:pt x="192881" y="119948"/>
                </a:cubicBezTo>
                <a:lnTo>
                  <a:pt x="192881" y="109534"/>
                </a:lnTo>
                <a:cubicBezTo>
                  <a:pt x="192881" y="104913"/>
                  <a:pt x="189934" y="100827"/>
                  <a:pt x="185548" y="99354"/>
                </a:cubicBezTo>
                <a:lnTo>
                  <a:pt x="148043" y="86864"/>
                </a:lnTo>
                <a:cubicBezTo>
                  <a:pt x="145833" y="86127"/>
                  <a:pt x="143455" y="86127"/>
                  <a:pt x="141279" y="86864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2" name="Text 30"/>
          <p:cNvSpPr/>
          <p:nvPr/>
        </p:nvSpPr>
        <p:spPr>
          <a:xfrm>
            <a:off x="6391275" y="1314450"/>
            <a:ext cx="550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6AD5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管理员功能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2200" y="1676400"/>
            <a:ext cx="2781300" cy="628650"/>
          </a:xfrm>
          <a:custGeom>
            <a:avLst/>
            <a:gdLst/>
            <a:ahLst/>
            <a:cxnLst/>
            <a:rect l="l" t="t" r="r" b="b"/>
            <a:pathLst>
              <a:path w="2781300" h="628650">
                <a:moveTo>
                  <a:pt x="38100" y="0"/>
                </a:moveTo>
                <a:lnTo>
                  <a:pt x="2743200" y="0"/>
                </a:lnTo>
                <a:cubicBezTo>
                  <a:pt x="2764228" y="0"/>
                  <a:pt x="2781300" y="17072"/>
                  <a:pt x="2781300" y="38100"/>
                </a:cubicBezTo>
                <a:lnTo>
                  <a:pt x="2781300" y="590548"/>
                </a:lnTo>
                <a:cubicBezTo>
                  <a:pt x="2781300" y="611591"/>
                  <a:pt x="2764241" y="628650"/>
                  <a:pt x="2743198" y="628650"/>
                </a:cubicBezTo>
                <a:lnTo>
                  <a:pt x="38102" y="628650"/>
                </a:lnTo>
                <a:cubicBezTo>
                  <a:pt x="17059" y="628650"/>
                  <a:pt x="0" y="611591"/>
                  <a:pt x="0" y="59054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172200" y="1676400"/>
            <a:ext cx="2781300" cy="38100"/>
          </a:xfrm>
          <a:custGeom>
            <a:avLst/>
            <a:gdLst/>
            <a:ahLst/>
            <a:cxnLst/>
            <a:rect l="l" t="t" r="r" b="b"/>
            <a:pathLst>
              <a:path w="2781300" h="38100">
                <a:moveTo>
                  <a:pt x="38100" y="0"/>
                </a:moveTo>
                <a:lnTo>
                  <a:pt x="2743200" y="0"/>
                </a:lnTo>
                <a:cubicBezTo>
                  <a:pt x="2764228" y="0"/>
                  <a:pt x="2781300" y="17072"/>
                  <a:pt x="2781300" y="38100"/>
                </a:cubicBezTo>
                <a:lnTo>
                  <a:pt x="27813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5" name="Text 33"/>
          <p:cNvSpPr/>
          <p:nvPr/>
        </p:nvSpPr>
        <p:spPr>
          <a:xfrm>
            <a:off x="6248400" y="1771650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用户管理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48400" y="2038350"/>
            <a:ext cx="2695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账号CRUD，批量导入导出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29700" y="1676400"/>
            <a:ext cx="2781300" cy="628650"/>
          </a:xfrm>
          <a:custGeom>
            <a:avLst/>
            <a:gdLst/>
            <a:ahLst/>
            <a:cxnLst/>
            <a:rect l="l" t="t" r="r" b="b"/>
            <a:pathLst>
              <a:path w="2781300" h="628650">
                <a:moveTo>
                  <a:pt x="38100" y="0"/>
                </a:moveTo>
                <a:lnTo>
                  <a:pt x="2743200" y="0"/>
                </a:lnTo>
                <a:cubicBezTo>
                  <a:pt x="2764228" y="0"/>
                  <a:pt x="2781300" y="17072"/>
                  <a:pt x="2781300" y="38100"/>
                </a:cubicBezTo>
                <a:lnTo>
                  <a:pt x="2781300" y="590548"/>
                </a:lnTo>
                <a:cubicBezTo>
                  <a:pt x="2781300" y="611591"/>
                  <a:pt x="2764241" y="628650"/>
                  <a:pt x="2743198" y="628650"/>
                </a:cubicBezTo>
                <a:lnTo>
                  <a:pt x="38102" y="628650"/>
                </a:lnTo>
                <a:cubicBezTo>
                  <a:pt x="17059" y="628650"/>
                  <a:pt x="0" y="611591"/>
                  <a:pt x="0" y="59054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029700" y="1676400"/>
            <a:ext cx="2781300" cy="38100"/>
          </a:xfrm>
          <a:custGeom>
            <a:avLst/>
            <a:gdLst/>
            <a:ahLst/>
            <a:cxnLst/>
            <a:rect l="l" t="t" r="r" b="b"/>
            <a:pathLst>
              <a:path w="2781300" h="38100">
                <a:moveTo>
                  <a:pt x="38100" y="0"/>
                </a:moveTo>
                <a:lnTo>
                  <a:pt x="2743200" y="0"/>
                </a:lnTo>
                <a:cubicBezTo>
                  <a:pt x="2764228" y="0"/>
                  <a:pt x="2781300" y="17072"/>
                  <a:pt x="2781300" y="38100"/>
                </a:cubicBezTo>
                <a:lnTo>
                  <a:pt x="27813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9" name="Text 37"/>
          <p:cNvSpPr/>
          <p:nvPr/>
        </p:nvSpPr>
        <p:spPr>
          <a:xfrm>
            <a:off x="9105900" y="1771650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角色权限管理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05900" y="2038350"/>
            <a:ext cx="2695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角色配置、权限分配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2200" y="2400300"/>
            <a:ext cx="2781300" cy="628650"/>
          </a:xfrm>
          <a:custGeom>
            <a:avLst/>
            <a:gdLst/>
            <a:ahLst/>
            <a:cxnLst/>
            <a:rect l="l" t="t" r="r" b="b"/>
            <a:pathLst>
              <a:path w="2781300" h="628650">
                <a:moveTo>
                  <a:pt x="38100" y="0"/>
                </a:moveTo>
                <a:lnTo>
                  <a:pt x="2743200" y="0"/>
                </a:lnTo>
                <a:cubicBezTo>
                  <a:pt x="2764228" y="0"/>
                  <a:pt x="2781300" y="17072"/>
                  <a:pt x="2781300" y="38100"/>
                </a:cubicBezTo>
                <a:lnTo>
                  <a:pt x="2781300" y="590548"/>
                </a:lnTo>
                <a:cubicBezTo>
                  <a:pt x="2781300" y="611591"/>
                  <a:pt x="2764241" y="628650"/>
                  <a:pt x="2743198" y="628650"/>
                </a:cubicBezTo>
                <a:lnTo>
                  <a:pt x="38102" y="628650"/>
                </a:lnTo>
                <a:cubicBezTo>
                  <a:pt x="17059" y="628650"/>
                  <a:pt x="0" y="611591"/>
                  <a:pt x="0" y="59054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172200" y="2400300"/>
            <a:ext cx="2781300" cy="38100"/>
          </a:xfrm>
          <a:custGeom>
            <a:avLst/>
            <a:gdLst/>
            <a:ahLst/>
            <a:cxnLst/>
            <a:rect l="l" t="t" r="r" b="b"/>
            <a:pathLst>
              <a:path w="2781300" h="38100">
                <a:moveTo>
                  <a:pt x="38100" y="0"/>
                </a:moveTo>
                <a:lnTo>
                  <a:pt x="2743200" y="0"/>
                </a:lnTo>
                <a:cubicBezTo>
                  <a:pt x="2764228" y="0"/>
                  <a:pt x="2781300" y="17072"/>
                  <a:pt x="2781300" y="38100"/>
                </a:cubicBezTo>
                <a:lnTo>
                  <a:pt x="27813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3" name="Text 41"/>
          <p:cNvSpPr/>
          <p:nvPr/>
        </p:nvSpPr>
        <p:spPr>
          <a:xfrm>
            <a:off x="6248400" y="2495550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题目管理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248400" y="2762250"/>
            <a:ext cx="2695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题库维护、批量导入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029700" y="2400300"/>
            <a:ext cx="2781300" cy="628650"/>
          </a:xfrm>
          <a:custGeom>
            <a:avLst/>
            <a:gdLst/>
            <a:ahLst/>
            <a:cxnLst/>
            <a:rect l="l" t="t" r="r" b="b"/>
            <a:pathLst>
              <a:path w="2781300" h="628650">
                <a:moveTo>
                  <a:pt x="38100" y="0"/>
                </a:moveTo>
                <a:lnTo>
                  <a:pt x="2743200" y="0"/>
                </a:lnTo>
                <a:cubicBezTo>
                  <a:pt x="2764228" y="0"/>
                  <a:pt x="2781300" y="17072"/>
                  <a:pt x="2781300" y="38100"/>
                </a:cubicBezTo>
                <a:lnTo>
                  <a:pt x="2781300" y="590548"/>
                </a:lnTo>
                <a:cubicBezTo>
                  <a:pt x="2781300" y="611591"/>
                  <a:pt x="2764241" y="628650"/>
                  <a:pt x="2743198" y="628650"/>
                </a:cubicBezTo>
                <a:lnTo>
                  <a:pt x="38102" y="628650"/>
                </a:lnTo>
                <a:cubicBezTo>
                  <a:pt x="17059" y="628650"/>
                  <a:pt x="0" y="611591"/>
                  <a:pt x="0" y="59054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029700" y="2400300"/>
            <a:ext cx="2781300" cy="38100"/>
          </a:xfrm>
          <a:custGeom>
            <a:avLst/>
            <a:gdLst/>
            <a:ahLst/>
            <a:cxnLst/>
            <a:rect l="l" t="t" r="r" b="b"/>
            <a:pathLst>
              <a:path w="2781300" h="38100">
                <a:moveTo>
                  <a:pt x="38100" y="0"/>
                </a:moveTo>
                <a:lnTo>
                  <a:pt x="2743200" y="0"/>
                </a:lnTo>
                <a:cubicBezTo>
                  <a:pt x="2764228" y="0"/>
                  <a:pt x="2781300" y="17072"/>
                  <a:pt x="2781300" y="38100"/>
                </a:cubicBezTo>
                <a:lnTo>
                  <a:pt x="27813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7" name="Text 45"/>
          <p:cNvSpPr/>
          <p:nvPr/>
        </p:nvSpPr>
        <p:spPr>
          <a:xfrm>
            <a:off x="9105900" y="2495550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评测管理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105900" y="2762250"/>
            <a:ext cx="2695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评测资源调度、队列监控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72200" y="3124200"/>
            <a:ext cx="2781300" cy="628650"/>
          </a:xfrm>
          <a:custGeom>
            <a:avLst/>
            <a:gdLst/>
            <a:ahLst/>
            <a:cxnLst/>
            <a:rect l="l" t="t" r="r" b="b"/>
            <a:pathLst>
              <a:path w="2781300" h="628650">
                <a:moveTo>
                  <a:pt x="38100" y="0"/>
                </a:moveTo>
                <a:lnTo>
                  <a:pt x="2743200" y="0"/>
                </a:lnTo>
                <a:cubicBezTo>
                  <a:pt x="2764228" y="0"/>
                  <a:pt x="2781300" y="17072"/>
                  <a:pt x="2781300" y="38100"/>
                </a:cubicBezTo>
                <a:lnTo>
                  <a:pt x="2781300" y="590548"/>
                </a:lnTo>
                <a:cubicBezTo>
                  <a:pt x="2781300" y="611591"/>
                  <a:pt x="2764241" y="628650"/>
                  <a:pt x="2743198" y="628650"/>
                </a:cubicBezTo>
                <a:lnTo>
                  <a:pt x="38102" y="628650"/>
                </a:lnTo>
                <a:cubicBezTo>
                  <a:pt x="17059" y="628650"/>
                  <a:pt x="0" y="611591"/>
                  <a:pt x="0" y="59054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172200" y="3124200"/>
            <a:ext cx="2781300" cy="38100"/>
          </a:xfrm>
          <a:custGeom>
            <a:avLst/>
            <a:gdLst/>
            <a:ahLst/>
            <a:cxnLst/>
            <a:rect l="l" t="t" r="r" b="b"/>
            <a:pathLst>
              <a:path w="2781300" h="38100">
                <a:moveTo>
                  <a:pt x="38100" y="0"/>
                </a:moveTo>
                <a:lnTo>
                  <a:pt x="2743200" y="0"/>
                </a:lnTo>
                <a:cubicBezTo>
                  <a:pt x="2764228" y="0"/>
                  <a:pt x="2781300" y="17072"/>
                  <a:pt x="2781300" y="38100"/>
                </a:cubicBezTo>
                <a:lnTo>
                  <a:pt x="27813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1" name="Text 49"/>
          <p:cNvSpPr/>
          <p:nvPr/>
        </p:nvSpPr>
        <p:spPr>
          <a:xfrm>
            <a:off x="6248400" y="3219450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系统配置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248400" y="3486150"/>
            <a:ext cx="2695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参数设置、公告发布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029700" y="3124200"/>
            <a:ext cx="2781300" cy="628650"/>
          </a:xfrm>
          <a:custGeom>
            <a:avLst/>
            <a:gdLst/>
            <a:ahLst/>
            <a:cxnLst/>
            <a:rect l="l" t="t" r="r" b="b"/>
            <a:pathLst>
              <a:path w="2781300" h="628650">
                <a:moveTo>
                  <a:pt x="38100" y="0"/>
                </a:moveTo>
                <a:lnTo>
                  <a:pt x="2743200" y="0"/>
                </a:lnTo>
                <a:cubicBezTo>
                  <a:pt x="2764228" y="0"/>
                  <a:pt x="2781300" y="17072"/>
                  <a:pt x="2781300" y="38100"/>
                </a:cubicBezTo>
                <a:lnTo>
                  <a:pt x="2781300" y="590548"/>
                </a:lnTo>
                <a:cubicBezTo>
                  <a:pt x="2781300" y="611591"/>
                  <a:pt x="2764241" y="628650"/>
                  <a:pt x="2743198" y="628650"/>
                </a:cubicBezTo>
                <a:lnTo>
                  <a:pt x="38102" y="628650"/>
                </a:lnTo>
                <a:cubicBezTo>
                  <a:pt x="17059" y="628650"/>
                  <a:pt x="0" y="611591"/>
                  <a:pt x="0" y="59054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029700" y="3124200"/>
            <a:ext cx="2781300" cy="38100"/>
          </a:xfrm>
          <a:custGeom>
            <a:avLst/>
            <a:gdLst/>
            <a:ahLst/>
            <a:cxnLst/>
            <a:rect l="l" t="t" r="r" b="b"/>
            <a:pathLst>
              <a:path w="2781300" h="38100">
                <a:moveTo>
                  <a:pt x="38100" y="0"/>
                </a:moveTo>
                <a:lnTo>
                  <a:pt x="2743200" y="0"/>
                </a:lnTo>
                <a:cubicBezTo>
                  <a:pt x="2764228" y="0"/>
                  <a:pt x="2781300" y="17072"/>
                  <a:pt x="2781300" y="38100"/>
                </a:cubicBezTo>
                <a:lnTo>
                  <a:pt x="27813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5" name="Text 53"/>
          <p:cNvSpPr/>
          <p:nvPr/>
        </p:nvSpPr>
        <p:spPr>
          <a:xfrm>
            <a:off x="9105900" y="3219450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数据统计分析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105900" y="3486150"/>
            <a:ext cx="2695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多维度数据报表生成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85763" y="4748213"/>
            <a:ext cx="11420475" cy="1666875"/>
          </a:xfrm>
          <a:custGeom>
            <a:avLst/>
            <a:gdLst/>
            <a:ahLst/>
            <a:cxnLst/>
            <a:rect l="l" t="t" r="r" b="b"/>
            <a:pathLst>
              <a:path w="11420475" h="1666875">
                <a:moveTo>
                  <a:pt x="76193" y="0"/>
                </a:moveTo>
                <a:lnTo>
                  <a:pt x="11344282" y="0"/>
                </a:lnTo>
                <a:cubicBezTo>
                  <a:pt x="11386334" y="0"/>
                  <a:pt x="11420475" y="34141"/>
                  <a:pt x="11420475" y="76193"/>
                </a:cubicBezTo>
                <a:lnTo>
                  <a:pt x="11420475" y="1590682"/>
                </a:lnTo>
                <a:cubicBezTo>
                  <a:pt x="11420475" y="1632734"/>
                  <a:pt x="11386334" y="1666875"/>
                  <a:pt x="11344282" y="1666875"/>
                </a:cubicBezTo>
                <a:lnTo>
                  <a:pt x="76193" y="1666875"/>
                </a:lnTo>
                <a:cubicBezTo>
                  <a:pt x="34141" y="1666875"/>
                  <a:pt x="0" y="1632734"/>
                  <a:pt x="0" y="15906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F6AD55">
                  <a:alpha val="20000"/>
                </a:srgbClr>
              </a:gs>
            </a:gsLst>
            <a:lin ang="0" scaled="1"/>
          </a:gra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28638" y="49149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4294" y="21431"/>
                </a:moveTo>
                <a:cubicBezTo>
                  <a:pt x="64294" y="15504"/>
                  <a:pt x="69082" y="10716"/>
                  <a:pt x="75009" y="10716"/>
                </a:cubicBezTo>
                <a:lnTo>
                  <a:pt x="96441" y="10716"/>
                </a:lnTo>
                <a:cubicBezTo>
                  <a:pt x="102368" y="10716"/>
                  <a:pt x="107156" y="15504"/>
                  <a:pt x="107156" y="21431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93762" y="53578"/>
                </a:lnTo>
                <a:lnTo>
                  <a:pt x="93762" y="75009"/>
                </a:lnTo>
                <a:lnTo>
                  <a:pt x="133945" y="75009"/>
                </a:lnTo>
                <a:cubicBezTo>
                  <a:pt x="147273" y="75009"/>
                  <a:pt x="158055" y="85792"/>
                  <a:pt x="158055" y="99120"/>
                </a:cubicBezTo>
                <a:lnTo>
                  <a:pt x="158055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lnTo>
                  <a:pt x="139303" y="160734"/>
                </a:lnTo>
                <a:cubicBezTo>
                  <a:pt x="133376" y="160734"/>
                  <a:pt x="128588" y="155946"/>
                  <a:pt x="128588" y="150019"/>
                </a:cubicBezTo>
                <a:lnTo>
                  <a:pt x="128588" y="128588"/>
                </a:lnTo>
                <a:cubicBezTo>
                  <a:pt x="128588" y="122660"/>
                  <a:pt x="133376" y="117872"/>
                  <a:pt x="139303" y="117872"/>
                </a:cubicBezTo>
                <a:lnTo>
                  <a:pt x="141982" y="117872"/>
                </a:lnTo>
                <a:lnTo>
                  <a:pt x="141982" y="99120"/>
                </a:lnTo>
                <a:cubicBezTo>
                  <a:pt x="141982" y="94666"/>
                  <a:pt x="138399" y="91083"/>
                  <a:pt x="133945" y="91083"/>
                </a:cubicBezTo>
                <a:lnTo>
                  <a:pt x="93762" y="91083"/>
                </a:lnTo>
                <a:lnTo>
                  <a:pt x="93762" y="117872"/>
                </a:lnTo>
                <a:lnTo>
                  <a:pt x="96441" y="117872"/>
                </a:lnTo>
                <a:cubicBezTo>
                  <a:pt x="102368" y="117872"/>
                  <a:pt x="107156" y="122660"/>
                  <a:pt x="107156" y="128588"/>
                </a:cubicBezTo>
                <a:lnTo>
                  <a:pt x="107156" y="150019"/>
                </a:lnTo>
                <a:cubicBezTo>
                  <a:pt x="107156" y="155946"/>
                  <a:pt x="102368" y="160734"/>
                  <a:pt x="96441" y="160734"/>
                </a:cubicBezTo>
                <a:lnTo>
                  <a:pt x="75009" y="160734"/>
                </a:lnTo>
                <a:cubicBezTo>
                  <a:pt x="69082" y="160734"/>
                  <a:pt x="64294" y="155946"/>
                  <a:pt x="64294" y="150019"/>
                </a:cubicBezTo>
                <a:lnTo>
                  <a:pt x="64294" y="128588"/>
                </a:lnTo>
                <a:cubicBezTo>
                  <a:pt x="64294" y="122660"/>
                  <a:pt x="69082" y="117872"/>
                  <a:pt x="75009" y="117872"/>
                </a:cubicBezTo>
                <a:lnTo>
                  <a:pt x="77688" y="117872"/>
                </a:lnTo>
                <a:lnTo>
                  <a:pt x="77688" y="91083"/>
                </a:lnTo>
                <a:lnTo>
                  <a:pt x="37505" y="91083"/>
                </a:lnTo>
                <a:cubicBezTo>
                  <a:pt x="33051" y="91083"/>
                  <a:pt x="29468" y="94666"/>
                  <a:pt x="29468" y="99120"/>
                </a:cubicBezTo>
                <a:lnTo>
                  <a:pt x="29468" y="117872"/>
                </a:lnTo>
                <a:lnTo>
                  <a:pt x="32147" y="117872"/>
                </a:lnTo>
                <a:cubicBezTo>
                  <a:pt x="38074" y="117872"/>
                  <a:pt x="42863" y="122660"/>
                  <a:pt x="42863" y="128588"/>
                </a:cubicBezTo>
                <a:lnTo>
                  <a:pt x="42863" y="150019"/>
                </a:lnTo>
                <a:cubicBezTo>
                  <a:pt x="42863" y="155946"/>
                  <a:pt x="38074" y="160734"/>
                  <a:pt x="32147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28588"/>
                </a:lnTo>
                <a:cubicBezTo>
                  <a:pt x="0" y="122660"/>
                  <a:pt x="4789" y="117872"/>
                  <a:pt x="10716" y="117872"/>
                </a:cubicBezTo>
                <a:lnTo>
                  <a:pt x="13395" y="117872"/>
                </a:lnTo>
                <a:lnTo>
                  <a:pt x="13395" y="99120"/>
                </a:lnTo>
                <a:cubicBezTo>
                  <a:pt x="13395" y="85792"/>
                  <a:pt x="24177" y="75009"/>
                  <a:pt x="37505" y="75009"/>
                </a:cubicBezTo>
                <a:lnTo>
                  <a:pt x="77688" y="75009"/>
                </a:lnTo>
                <a:lnTo>
                  <a:pt x="77688" y="53578"/>
                </a:lnTo>
                <a:lnTo>
                  <a:pt x="75009" y="53578"/>
                </a:lnTo>
                <a:cubicBezTo>
                  <a:pt x="69082" y="53578"/>
                  <a:pt x="64294" y="48790"/>
                  <a:pt x="64294" y="42863"/>
                </a:cubicBezTo>
                <a:lnTo>
                  <a:pt x="64294" y="21431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9" name="Text 57"/>
          <p:cNvSpPr/>
          <p:nvPr/>
        </p:nvSpPr>
        <p:spPr>
          <a:xfrm>
            <a:off x="723900" y="4867275"/>
            <a:ext cx="1104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四角色权限体系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04825" y="5248275"/>
            <a:ext cx="2714625" cy="1047750"/>
          </a:xfrm>
          <a:custGeom>
            <a:avLst/>
            <a:gdLst/>
            <a:ahLst/>
            <a:cxnLst/>
            <a:rect l="l" t="t" r="r" b="b"/>
            <a:pathLst>
              <a:path w="2714625" h="1047750">
                <a:moveTo>
                  <a:pt x="38096" y="0"/>
                </a:moveTo>
                <a:lnTo>
                  <a:pt x="2676529" y="0"/>
                </a:lnTo>
                <a:cubicBezTo>
                  <a:pt x="2697569" y="0"/>
                  <a:pt x="2714625" y="17056"/>
                  <a:pt x="2714625" y="38096"/>
                </a:cubicBezTo>
                <a:lnTo>
                  <a:pt x="2714625" y="1009654"/>
                </a:lnTo>
                <a:cubicBezTo>
                  <a:pt x="2714625" y="1030694"/>
                  <a:pt x="2697569" y="1047750"/>
                  <a:pt x="2676529" y="1047750"/>
                </a:cubicBezTo>
                <a:lnTo>
                  <a:pt x="38096" y="1047750"/>
                </a:lnTo>
                <a:cubicBezTo>
                  <a:pt x="17056" y="1047750"/>
                  <a:pt x="0" y="1030694"/>
                  <a:pt x="0" y="100965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737122" y="536257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34671" y="-7255"/>
                </a:moveTo>
                <a:cubicBezTo>
                  <a:pt x="128308" y="-8539"/>
                  <a:pt x="121779" y="-8539"/>
                  <a:pt x="115416" y="-7255"/>
                </a:cubicBezTo>
                <a:lnTo>
                  <a:pt x="10771" y="13674"/>
                </a:lnTo>
                <a:cubicBezTo>
                  <a:pt x="4521" y="14901"/>
                  <a:pt x="0" y="20427"/>
                  <a:pt x="0" y="26789"/>
                </a:cubicBezTo>
                <a:cubicBezTo>
                  <a:pt x="0" y="32538"/>
                  <a:pt x="3628" y="37560"/>
                  <a:pt x="8930" y="39402"/>
                </a:cubicBezTo>
                <a:lnTo>
                  <a:pt x="8930" y="80367"/>
                </a:lnTo>
                <a:lnTo>
                  <a:pt x="167" y="124234"/>
                </a:lnTo>
                <a:cubicBezTo>
                  <a:pt x="56" y="124737"/>
                  <a:pt x="0" y="125295"/>
                  <a:pt x="0" y="125853"/>
                </a:cubicBezTo>
                <a:cubicBezTo>
                  <a:pt x="0" y="130318"/>
                  <a:pt x="3628" y="134001"/>
                  <a:pt x="8148" y="134001"/>
                </a:cubicBezTo>
                <a:lnTo>
                  <a:pt x="27626" y="134001"/>
                </a:lnTo>
                <a:cubicBezTo>
                  <a:pt x="32091" y="134001"/>
                  <a:pt x="35775" y="130373"/>
                  <a:pt x="35775" y="125853"/>
                </a:cubicBezTo>
                <a:cubicBezTo>
                  <a:pt x="35775" y="125295"/>
                  <a:pt x="35719" y="124792"/>
                  <a:pt x="35607" y="124234"/>
                </a:cubicBezTo>
                <a:lnTo>
                  <a:pt x="26789" y="80367"/>
                </a:lnTo>
                <a:lnTo>
                  <a:pt x="26789" y="43142"/>
                </a:lnTo>
                <a:lnTo>
                  <a:pt x="53578" y="48499"/>
                </a:lnTo>
                <a:lnTo>
                  <a:pt x="53578" y="80367"/>
                </a:lnTo>
                <a:cubicBezTo>
                  <a:pt x="53578" y="119825"/>
                  <a:pt x="85558" y="151805"/>
                  <a:pt x="125016" y="151805"/>
                </a:cubicBezTo>
                <a:cubicBezTo>
                  <a:pt x="164474" y="151805"/>
                  <a:pt x="196453" y="119825"/>
                  <a:pt x="196453" y="80367"/>
                </a:cubicBezTo>
                <a:lnTo>
                  <a:pt x="196453" y="48499"/>
                </a:lnTo>
                <a:lnTo>
                  <a:pt x="239260" y="39960"/>
                </a:lnTo>
                <a:cubicBezTo>
                  <a:pt x="245511" y="38677"/>
                  <a:pt x="250031" y="33151"/>
                  <a:pt x="250031" y="26789"/>
                </a:cubicBezTo>
                <a:cubicBezTo>
                  <a:pt x="250031" y="20427"/>
                  <a:pt x="245511" y="14901"/>
                  <a:pt x="239260" y="13674"/>
                </a:cubicBezTo>
                <a:lnTo>
                  <a:pt x="134671" y="-7255"/>
                </a:lnTo>
                <a:close/>
                <a:moveTo>
                  <a:pt x="125016" y="125016"/>
                </a:moveTo>
                <a:cubicBezTo>
                  <a:pt x="100347" y="125016"/>
                  <a:pt x="80367" y="105035"/>
                  <a:pt x="80367" y="80367"/>
                </a:cubicBezTo>
                <a:lnTo>
                  <a:pt x="169664" y="80367"/>
                </a:lnTo>
                <a:cubicBezTo>
                  <a:pt x="169664" y="105035"/>
                  <a:pt x="149684" y="125016"/>
                  <a:pt x="125016" y="125016"/>
                </a:cubicBezTo>
                <a:close/>
                <a:moveTo>
                  <a:pt x="67028" y="178650"/>
                </a:moveTo>
                <a:cubicBezTo>
                  <a:pt x="32761" y="194388"/>
                  <a:pt x="8930" y="228991"/>
                  <a:pt x="8930" y="269174"/>
                </a:cubicBezTo>
                <a:cubicBezTo>
                  <a:pt x="8930" y="278327"/>
                  <a:pt x="16352" y="285750"/>
                  <a:pt x="25505" y="285750"/>
                </a:cubicBezTo>
                <a:lnTo>
                  <a:pt x="111621" y="285750"/>
                </a:lnTo>
                <a:lnTo>
                  <a:pt x="111621" y="204267"/>
                </a:lnTo>
                <a:lnTo>
                  <a:pt x="79586" y="180268"/>
                </a:lnTo>
                <a:cubicBezTo>
                  <a:pt x="75958" y="177533"/>
                  <a:pt x="71103" y="176808"/>
                  <a:pt x="66973" y="178705"/>
                </a:cubicBezTo>
                <a:close/>
                <a:moveTo>
                  <a:pt x="138410" y="285750"/>
                </a:moveTo>
                <a:lnTo>
                  <a:pt x="224526" y="285750"/>
                </a:lnTo>
                <a:cubicBezTo>
                  <a:pt x="233679" y="285750"/>
                  <a:pt x="241102" y="278327"/>
                  <a:pt x="241102" y="269174"/>
                </a:cubicBezTo>
                <a:cubicBezTo>
                  <a:pt x="241102" y="228991"/>
                  <a:pt x="217270" y="194388"/>
                  <a:pt x="183003" y="178705"/>
                </a:cubicBezTo>
                <a:cubicBezTo>
                  <a:pt x="178873" y="176808"/>
                  <a:pt x="174017" y="177533"/>
                  <a:pt x="170390" y="180268"/>
                </a:cubicBezTo>
                <a:lnTo>
                  <a:pt x="138354" y="204267"/>
                </a:lnTo>
                <a:lnTo>
                  <a:pt x="138354" y="28575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2" name="Text 60"/>
          <p:cNvSpPr/>
          <p:nvPr/>
        </p:nvSpPr>
        <p:spPr>
          <a:xfrm>
            <a:off x="581025" y="5724525"/>
            <a:ext cx="2562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学员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85788" y="5991225"/>
            <a:ext cx="2552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刷题、提交、参与训练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328988" y="5248275"/>
            <a:ext cx="2714625" cy="1047750"/>
          </a:xfrm>
          <a:custGeom>
            <a:avLst/>
            <a:gdLst/>
            <a:ahLst/>
            <a:cxnLst/>
            <a:rect l="l" t="t" r="r" b="b"/>
            <a:pathLst>
              <a:path w="2714625" h="1047750">
                <a:moveTo>
                  <a:pt x="38096" y="0"/>
                </a:moveTo>
                <a:lnTo>
                  <a:pt x="2676529" y="0"/>
                </a:lnTo>
                <a:cubicBezTo>
                  <a:pt x="2697569" y="0"/>
                  <a:pt x="2714625" y="17056"/>
                  <a:pt x="2714625" y="38096"/>
                </a:cubicBezTo>
                <a:lnTo>
                  <a:pt x="2714625" y="1009654"/>
                </a:lnTo>
                <a:cubicBezTo>
                  <a:pt x="2714625" y="1030694"/>
                  <a:pt x="2697569" y="1047750"/>
                  <a:pt x="2676529" y="1047750"/>
                </a:cubicBezTo>
                <a:lnTo>
                  <a:pt x="38096" y="1047750"/>
                </a:lnTo>
                <a:cubicBezTo>
                  <a:pt x="17056" y="1047750"/>
                  <a:pt x="0" y="1030694"/>
                  <a:pt x="0" y="100965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4507706" y="536257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71438" y="53578"/>
                </a:moveTo>
                <a:cubicBezTo>
                  <a:pt x="71438" y="33877"/>
                  <a:pt x="87455" y="17859"/>
                  <a:pt x="107156" y="17859"/>
                </a:cubicBezTo>
                <a:lnTo>
                  <a:pt x="303609" y="17859"/>
                </a:lnTo>
                <a:cubicBezTo>
                  <a:pt x="323310" y="17859"/>
                  <a:pt x="339328" y="33877"/>
                  <a:pt x="339328" y="53578"/>
                </a:cubicBezTo>
                <a:lnTo>
                  <a:pt x="339328" y="187523"/>
                </a:lnTo>
                <a:lnTo>
                  <a:pt x="285750" y="187523"/>
                </a:lnTo>
                <a:lnTo>
                  <a:pt x="285750" y="178594"/>
                </a:lnTo>
                <a:cubicBezTo>
                  <a:pt x="285750" y="168715"/>
                  <a:pt x="277769" y="160734"/>
                  <a:pt x="267891" y="160734"/>
                </a:cubicBezTo>
                <a:lnTo>
                  <a:pt x="232172" y="160734"/>
                </a:lnTo>
                <a:cubicBezTo>
                  <a:pt x="222293" y="160734"/>
                  <a:pt x="214313" y="168715"/>
                  <a:pt x="214313" y="178594"/>
                </a:cubicBezTo>
                <a:lnTo>
                  <a:pt x="214313" y="187523"/>
                </a:lnTo>
                <a:lnTo>
                  <a:pt x="142261" y="187523"/>
                </a:lnTo>
                <a:cubicBezTo>
                  <a:pt x="148344" y="177031"/>
                  <a:pt x="151805" y="164809"/>
                  <a:pt x="151805" y="151805"/>
                </a:cubicBezTo>
                <a:cubicBezTo>
                  <a:pt x="151805" y="112347"/>
                  <a:pt x="119825" y="80367"/>
                  <a:pt x="80367" y="80367"/>
                </a:cubicBezTo>
                <a:cubicBezTo>
                  <a:pt x="77353" y="80367"/>
                  <a:pt x="74340" y="80535"/>
                  <a:pt x="71438" y="80925"/>
                </a:cubicBezTo>
                <a:lnTo>
                  <a:pt x="71438" y="53578"/>
                </a:lnTo>
                <a:close/>
                <a:moveTo>
                  <a:pt x="185849" y="250031"/>
                </a:moveTo>
                <a:cubicBezTo>
                  <a:pt x="183003" y="236525"/>
                  <a:pt x="176752" y="224303"/>
                  <a:pt x="167934" y="214313"/>
                </a:cubicBezTo>
                <a:lnTo>
                  <a:pt x="339328" y="214313"/>
                </a:lnTo>
                <a:cubicBezTo>
                  <a:pt x="339328" y="234014"/>
                  <a:pt x="323310" y="250031"/>
                  <a:pt x="303609" y="250031"/>
                </a:cubicBezTo>
                <a:lnTo>
                  <a:pt x="185849" y="250031"/>
                </a:lnTo>
                <a:close/>
                <a:moveTo>
                  <a:pt x="35719" y="151805"/>
                </a:moveTo>
                <a:cubicBezTo>
                  <a:pt x="35719" y="127163"/>
                  <a:pt x="55725" y="107156"/>
                  <a:pt x="80367" y="107156"/>
                </a:cubicBezTo>
                <a:cubicBezTo>
                  <a:pt x="105009" y="107156"/>
                  <a:pt x="125016" y="127163"/>
                  <a:pt x="125016" y="151805"/>
                </a:cubicBezTo>
                <a:cubicBezTo>
                  <a:pt x="125016" y="176447"/>
                  <a:pt x="105009" y="196453"/>
                  <a:pt x="80367" y="196453"/>
                </a:cubicBezTo>
                <a:cubicBezTo>
                  <a:pt x="55725" y="196453"/>
                  <a:pt x="35719" y="176447"/>
                  <a:pt x="35719" y="151805"/>
                </a:cubicBezTo>
                <a:close/>
                <a:moveTo>
                  <a:pt x="0" y="267891"/>
                </a:moveTo>
                <a:cubicBezTo>
                  <a:pt x="0" y="238311"/>
                  <a:pt x="23999" y="214313"/>
                  <a:pt x="53578" y="214313"/>
                </a:cubicBezTo>
                <a:lnTo>
                  <a:pt x="107156" y="214313"/>
                </a:lnTo>
                <a:cubicBezTo>
                  <a:pt x="136736" y="214313"/>
                  <a:pt x="160734" y="238311"/>
                  <a:pt x="160734" y="267891"/>
                </a:cubicBezTo>
                <a:cubicBezTo>
                  <a:pt x="160734" y="277769"/>
                  <a:pt x="152753" y="285750"/>
                  <a:pt x="142875" y="285750"/>
                </a:cubicBezTo>
                <a:lnTo>
                  <a:pt x="17859" y="285750"/>
                </a:lnTo>
                <a:cubicBezTo>
                  <a:pt x="7981" y="285750"/>
                  <a:pt x="0" y="277769"/>
                  <a:pt x="0" y="267891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66" name="Text 64"/>
          <p:cNvSpPr/>
          <p:nvPr/>
        </p:nvSpPr>
        <p:spPr>
          <a:xfrm>
            <a:off x="3405188" y="5724525"/>
            <a:ext cx="2562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教师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3409950" y="5991225"/>
            <a:ext cx="2552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班级管理、发布训练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153150" y="5248275"/>
            <a:ext cx="2714625" cy="1047750"/>
          </a:xfrm>
          <a:custGeom>
            <a:avLst/>
            <a:gdLst/>
            <a:ahLst/>
            <a:cxnLst/>
            <a:rect l="l" t="t" r="r" b="b"/>
            <a:pathLst>
              <a:path w="2714625" h="1047750">
                <a:moveTo>
                  <a:pt x="38096" y="0"/>
                </a:moveTo>
                <a:lnTo>
                  <a:pt x="2676529" y="0"/>
                </a:lnTo>
                <a:cubicBezTo>
                  <a:pt x="2697569" y="0"/>
                  <a:pt x="2714625" y="17056"/>
                  <a:pt x="2714625" y="38096"/>
                </a:cubicBezTo>
                <a:lnTo>
                  <a:pt x="2714625" y="1009654"/>
                </a:lnTo>
                <a:cubicBezTo>
                  <a:pt x="2714625" y="1030694"/>
                  <a:pt x="2697569" y="1047750"/>
                  <a:pt x="2676529" y="1047750"/>
                </a:cubicBezTo>
                <a:lnTo>
                  <a:pt x="38096" y="1047750"/>
                </a:lnTo>
                <a:cubicBezTo>
                  <a:pt x="17056" y="1047750"/>
                  <a:pt x="0" y="1030694"/>
                  <a:pt x="0" y="100965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7349728" y="53625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0" y="107156"/>
                </a:moveTo>
                <a:cubicBezTo>
                  <a:pt x="0" y="87455"/>
                  <a:pt x="16018" y="71438"/>
                  <a:pt x="35719" y="71438"/>
                </a:cubicBezTo>
                <a:lnTo>
                  <a:pt x="71438" y="71438"/>
                </a:lnTo>
                <a:lnTo>
                  <a:pt x="142819" y="7200"/>
                </a:lnTo>
                <a:cubicBezTo>
                  <a:pt x="153033" y="-1953"/>
                  <a:pt x="168492" y="-1953"/>
                  <a:pt x="178650" y="7200"/>
                </a:cubicBezTo>
                <a:lnTo>
                  <a:pt x="250031" y="71438"/>
                </a:lnTo>
                <a:lnTo>
                  <a:pt x="285750" y="71438"/>
                </a:lnTo>
                <a:cubicBezTo>
                  <a:pt x="305451" y="71438"/>
                  <a:pt x="321469" y="87455"/>
                  <a:pt x="321469" y="107156"/>
                </a:cubicBezTo>
                <a:lnTo>
                  <a:pt x="321469" y="250031"/>
                </a:lnTo>
                <a:cubicBezTo>
                  <a:pt x="321469" y="269732"/>
                  <a:pt x="305451" y="285750"/>
                  <a:pt x="285750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107156"/>
                </a:lnTo>
                <a:close/>
                <a:moveTo>
                  <a:pt x="125016" y="209848"/>
                </a:moveTo>
                <a:lnTo>
                  <a:pt x="125016" y="258961"/>
                </a:lnTo>
                <a:lnTo>
                  <a:pt x="196453" y="258961"/>
                </a:lnTo>
                <a:lnTo>
                  <a:pt x="196453" y="209848"/>
                </a:lnTo>
                <a:cubicBezTo>
                  <a:pt x="196453" y="197514"/>
                  <a:pt x="186463" y="187523"/>
                  <a:pt x="174129" y="187523"/>
                </a:cubicBezTo>
                <a:lnTo>
                  <a:pt x="147340" y="187523"/>
                </a:lnTo>
                <a:cubicBezTo>
                  <a:pt x="135006" y="187523"/>
                  <a:pt x="125016" y="197514"/>
                  <a:pt x="125016" y="209848"/>
                </a:cubicBezTo>
                <a:close/>
                <a:moveTo>
                  <a:pt x="62508" y="214313"/>
                </a:moveTo>
                <a:cubicBezTo>
                  <a:pt x="67419" y="214313"/>
                  <a:pt x="71438" y="210294"/>
                  <a:pt x="71438" y="205383"/>
                </a:cubicBezTo>
                <a:lnTo>
                  <a:pt x="71438" y="187523"/>
                </a:lnTo>
                <a:cubicBezTo>
                  <a:pt x="71438" y="182612"/>
                  <a:pt x="67419" y="178594"/>
                  <a:pt x="62508" y="178594"/>
                </a:cubicBezTo>
                <a:lnTo>
                  <a:pt x="44648" y="178594"/>
                </a:lnTo>
                <a:cubicBezTo>
                  <a:pt x="39737" y="178594"/>
                  <a:pt x="35719" y="182612"/>
                  <a:pt x="35719" y="187523"/>
                </a:cubicBezTo>
                <a:lnTo>
                  <a:pt x="35719" y="205383"/>
                </a:lnTo>
                <a:cubicBezTo>
                  <a:pt x="35719" y="210294"/>
                  <a:pt x="39737" y="214313"/>
                  <a:pt x="44648" y="214313"/>
                </a:cubicBezTo>
                <a:lnTo>
                  <a:pt x="62508" y="214313"/>
                </a:lnTo>
                <a:close/>
                <a:moveTo>
                  <a:pt x="71438" y="133945"/>
                </a:moveTo>
                <a:lnTo>
                  <a:pt x="71438" y="116086"/>
                </a:lnTo>
                <a:cubicBezTo>
                  <a:pt x="71438" y="111175"/>
                  <a:pt x="67419" y="107156"/>
                  <a:pt x="62508" y="107156"/>
                </a:cubicBezTo>
                <a:lnTo>
                  <a:pt x="44648" y="107156"/>
                </a:lnTo>
                <a:cubicBezTo>
                  <a:pt x="39737" y="107156"/>
                  <a:pt x="35719" y="111175"/>
                  <a:pt x="35719" y="116086"/>
                </a:cubicBezTo>
                <a:lnTo>
                  <a:pt x="35719" y="133945"/>
                </a:lnTo>
                <a:cubicBezTo>
                  <a:pt x="35719" y="138857"/>
                  <a:pt x="39737" y="142875"/>
                  <a:pt x="44648" y="142875"/>
                </a:cubicBezTo>
                <a:lnTo>
                  <a:pt x="62508" y="142875"/>
                </a:lnTo>
                <a:cubicBezTo>
                  <a:pt x="67419" y="142875"/>
                  <a:pt x="71438" y="138857"/>
                  <a:pt x="71438" y="133945"/>
                </a:cubicBezTo>
                <a:close/>
                <a:moveTo>
                  <a:pt x="276820" y="214313"/>
                </a:moveTo>
                <a:cubicBezTo>
                  <a:pt x="281732" y="214313"/>
                  <a:pt x="285750" y="210294"/>
                  <a:pt x="285750" y="205383"/>
                </a:cubicBezTo>
                <a:lnTo>
                  <a:pt x="285750" y="187523"/>
                </a:lnTo>
                <a:cubicBezTo>
                  <a:pt x="285750" y="182612"/>
                  <a:pt x="281732" y="178594"/>
                  <a:pt x="276820" y="178594"/>
                </a:cubicBezTo>
                <a:lnTo>
                  <a:pt x="258961" y="178594"/>
                </a:lnTo>
                <a:cubicBezTo>
                  <a:pt x="254050" y="178594"/>
                  <a:pt x="250031" y="182612"/>
                  <a:pt x="250031" y="187523"/>
                </a:cubicBezTo>
                <a:lnTo>
                  <a:pt x="250031" y="205383"/>
                </a:lnTo>
                <a:cubicBezTo>
                  <a:pt x="250031" y="210294"/>
                  <a:pt x="254050" y="214313"/>
                  <a:pt x="258961" y="214313"/>
                </a:cubicBezTo>
                <a:lnTo>
                  <a:pt x="276820" y="214313"/>
                </a:lnTo>
                <a:close/>
                <a:moveTo>
                  <a:pt x="285750" y="133945"/>
                </a:moveTo>
                <a:lnTo>
                  <a:pt x="285750" y="116086"/>
                </a:lnTo>
                <a:cubicBezTo>
                  <a:pt x="285750" y="111175"/>
                  <a:pt x="281732" y="107156"/>
                  <a:pt x="276820" y="107156"/>
                </a:cubicBezTo>
                <a:lnTo>
                  <a:pt x="258961" y="107156"/>
                </a:lnTo>
                <a:cubicBezTo>
                  <a:pt x="254050" y="107156"/>
                  <a:pt x="250031" y="111175"/>
                  <a:pt x="250031" y="116086"/>
                </a:cubicBezTo>
                <a:lnTo>
                  <a:pt x="250031" y="133945"/>
                </a:lnTo>
                <a:cubicBezTo>
                  <a:pt x="250031" y="138857"/>
                  <a:pt x="254050" y="142875"/>
                  <a:pt x="258961" y="142875"/>
                </a:cubicBezTo>
                <a:lnTo>
                  <a:pt x="276820" y="142875"/>
                </a:lnTo>
                <a:cubicBezTo>
                  <a:pt x="281732" y="142875"/>
                  <a:pt x="285750" y="138857"/>
                  <a:pt x="285750" y="133945"/>
                </a:cubicBezTo>
                <a:close/>
                <a:moveTo>
                  <a:pt x="160734" y="142875"/>
                </a:moveTo>
                <a:cubicBezTo>
                  <a:pt x="180448" y="142875"/>
                  <a:pt x="196453" y="126870"/>
                  <a:pt x="196453" y="107156"/>
                </a:cubicBezTo>
                <a:cubicBezTo>
                  <a:pt x="196453" y="87443"/>
                  <a:pt x="180448" y="71438"/>
                  <a:pt x="160734" y="71438"/>
                </a:cubicBezTo>
                <a:cubicBezTo>
                  <a:pt x="141021" y="71438"/>
                  <a:pt x="125016" y="87443"/>
                  <a:pt x="125016" y="107156"/>
                </a:cubicBezTo>
                <a:cubicBezTo>
                  <a:pt x="125016" y="126870"/>
                  <a:pt x="141021" y="142875"/>
                  <a:pt x="160734" y="142875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0" name="Text 68"/>
          <p:cNvSpPr/>
          <p:nvPr/>
        </p:nvSpPr>
        <p:spPr>
          <a:xfrm>
            <a:off x="6229350" y="5724525"/>
            <a:ext cx="2562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校方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234113" y="5991225"/>
            <a:ext cx="2552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组织架构、数据看板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977313" y="5248275"/>
            <a:ext cx="2714625" cy="1047750"/>
          </a:xfrm>
          <a:custGeom>
            <a:avLst/>
            <a:gdLst/>
            <a:ahLst/>
            <a:cxnLst/>
            <a:rect l="l" t="t" r="r" b="b"/>
            <a:pathLst>
              <a:path w="2714625" h="1047750">
                <a:moveTo>
                  <a:pt x="38096" y="0"/>
                </a:moveTo>
                <a:lnTo>
                  <a:pt x="2676529" y="0"/>
                </a:lnTo>
                <a:cubicBezTo>
                  <a:pt x="2697569" y="0"/>
                  <a:pt x="2714625" y="17056"/>
                  <a:pt x="2714625" y="38096"/>
                </a:cubicBezTo>
                <a:lnTo>
                  <a:pt x="2714625" y="1009654"/>
                </a:lnTo>
                <a:cubicBezTo>
                  <a:pt x="2714625" y="1030694"/>
                  <a:pt x="2697569" y="1047750"/>
                  <a:pt x="2676529" y="1047750"/>
                </a:cubicBezTo>
                <a:lnTo>
                  <a:pt x="38096" y="1047750"/>
                </a:lnTo>
                <a:cubicBezTo>
                  <a:pt x="17056" y="1047750"/>
                  <a:pt x="0" y="1030694"/>
                  <a:pt x="0" y="100965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0173891" y="53625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25016" y="138410"/>
                </a:moveTo>
                <a:cubicBezTo>
                  <a:pt x="161979" y="138410"/>
                  <a:pt x="191988" y="108401"/>
                  <a:pt x="191988" y="71438"/>
                </a:cubicBezTo>
                <a:cubicBezTo>
                  <a:pt x="191988" y="34474"/>
                  <a:pt x="161979" y="4465"/>
                  <a:pt x="125016" y="4465"/>
                </a:cubicBezTo>
                <a:cubicBezTo>
                  <a:pt x="88052" y="4465"/>
                  <a:pt x="58043" y="34474"/>
                  <a:pt x="58043" y="71438"/>
                </a:cubicBezTo>
                <a:cubicBezTo>
                  <a:pt x="58043" y="108401"/>
                  <a:pt x="88052" y="138410"/>
                  <a:pt x="125016" y="138410"/>
                </a:cubicBezTo>
                <a:close/>
                <a:moveTo>
                  <a:pt x="108440" y="169664"/>
                </a:moveTo>
                <a:cubicBezTo>
                  <a:pt x="53467" y="169664"/>
                  <a:pt x="8930" y="214201"/>
                  <a:pt x="8930" y="269174"/>
                </a:cubicBezTo>
                <a:cubicBezTo>
                  <a:pt x="8930" y="278327"/>
                  <a:pt x="16352" y="285750"/>
                  <a:pt x="25505" y="285750"/>
                </a:cubicBezTo>
                <a:lnTo>
                  <a:pt x="165869" y="285750"/>
                </a:lnTo>
                <a:cubicBezTo>
                  <a:pt x="145666" y="261975"/>
                  <a:pt x="133945" y="231335"/>
                  <a:pt x="133945" y="198909"/>
                </a:cubicBezTo>
                <a:lnTo>
                  <a:pt x="133945" y="181552"/>
                </a:lnTo>
                <a:cubicBezTo>
                  <a:pt x="133945" y="177478"/>
                  <a:pt x="134503" y="173459"/>
                  <a:pt x="135564" y="169664"/>
                </a:cubicBezTo>
                <a:lnTo>
                  <a:pt x="108440" y="169664"/>
                </a:lnTo>
                <a:close/>
                <a:moveTo>
                  <a:pt x="248524" y="272635"/>
                </a:moveTo>
                <a:lnTo>
                  <a:pt x="241102" y="276151"/>
                </a:lnTo>
                <a:lnTo>
                  <a:pt x="241102" y="171171"/>
                </a:lnTo>
                <a:lnTo>
                  <a:pt x="294680" y="189030"/>
                </a:lnTo>
                <a:lnTo>
                  <a:pt x="294680" y="199969"/>
                </a:lnTo>
                <a:cubicBezTo>
                  <a:pt x="294680" y="231111"/>
                  <a:pt x="276709" y="259407"/>
                  <a:pt x="248524" y="272690"/>
                </a:cubicBezTo>
                <a:close/>
                <a:moveTo>
                  <a:pt x="235465" y="144828"/>
                </a:moveTo>
                <a:lnTo>
                  <a:pt x="172957" y="165646"/>
                </a:lnTo>
                <a:cubicBezTo>
                  <a:pt x="165646" y="168101"/>
                  <a:pt x="160734" y="174910"/>
                  <a:pt x="160734" y="182612"/>
                </a:cubicBezTo>
                <a:lnTo>
                  <a:pt x="160734" y="199969"/>
                </a:lnTo>
                <a:cubicBezTo>
                  <a:pt x="160734" y="241492"/>
                  <a:pt x="184733" y="279276"/>
                  <a:pt x="222238" y="296912"/>
                </a:cubicBezTo>
                <a:lnTo>
                  <a:pt x="232563" y="301768"/>
                </a:lnTo>
                <a:cubicBezTo>
                  <a:pt x="235241" y="302995"/>
                  <a:pt x="238144" y="303665"/>
                  <a:pt x="241046" y="303665"/>
                </a:cubicBezTo>
                <a:cubicBezTo>
                  <a:pt x="243948" y="303665"/>
                  <a:pt x="246906" y="302995"/>
                  <a:pt x="249529" y="301768"/>
                </a:cubicBezTo>
                <a:lnTo>
                  <a:pt x="259854" y="296912"/>
                </a:lnTo>
                <a:cubicBezTo>
                  <a:pt x="297470" y="279220"/>
                  <a:pt x="321469" y="241436"/>
                  <a:pt x="321469" y="199913"/>
                </a:cubicBezTo>
                <a:lnTo>
                  <a:pt x="321469" y="182556"/>
                </a:lnTo>
                <a:cubicBezTo>
                  <a:pt x="321469" y="174854"/>
                  <a:pt x="316557" y="168046"/>
                  <a:pt x="309246" y="165590"/>
                </a:cubicBezTo>
                <a:lnTo>
                  <a:pt x="246738" y="144773"/>
                </a:lnTo>
                <a:cubicBezTo>
                  <a:pt x="243055" y="143545"/>
                  <a:pt x="239092" y="143545"/>
                  <a:pt x="235465" y="144773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74" name="Text 72"/>
          <p:cNvSpPr/>
          <p:nvPr/>
        </p:nvSpPr>
        <p:spPr>
          <a:xfrm>
            <a:off x="9053513" y="5724525"/>
            <a:ext cx="2562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管理员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9058275" y="5991225"/>
            <a:ext cx="2552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系统运维、资源管理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1028700" cy="314325"/>
          </a:xfrm>
          <a:custGeom>
            <a:avLst/>
            <a:gdLst/>
            <a:ahLst/>
            <a:cxnLst/>
            <a:rect l="l" t="t" r="r" b="b"/>
            <a:pathLst>
              <a:path w="1028700" h="314325">
                <a:moveTo>
                  <a:pt x="38099" y="0"/>
                </a:moveTo>
                <a:lnTo>
                  <a:pt x="990601" y="0"/>
                </a:lnTo>
                <a:cubicBezTo>
                  <a:pt x="1011642" y="0"/>
                  <a:pt x="1028700" y="17058"/>
                  <a:pt x="1028700" y="38099"/>
                </a:cubicBezTo>
                <a:lnTo>
                  <a:pt x="1028700" y="276226"/>
                </a:lnTo>
                <a:cubicBezTo>
                  <a:pt x="1028700" y="297267"/>
                  <a:pt x="1011642" y="314325"/>
                  <a:pt x="990601" y="314325"/>
                </a:cubicBezTo>
                <a:lnTo>
                  <a:pt x="38099" y="314325"/>
                </a:lnTo>
                <a:cubicBezTo>
                  <a:pt x="17058" y="314325"/>
                  <a:pt x="0" y="297267"/>
                  <a:pt x="0" y="2762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4825" y="466725"/>
            <a:ext cx="8591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810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技术方案与系统架构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5528" y="13620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" name="Text 4"/>
          <p:cNvSpPr/>
          <p:nvPr/>
        </p:nvSpPr>
        <p:spPr>
          <a:xfrm>
            <a:off x="600075" y="1314450"/>
            <a:ext cx="550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后端技术栈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657350"/>
            <a:ext cx="5619750" cy="571500"/>
          </a:xfrm>
          <a:custGeom>
            <a:avLst/>
            <a:gdLst/>
            <a:ahLst/>
            <a:cxnLst/>
            <a:rect l="l" t="t" r="r" b="b"/>
            <a:pathLst>
              <a:path w="5619750" h="571500">
                <a:moveTo>
                  <a:pt x="38100" y="0"/>
                </a:moveTo>
                <a:lnTo>
                  <a:pt x="5581648" y="0"/>
                </a:lnTo>
                <a:cubicBezTo>
                  <a:pt x="5602691" y="0"/>
                  <a:pt x="5619750" y="17059"/>
                  <a:pt x="5619750" y="38102"/>
                </a:cubicBezTo>
                <a:lnTo>
                  <a:pt x="5619750" y="533398"/>
                </a:lnTo>
                <a:cubicBezTo>
                  <a:pt x="5619750" y="554441"/>
                  <a:pt x="5602691" y="571500"/>
                  <a:pt x="5581648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00050" y="16573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9" name="Text 7"/>
          <p:cNvSpPr/>
          <p:nvPr/>
        </p:nvSpPr>
        <p:spPr>
          <a:xfrm>
            <a:off x="495300" y="1733550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Spring Boot 4.0.0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34000" y="1733550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1" y="0"/>
                </a:moveTo>
                <a:lnTo>
                  <a:pt x="571499" y="0"/>
                </a:lnTo>
                <a:cubicBezTo>
                  <a:pt x="592542" y="0"/>
                  <a:pt x="609600" y="17058"/>
                  <a:pt x="609600" y="38101"/>
                </a:cubicBezTo>
                <a:lnTo>
                  <a:pt x="609600" y="190499"/>
                </a:lnTo>
                <a:cubicBezTo>
                  <a:pt x="609600" y="211542"/>
                  <a:pt x="592542" y="228600"/>
                  <a:pt x="571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34000" y="1733550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核心框架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5300" y="196215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提供依赖注入、AOP、事务管理等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2305050"/>
            <a:ext cx="5619750" cy="571500"/>
          </a:xfrm>
          <a:custGeom>
            <a:avLst/>
            <a:gdLst/>
            <a:ahLst/>
            <a:cxnLst/>
            <a:rect l="l" t="t" r="r" b="b"/>
            <a:pathLst>
              <a:path w="5619750" h="571500">
                <a:moveTo>
                  <a:pt x="38100" y="0"/>
                </a:moveTo>
                <a:lnTo>
                  <a:pt x="5581648" y="0"/>
                </a:lnTo>
                <a:cubicBezTo>
                  <a:pt x="5602691" y="0"/>
                  <a:pt x="5619750" y="17059"/>
                  <a:pt x="5619750" y="38102"/>
                </a:cubicBezTo>
                <a:lnTo>
                  <a:pt x="5619750" y="533398"/>
                </a:lnTo>
                <a:cubicBezTo>
                  <a:pt x="5619750" y="554441"/>
                  <a:pt x="5602691" y="571500"/>
                  <a:pt x="5581648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0050" y="23050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5" name="Text 13"/>
          <p:cNvSpPr/>
          <p:nvPr/>
        </p:nvSpPr>
        <p:spPr>
          <a:xfrm>
            <a:off x="495300" y="2381250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MyBatis-Plus + MySQL 8.x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48300" y="2381250"/>
            <a:ext cx="495300" cy="228600"/>
          </a:xfrm>
          <a:custGeom>
            <a:avLst/>
            <a:gdLst/>
            <a:ahLst/>
            <a:cxnLst/>
            <a:rect l="l" t="t" r="r" b="b"/>
            <a:pathLst>
              <a:path w="495300" h="228600">
                <a:moveTo>
                  <a:pt x="38101" y="0"/>
                </a:moveTo>
                <a:lnTo>
                  <a:pt x="457199" y="0"/>
                </a:lnTo>
                <a:cubicBezTo>
                  <a:pt x="478242" y="0"/>
                  <a:pt x="495300" y="17058"/>
                  <a:pt x="495300" y="38101"/>
                </a:cubicBezTo>
                <a:lnTo>
                  <a:pt x="495300" y="190499"/>
                </a:lnTo>
                <a:cubicBezTo>
                  <a:pt x="495300" y="211542"/>
                  <a:pt x="478242" y="228600"/>
                  <a:pt x="4571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48300" y="2381250"/>
            <a:ext cx="5524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5300" y="260985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ORM框架，简化CRUD操作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2952750"/>
            <a:ext cx="5619750" cy="571500"/>
          </a:xfrm>
          <a:custGeom>
            <a:avLst/>
            <a:gdLst/>
            <a:ahLst/>
            <a:cxnLst/>
            <a:rect l="l" t="t" r="r" b="b"/>
            <a:pathLst>
              <a:path w="5619750" h="571500">
                <a:moveTo>
                  <a:pt x="38100" y="0"/>
                </a:moveTo>
                <a:lnTo>
                  <a:pt x="5581648" y="0"/>
                </a:lnTo>
                <a:cubicBezTo>
                  <a:pt x="5602691" y="0"/>
                  <a:pt x="5619750" y="17059"/>
                  <a:pt x="5619750" y="38102"/>
                </a:cubicBezTo>
                <a:lnTo>
                  <a:pt x="5619750" y="533398"/>
                </a:lnTo>
                <a:cubicBezTo>
                  <a:pt x="5619750" y="554441"/>
                  <a:pt x="5602691" y="571500"/>
                  <a:pt x="5581648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00050" y="29527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1" name="Text 19"/>
          <p:cNvSpPr/>
          <p:nvPr/>
        </p:nvSpPr>
        <p:spPr>
          <a:xfrm>
            <a:off x="495300" y="30289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Redis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48300" y="3028950"/>
            <a:ext cx="495300" cy="228600"/>
          </a:xfrm>
          <a:custGeom>
            <a:avLst/>
            <a:gdLst/>
            <a:ahLst/>
            <a:cxnLst/>
            <a:rect l="l" t="t" r="r" b="b"/>
            <a:pathLst>
              <a:path w="495300" h="228600">
                <a:moveTo>
                  <a:pt x="38101" y="0"/>
                </a:moveTo>
                <a:lnTo>
                  <a:pt x="457199" y="0"/>
                </a:lnTo>
                <a:cubicBezTo>
                  <a:pt x="478242" y="0"/>
                  <a:pt x="495300" y="17058"/>
                  <a:pt x="495300" y="38101"/>
                </a:cubicBezTo>
                <a:lnTo>
                  <a:pt x="495300" y="190499"/>
                </a:lnTo>
                <a:cubicBezTo>
                  <a:pt x="495300" y="211542"/>
                  <a:pt x="478242" y="228600"/>
                  <a:pt x="4571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48300" y="3028950"/>
            <a:ext cx="5524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5300" y="325755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缓存热点数据、管理JWT黑名单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00050" y="3600450"/>
            <a:ext cx="5619750" cy="571500"/>
          </a:xfrm>
          <a:custGeom>
            <a:avLst/>
            <a:gdLst/>
            <a:ahLst/>
            <a:cxnLst/>
            <a:rect l="l" t="t" r="r" b="b"/>
            <a:pathLst>
              <a:path w="5619750" h="571500">
                <a:moveTo>
                  <a:pt x="38100" y="0"/>
                </a:moveTo>
                <a:lnTo>
                  <a:pt x="5581648" y="0"/>
                </a:lnTo>
                <a:cubicBezTo>
                  <a:pt x="5602691" y="0"/>
                  <a:pt x="5619750" y="17059"/>
                  <a:pt x="5619750" y="38102"/>
                </a:cubicBezTo>
                <a:lnTo>
                  <a:pt x="5619750" y="533398"/>
                </a:lnTo>
                <a:cubicBezTo>
                  <a:pt x="5619750" y="554441"/>
                  <a:pt x="5602691" y="571500"/>
                  <a:pt x="5581648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0050" y="36004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7" name="Text 25"/>
          <p:cNvSpPr/>
          <p:nvPr/>
        </p:nvSpPr>
        <p:spPr>
          <a:xfrm>
            <a:off x="495300" y="3676650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Spring Security + JWT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48300" y="3676650"/>
            <a:ext cx="495300" cy="228600"/>
          </a:xfrm>
          <a:custGeom>
            <a:avLst/>
            <a:gdLst/>
            <a:ahLst/>
            <a:cxnLst/>
            <a:rect l="l" t="t" r="r" b="b"/>
            <a:pathLst>
              <a:path w="495300" h="228600">
                <a:moveTo>
                  <a:pt x="38101" y="0"/>
                </a:moveTo>
                <a:lnTo>
                  <a:pt x="457199" y="0"/>
                </a:lnTo>
                <a:cubicBezTo>
                  <a:pt x="478242" y="0"/>
                  <a:pt x="495300" y="17058"/>
                  <a:pt x="495300" y="38101"/>
                </a:cubicBezTo>
                <a:lnTo>
                  <a:pt x="495300" y="190499"/>
                </a:lnTo>
                <a:cubicBezTo>
                  <a:pt x="495300" y="211542"/>
                  <a:pt x="478242" y="228600"/>
                  <a:pt x="4571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448300" y="3676650"/>
            <a:ext cx="5524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安全层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5300" y="390525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身份认证、权限控制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00050" y="4248150"/>
            <a:ext cx="5619750" cy="571500"/>
          </a:xfrm>
          <a:custGeom>
            <a:avLst/>
            <a:gdLst/>
            <a:ahLst/>
            <a:cxnLst/>
            <a:rect l="l" t="t" r="r" b="b"/>
            <a:pathLst>
              <a:path w="5619750" h="571500">
                <a:moveTo>
                  <a:pt x="38100" y="0"/>
                </a:moveTo>
                <a:lnTo>
                  <a:pt x="5581648" y="0"/>
                </a:lnTo>
                <a:cubicBezTo>
                  <a:pt x="5602691" y="0"/>
                  <a:pt x="5619750" y="17059"/>
                  <a:pt x="5619750" y="38102"/>
                </a:cubicBezTo>
                <a:lnTo>
                  <a:pt x="5619750" y="533398"/>
                </a:lnTo>
                <a:cubicBezTo>
                  <a:pt x="5619750" y="554441"/>
                  <a:pt x="5602691" y="571500"/>
                  <a:pt x="5581648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00050" y="42481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3" name="Text 31"/>
          <p:cNvSpPr/>
          <p:nvPr/>
        </p:nvSpPr>
        <p:spPr>
          <a:xfrm>
            <a:off x="495300" y="4324350"/>
            <a:ext cx="552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Flyway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334000" y="4324350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1" y="0"/>
                </a:moveTo>
                <a:lnTo>
                  <a:pt x="571499" y="0"/>
                </a:lnTo>
                <a:cubicBezTo>
                  <a:pt x="592542" y="0"/>
                  <a:pt x="609600" y="17058"/>
                  <a:pt x="609600" y="38101"/>
                </a:cubicBezTo>
                <a:lnTo>
                  <a:pt x="609600" y="190499"/>
                </a:lnTo>
                <a:cubicBezTo>
                  <a:pt x="609600" y="211542"/>
                  <a:pt x="592542" y="228600"/>
                  <a:pt x="571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334000" y="4324350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版本控制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95300" y="455295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数据库版本管理、自动化迁移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4581" y="13620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21431" y="32147"/>
                </a:moveTo>
                <a:cubicBezTo>
                  <a:pt x="21431" y="20326"/>
                  <a:pt x="31042" y="10716"/>
                  <a:pt x="42863" y="10716"/>
                </a:cubicBezTo>
                <a:lnTo>
                  <a:pt x="171450" y="10716"/>
                </a:lnTo>
                <a:cubicBezTo>
                  <a:pt x="183271" y="10716"/>
                  <a:pt x="192881" y="20326"/>
                  <a:pt x="192881" y="32147"/>
                </a:cubicBezTo>
                <a:lnTo>
                  <a:pt x="192881" y="112514"/>
                </a:lnTo>
                <a:lnTo>
                  <a:pt x="171450" y="112514"/>
                </a:lnTo>
                <a:lnTo>
                  <a:pt x="171450" y="32147"/>
                </a:lnTo>
                <a:lnTo>
                  <a:pt x="42863" y="32147"/>
                </a:lnTo>
                <a:lnTo>
                  <a:pt x="42863" y="112514"/>
                </a:lnTo>
                <a:lnTo>
                  <a:pt x="21431" y="112514"/>
                </a:lnTo>
                <a:lnTo>
                  <a:pt x="21431" y="32147"/>
                </a:lnTo>
                <a:close/>
                <a:moveTo>
                  <a:pt x="0" y="135017"/>
                </a:moveTo>
                <a:cubicBezTo>
                  <a:pt x="0" y="131467"/>
                  <a:pt x="2880" y="128588"/>
                  <a:pt x="6429" y="128588"/>
                </a:cubicBezTo>
                <a:lnTo>
                  <a:pt x="207883" y="128588"/>
                </a:lnTo>
                <a:cubicBezTo>
                  <a:pt x="211433" y="128588"/>
                  <a:pt x="214313" y="131467"/>
                  <a:pt x="214313" y="135017"/>
                </a:cubicBezTo>
                <a:cubicBezTo>
                  <a:pt x="214313" y="149215"/>
                  <a:pt x="202793" y="160734"/>
                  <a:pt x="188595" y="160734"/>
                </a:cubicBezTo>
                <a:lnTo>
                  <a:pt x="25718" y="160734"/>
                </a:lnTo>
                <a:cubicBezTo>
                  <a:pt x="11519" y="160734"/>
                  <a:pt x="0" y="149215"/>
                  <a:pt x="0" y="135017"/>
                </a:cubicBezTo>
                <a:close/>
                <a:moveTo>
                  <a:pt x="94097" y="69986"/>
                </a:moveTo>
                <a:lnTo>
                  <a:pt x="83716" y="80367"/>
                </a:lnTo>
                <a:lnTo>
                  <a:pt x="94097" y="90748"/>
                </a:lnTo>
                <a:cubicBezTo>
                  <a:pt x="97244" y="93896"/>
                  <a:pt x="97244" y="98986"/>
                  <a:pt x="94097" y="102100"/>
                </a:cubicBezTo>
                <a:cubicBezTo>
                  <a:pt x="90949" y="105214"/>
                  <a:pt x="85859" y="105248"/>
                  <a:pt x="82745" y="102100"/>
                </a:cubicBezTo>
                <a:lnTo>
                  <a:pt x="66671" y="86026"/>
                </a:lnTo>
                <a:cubicBezTo>
                  <a:pt x="63524" y="82879"/>
                  <a:pt x="63524" y="77789"/>
                  <a:pt x="66671" y="74675"/>
                </a:cubicBezTo>
                <a:lnTo>
                  <a:pt x="82745" y="58601"/>
                </a:lnTo>
                <a:cubicBezTo>
                  <a:pt x="85892" y="55453"/>
                  <a:pt x="90982" y="55453"/>
                  <a:pt x="94097" y="58601"/>
                </a:cubicBezTo>
                <a:cubicBezTo>
                  <a:pt x="97211" y="61749"/>
                  <a:pt x="97244" y="66839"/>
                  <a:pt x="94097" y="69953"/>
                </a:cubicBezTo>
                <a:close/>
                <a:moveTo>
                  <a:pt x="131601" y="58601"/>
                </a:moveTo>
                <a:lnTo>
                  <a:pt x="147675" y="74675"/>
                </a:lnTo>
                <a:cubicBezTo>
                  <a:pt x="150822" y="77822"/>
                  <a:pt x="150822" y="82912"/>
                  <a:pt x="147675" y="86026"/>
                </a:cubicBezTo>
                <a:lnTo>
                  <a:pt x="131601" y="102100"/>
                </a:lnTo>
                <a:cubicBezTo>
                  <a:pt x="128454" y="105248"/>
                  <a:pt x="123364" y="105248"/>
                  <a:pt x="120249" y="102100"/>
                </a:cubicBezTo>
                <a:cubicBezTo>
                  <a:pt x="117135" y="98952"/>
                  <a:pt x="117102" y="93862"/>
                  <a:pt x="120249" y="90748"/>
                </a:cubicBezTo>
                <a:lnTo>
                  <a:pt x="130630" y="80367"/>
                </a:lnTo>
                <a:lnTo>
                  <a:pt x="120249" y="69986"/>
                </a:lnTo>
                <a:cubicBezTo>
                  <a:pt x="117102" y="66839"/>
                  <a:pt x="117102" y="61749"/>
                  <a:pt x="120249" y="58635"/>
                </a:cubicBezTo>
                <a:cubicBezTo>
                  <a:pt x="123397" y="55520"/>
                  <a:pt x="128487" y="55487"/>
                  <a:pt x="131601" y="58635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8" name="Text 36"/>
          <p:cNvSpPr/>
          <p:nvPr/>
        </p:nvSpPr>
        <p:spPr>
          <a:xfrm>
            <a:off x="6391275" y="1314450"/>
            <a:ext cx="550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6AD5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前端技术栈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91250" y="1657350"/>
            <a:ext cx="5619750" cy="571500"/>
          </a:xfrm>
          <a:custGeom>
            <a:avLst/>
            <a:gdLst/>
            <a:ahLst/>
            <a:cxnLst/>
            <a:rect l="l" t="t" r="r" b="b"/>
            <a:pathLst>
              <a:path w="5619750" h="571500">
                <a:moveTo>
                  <a:pt x="38100" y="0"/>
                </a:moveTo>
                <a:lnTo>
                  <a:pt x="5581648" y="0"/>
                </a:lnTo>
                <a:cubicBezTo>
                  <a:pt x="5602691" y="0"/>
                  <a:pt x="5619750" y="17059"/>
                  <a:pt x="5619750" y="38102"/>
                </a:cubicBezTo>
                <a:lnTo>
                  <a:pt x="5619750" y="533398"/>
                </a:lnTo>
                <a:cubicBezTo>
                  <a:pt x="5619750" y="554441"/>
                  <a:pt x="5602691" y="571500"/>
                  <a:pt x="5581648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191250" y="16573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1" name="Text 39"/>
          <p:cNvSpPr/>
          <p:nvPr/>
        </p:nvSpPr>
        <p:spPr>
          <a:xfrm>
            <a:off x="6286500" y="1733550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Vue 3 + Vite + TypeScript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125200" y="1733550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1" y="0"/>
                </a:moveTo>
                <a:lnTo>
                  <a:pt x="571499" y="0"/>
                </a:lnTo>
                <a:cubicBezTo>
                  <a:pt x="592542" y="0"/>
                  <a:pt x="609600" y="17058"/>
                  <a:pt x="609600" y="38101"/>
                </a:cubicBezTo>
                <a:lnTo>
                  <a:pt x="609600" y="190499"/>
                </a:lnTo>
                <a:cubicBezTo>
                  <a:pt x="609600" y="211542"/>
                  <a:pt x="592542" y="228600"/>
                  <a:pt x="571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1125200" y="1733550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核心框架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286500" y="196215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构建现代化、类型安全的单页应用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91250" y="2305050"/>
            <a:ext cx="5619750" cy="571500"/>
          </a:xfrm>
          <a:custGeom>
            <a:avLst/>
            <a:gdLst/>
            <a:ahLst/>
            <a:cxnLst/>
            <a:rect l="l" t="t" r="r" b="b"/>
            <a:pathLst>
              <a:path w="5619750" h="571500">
                <a:moveTo>
                  <a:pt x="38100" y="0"/>
                </a:moveTo>
                <a:lnTo>
                  <a:pt x="5581648" y="0"/>
                </a:lnTo>
                <a:cubicBezTo>
                  <a:pt x="5602691" y="0"/>
                  <a:pt x="5619750" y="17059"/>
                  <a:pt x="5619750" y="38102"/>
                </a:cubicBezTo>
                <a:lnTo>
                  <a:pt x="5619750" y="533398"/>
                </a:lnTo>
                <a:cubicBezTo>
                  <a:pt x="5619750" y="554441"/>
                  <a:pt x="5602691" y="571500"/>
                  <a:pt x="5581648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191250" y="23050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7" name="Text 45"/>
          <p:cNvSpPr/>
          <p:nvPr/>
        </p:nvSpPr>
        <p:spPr>
          <a:xfrm>
            <a:off x="6286500" y="23812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Vue Router 4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353800" y="2381250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190499"/>
                </a:lnTo>
                <a:cubicBezTo>
                  <a:pt x="381000" y="211542"/>
                  <a:pt x="363942" y="228600"/>
                  <a:pt x="3428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1353800" y="2381250"/>
            <a:ext cx="4381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路由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86500" y="260985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管理前端路由，支持动态路由和权限路由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91250" y="2952750"/>
            <a:ext cx="5619750" cy="571500"/>
          </a:xfrm>
          <a:custGeom>
            <a:avLst/>
            <a:gdLst/>
            <a:ahLst/>
            <a:cxnLst/>
            <a:rect l="l" t="t" r="r" b="b"/>
            <a:pathLst>
              <a:path w="5619750" h="571500">
                <a:moveTo>
                  <a:pt x="38100" y="0"/>
                </a:moveTo>
                <a:lnTo>
                  <a:pt x="5581648" y="0"/>
                </a:lnTo>
                <a:cubicBezTo>
                  <a:pt x="5602691" y="0"/>
                  <a:pt x="5619750" y="17059"/>
                  <a:pt x="5619750" y="38102"/>
                </a:cubicBezTo>
                <a:lnTo>
                  <a:pt x="5619750" y="533398"/>
                </a:lnTo>
                <a:cubicBezTo>
                  <a:pt x="5619750" y="554441"/>
                  <a:pt x="5602691" y="571500"/>
                  <a:pt x="5581648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191250" y="29527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3" name="Text 51"/>
          <p:cNvSpPr/>
          <p:nvPr/>
        </p:nvSpPr>
        <p:spPr>
          <a:xfrm>
            <a:off x="6286500" y="3028950"/>
            <a:ext cx="409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Pinia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1125200" y="3028950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1" y="0"/>
                </a:moveTo>
                <a:lnTo>
                  <a:pt x="571499" y="0"/>
                </a:lnTo>
                <a:cubicBezTo>
                  <a:pt x="592542" y="0"/>
                  <a:pt x="609600" y="17058"/>
                  <a:pt x="609600" y="38101"/>
                </a:cubicBezTo>
                <a:lnTo>
                  <a:pt x="609600" y="190499"/>
                </a:lnTo>
                <a:cubicBezTo>
                  <a:pt x="609600" y="211542"/>
                  <a:pt x="592542" y="228600"/>
                  <a:pt x="571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1125200" y="3028950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状态管理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286500" y="325755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集中管理应用状态，支持模块化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91250" y="3600450"/>
            <a:ext cx="5619750" cy="571500"/>
          </a:xfrm>
          <a:custGeom>
            <a:avLst/>
            <a:gdLst/>
            <a:ahLst/>
            <a:cxnLst/>
            <a:rect l="l" t="t" r="r" b="b"/>
            <a:pathLst>
              <a:path w="5619750" h="571500">
                <a:moveTo>
                  <a:pt x="38100" y="0"/>
                </a:moveTo>
                <a:lnTo>
                  <a:pt x="5581648" y="0"/>
                </a:lnTo>
                <a:cubicBezTo>
                  <a:pt x="5602691" y="0"/>
                  <a:pt x="5619750" y="17059"/>
                  <a:pt x="5619750" y="38102"/>
                </a:cubicBezTo>
                <a:lnTo>
                  <a:pt x="5619750" y="533398"/>
                </a:lnTo>
                <a:cubicBezTo>
                  <a:pt x="5619750" y="554441"/>
                  <a:pt x="5602691" y="571500"/>
                  <a:pt x="5581648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191250" y="36004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9" name="Text 57"/>
          <p:cNvSpPr/>
          <p:nvPr/>
        </p:nvSpPr>
        <p:spPr>
          <a:xfrm>
            <a:off x="6286500" y="3676650"/>
            <a:ext cx="44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Axios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0950327" y="3676650"/>
            <a:ext cx="781050" cy="228600"/>
          </a:xfrm>
          <a:custGeom>
            <a:avLst/>
            <a:gdLst/>
            <a:ahLst/>
            <a:cxnLst/>
            <a:rect l="l" t="t" r="r" b="b"/>
            <a:pathLst>
              <a:path w="781050" h="228600">
                <a:moveTo>
                  <a:pt x="38101" y="0"/>
                </a:moveTo>
                <a:lnTo>
                  <a:pt x="742949" y="0"/>
                </a:lnTo>
                <a:cubicBezTo>
                  <a:pt x="763992" y="0"/>
                  <a:pt x="781050" y="17058"/>
                  <a:pt x="781050" y="38101"/>
                </a:cubicBezTo>
                <a:lnTo>
                  <a:pt x="781050" y="190499"/>
                </a:lnTo>
                <a:cubicBezTo>
                  <a:pt x="781050" y="211542"/>
                  <a:pt x="763992" y="228600"/>
                  <a:pt x="7429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0950327" y="3676650"/>
            <a:ext cx="8382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HTTP客户端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286500" y="390525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发送HTTP请求，支持拦截器和响应封装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191250" y="4248150"/>
            <a:ext cx="5619750" cy="571500"/>
          </a:xfrm>
          <a:custGeom>
            <a:avLst/>
            <a:gdLst/>
            <a:ahLst/>
            <a:cxnLst/>
            <a:rect l="l" t="t" r="r" b="b"/>
            <a:pathLst>
              <a:path w="5619750" h="571500">
                <a:moveTo>
                  <a:pt x="38100" y="0"/>
                </a:moveTo>
                <a:lnTo>
                  <a:pt x="5581648" y="0"/>
                </a:lnTo>
                <a:cubicBezTo>
                  <a:pt x="5602691" y="0"/>
                  <a:pt x="5619750" y="17059"/>
                  <a:pt x="5619750" y="38102"/>
                </a:cubicBezTo>
                <a:lnTo>
                  <a:pt x="5619750" y="533398"/>
                </a:lnTo>
                <a:cubicBezTo>
                  <a:pt x="5619750" y="554441"/>
                  <a:pt x="5602691" y="571500"/>
                  <a:pt x="5581648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191250" y="42481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65" name="Text 63"/>
          <p:cNvSpPr/>
          <p:nvPr/>
        </p:nvSpPr>
        <p:spPr>
          <a:xfrm>
            <a:off x="6286500" y="4324350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Element Plus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1132493" y="4324350"/>
            <a:ext cx="600075" cy="228600"/>
          </a:xfrm>
          <a:custGeom>
            <a:avLst/>
            <a:gdLst/>
            <a:ahLst/>
            <a:cxnLst/>
            <a:rect l="l" t="t" r="r" b="b"/>
            <a:pathLst>
              <a:path w="600075" h="228600">
                <a:moveTo>
                  <a:pt x="38101" y="0"/>
                </a:moveTo>
                <a:lnTo>
                  <a:pt x="561974" y="0"/>
                </a:lnTo>
                <a:cubicBezTo>
                  <a:pt x="583017" y="0"/>
                  <a:pt x="600075" y="17058"/>
                  <a:pt x="600075" y="38101"/>
                </a:cubicBezTo>
                <a:lnTo>
                  <a:pt x="600075" y="190499"/>
                </a:lnTo>
                <a:cubicBezTo>
                  <a:pt x="600075" y="211542"/>
                  <a:pt x="583017" y="228600"/>
                  <a:pt x="5619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1132493" y="4324350"/>
            <a:ext cx="6572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UI组件库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286500" y="455295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提供丰富的UI组件，快速构建美观界面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04813" y="50196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0" name="Text 68"/>
          <p:cNvSpPr/>
          <p:nvPr/>
        </p:nvSpPr>
        <p:spPr>
          <a:xfrm>
            <a:off x="600075" y="4972050"/>
            <a:ext cx="11296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系统架构分层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90525" y="5362575"/>
            <a:ext cx="3714750" cy="857250"/>
          </a:xfrm>
          <a:custGeom>
            <a:avLst/>
            <a:gdLst/>
            <a:ahLst/>
            <a:cxnLst/>
            <a:rect l="l" t="t" r="r" b="b"/>
            <a:pathLst>
              <a:path w="3714750" h="857250">
                <a:moveTo>
                  <a:pt x="76201" y="0"/>
                </a:moveTo>
                <a:lnTo>
                  <a:pt x="3638549" y="0"/>
                </a:lnTo>
                <a:cubicBezTo>
                  <a:pt x="3680634" y="0"/>
                  <a:pt x="3714750" y="34116"/>
                  <a:pt x="3714750" y="76201"/>
                </a:cubicBezTo>
                <a:lnTo>
                  <a:pt x="3714750" y="781049"/>
                </a:lnTo>
                <a:cubicBezTo>
                  <a:pt x="3714750" y="823134"/>
                  <a:pt x="3680634" y="857250"/>
                  <a:pt x="3638549" y="857250"/>
                </a:cubicBezTo>
                <a:lnTo>
                  <a:pt x="76201" y="857250"/>
                </a:lnTo>
                <a:cubicBezTo>
                  <a:pt x="34116" y="857250"/>
                  <a:pt x="0" y="823134"/>
                  <a:pt x="0" y="7810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30000"/>
                </a:srgbClr>
              </a:gs>
              <a:gs pos="100000">
                <a:srgbClr val="4FD1C5">
                  <a:alpha val="1000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52450" y="5524500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展示层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3686175" y="5543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4" name="Text 72"/>
          <p:cNvSpPr/>
          <p:nvPr/>
        </p:nvSpPr>
        <p:spPr>
          <a:xfrm>
            <a:off x="552450" y="586740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Vue 3 + Element Plus + 响应式UI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4238625" y="5362575"/>
            <a:ext cx="3714750" cy="857250"/>
          </a:xfrm>
          <a:custGeom>
            <a:avLst/>
            <a:gdLst/>
            <a:ahLst/>
            <a:cxnLst/>
            <a:rect l="l" t="t" r="r" b="b"/>
            <a:pathLst>
              <a:path w="3714750" h="857250">
                <a:moveTo>
                  <a:pt x="76201" y="0"/>
                </a:moveTo>
                <a:lnTo>
                  <a:pt x="3638549" y="0"/>
                </a:lnTo>
                <a:cubicBezTo>
                  <a:pt x="3680634" y="0"/>
                  <a:pt x="3714750" y="34116"/>
                  <a:pt x="3714750" y="76201"/>
                </a:cubicBezTo>
                <a:lnTo>
                  <a:pt x="3714750" y="781049"/>
                </a:lnTo>
                <a:cubicBezTo>
                  <a:pt x="3714750" y="823134"/>
                  <a:pt x="3680634" y="857250"/>
                  <a:pt x="3638549" y="857250"/>
                </a:cubicBezTo>
                <a:lnTo>
                  <a:pt x="76201" y="857250"/>
                </a:lnTo>
                <a:cubicBezTo>
                  <a:pt x="34116" y="857250"/>
                  <a:pt x="0" y="823134"/>
                  <a:pt x="0" y="7810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30000"/>
                </a:srgbClr>
              </a:gs>
              <a:gs pos="100000">
                <a:srgbClr val="F6AD55">
                  <a:alpha val="10000"/>
                </a:srgbClr>
              </a:gs>
            </a:gsLst>
            <a:lin ang="2700000" scaled="1"/>
          </a:gradFill>
          <a:ln w="25400">
            <a:solidFill>
              <a:srgbClr val="F6AD5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400550" y="5524500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业务层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505700" y="55435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78" name="Text 76"/>
          <p:cNvSpPr/>
          <p:nvPr/>
        </p:nvSpPr>
        <p:spPr>
          <a:xfrm>
            <a:off x="4400550" y="586740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Spring Boot + RESTful API + 微服务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8086725" y="5362575"/>
            <a:ext cx="3714750" cy="857250"/>
          </a:xfrm>
          <a:custGeom>
            <a:avLst/>
            <a:gdLst/>
            <a:ahLst/>
            <a:cxnLst/>
            <a:rect l="l" t="t" r="r" b="b"/>
            <a:pathLst>
              <a:path w="3714750" h="857250">
                <a:moveTo>
                  <a:pt x="76201" y="0"/>
                </a:moveTo>
                <a:lnTo>
                  <a:pt x="3638549" y="0"/>
                </a:lnTo>
                <a:cubicBezTo>
                  <a:pt x="3680634" y="0"/>
                  <a:pt x="3714750" y="34116"/>
                  <a:pt x="3714750" y="76201"/>
                </a:cubicBezTo>
                <a:lnTo>
                  <a:pt x="3714750" y="781049"/>
                </a:lnTo>
                <a:cubicBezTo>
                  <a:pt x="3714750" y="823134"/>
                  <a:pt x="3680634" y="857250"/>
                  <a:pt x="3638549" y="857250"/>
                </a:cubicBezTo>
                <a:lnTo>
                  <a:pt x="76201" y="857250"/>
                </a:lnTo>
                <a:cubicBezTo>
                  <a:pt x="34116" y="857250"/>
                  <a:pt x="0" y="823134"/>
                  <a:pt x="0" y="7810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30000"/>
                </a:srgbClr>
              </a:gs>
              <a:gs pos="100000">
                <a:srgbClr val="4FD1C5">
                  <a:alpha val="1000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248650" y="5524500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11396663" y="55435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82" name="Text 80"/>
          <p:cNvSpPr/>
          <p:nvPr/>
        </p:nvSpPr>
        <p:spPr>
          <a:xfrm>
            <a:off x="8248650" y="586740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MySQL + Redis + 持久化与缓存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1028700" cy="314325"/>
          </a:xfrm>
          <a:custGeom>
            <a:avLst/>
            <a:gdLst/>
            <a:ahLst/>
            <a:cxnLst/>
            <a:rect l="l" t="t" r="r" b="b"/>
            <a:pathLst>
              <a:path w="1028700" h="314325">
                <a:moveTo>
                  <a:pt x="38099" y="0"/>
                </a:moveTo>
                <a:lnTo>
                  <a:pt x="990601" y="0"/>
                </a:lnTo>
                <a:cubicBezTo>
                  <a:pt x="1011642" y="0"/>
                  <a:pt x="1028700" y="17058"/>
                  <a:pt x="1028700" y="38099"/>
                </a:cubicBezTo>
                <a:lnTo>
                  <a:pt x="1028700" y="276226"/>
                </a:lnTo>
                <a:cubicBezTo>
                  <a:pt x="1028700" y="297267"/>
                  <a:pt x="1011642" y="314325"/>
                  <a:pt x="990601" y="314325"/>
                </a:cubicBezTo>
                <a:lnTo>
                  <a:pt x="38099" y="314325"/>
                </a:lnTo>
                <a:cubicBezTo>
                  <a:pt x="17058" y="314325"/>
                  <a:pt x="0" y="297267"/>
                  <a:pt x="0" y="2762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4825" y="466725"/>
            <a:ext cx="8591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810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技术方案与系统架构（续）- 系统模块设计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0525" y="1323975"/>
            <a:ext cx="2752725" cy="1352550"/>
          </a:xfrm>
          <a:custGeom>
            <a:avLst/>
            <a:gdLst/>
            <a:ahLst/>
            <a:cxnLst/>
            <a:rect l="l" t="t" r="r" b="b"/>
            <a:pathLst>
              <a:path w="2752725" h="1352550">
                <a:moveTo>
                  <a:pt x="76203" y="0"/>
                </a:moveTo>
                <a:lnTo>
                  <a:pt x="2676522" y="0"/>
                </a:lnTo>
                <a:cubicBezTo>
                  <a:pt x="2718608" y="0"/>
                  <a:pt x="2752725" y="34117"/>
                  <a:pt x="2752725" y="76203"/>
                </a:cubicBezTo>
                <a:lnTo>
                  <a:pt x="2752725" y="1276347"/>
                </a:lnTo>
                <a:cubicBezTo>
                  <a:pt x="2752725" y="1318433"/>
                  <a:pt x="2718608" y="1352550"/>
                  <a:pt x="2676522" y="1352550"/>
                </a:cubicBezTo>
                <a:lnTo>
                  <a:pt x="76203" y="1352550"/>
                </a:lnTo>
                <a:cubicBezTo>
                  <a:pt x="34117" y="1352550"/>
                  <a:pt x="0" y="1318433"/>
                  <a:pt x="0" y="12763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4FD1C5">
                  <a:alpha val="5000"/>
                </a:srgbClr>
              </a:gs>
            </a:gsLst>
            <a:lin ang="2700000" scaled="1"/>
          </a:gradFill>
          <a:ln w="25400">
            <a:solidFill>
              <a:srgbClr val="4FD1C5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0069" y="1466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" name="Text 5"/>
          <p:cNvSpPr/>
          <p:nvPr/>
        </p:nvSpPr>
        <p:spPr>
          <a:xfrm>
            <a:off x="828675" y="1447800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user-service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4350" y="1752600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用户服务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4350" y="2019300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账号管理：</a:t>
            </a: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注册、登录、信息修改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4350" y="2209800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认证授权：</a:t>
            </a: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JWT、OAuth2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4350" y="2400300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权限控制：</a:t>
            </a: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RBAC + ABAC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76600" y="1323975"/>
            <a:ext cx="2752725" cy="1352550"/>
          </a:xfrm>
          <a:custGeom>
            <a:avLst/>
            <a:gdLst/>
            <a:ahLst/>
            <a:cxnLst/>
            <a:rect l="l" t="t" r="r" b="b"/>
            <a:pathLst>
              <a:path w="2752725" h="1352550">
                <a:moveTo>
                  <a:pt x="76203" y="0"/>
                </a:moveTo>
                <a:lnTo>
                  <a:pt x="2676522" y="0"/>
                </a:lnTo>
                <a:cubicBezTo>
                  <a:pt x="2718608" y="0"/>
                  <a:pt x="2752725" y="34117"/>
                  <a:pt x="2752725" y="76203"/>
                </a:cubicBezTo>
                <a:lnTo>
                  <a:pt x="2752725" y="1276347"/>
                </a:lnTo>
                <a:cubicBezTo>
                  <a:pt x="2752725" y="1318433"/>
                  <a:pt x="2718608" y="1352550"/>
                  <a:pt x="2676522" y="1352550"/>
                </a:cubicBezTo>
                <a:lnTo>
                  <a:pt x="76203" y="1352550"/>
                </a:lnTo>
                <a:cubicBezTo>
                  <a:pt x="34117" y="1352550"/>
                  <a:pt x="0" y="1318433"/>
                  <a:pt x="0" y="12763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F6AD55">
                  <a:alpha val="5000"/>
                </a:srgbClr>
              </a:gs>
            </a:gsLst>
            <a:lin ang="2700000" scaled="1"/>
          </a:gradFill>
          <a:ln w="25400">
            <a:solidFill>
              <a:srgbClr val="F6AD55">
                <a:alpha val="5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4238" y="1466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14" name="Text 12"/>
          <p:cNvSpPr/>
          <p:nvPr/>
        </p:nvSpPr>
        <p:spPr>
          <a:xfrm>
            <a:off x="3714750" y="1447800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organization-service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00425" y="1752600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组织服务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00425" y="2019300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学校管理：</a:t>
            </a: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CRUD操作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00425" y="2209800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院系管理：</a:t>
            </a: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归属关系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00425" y="2400300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班级管理：</a:t>
            </a: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成员关系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62675" y="1323975"/>
            <a:ext cx="2752725" cy="1352550"/>
          </a:xfrm>
          <a:custGeom>
            <a:avLst/>
            <a:gdLst/>
            <a:ahLst/>
            <a:cxnLst/>
            <a:rect l="l" t="t" r="r" b="b"/>
            <a:pathLst>
              <a:path w="2752725" h="1352550">
                <a:moveTo>
                  <a:pt x="76203" y="0"/>
                </a:moveTo>
                <a:lnTo>
                  <a:pt x="2676522" y="0"/>
                </a:lnTo>
                <a:cubicBezTo>
                  <a:pt x="2718608" y="0"/>
                  <a:pt x="2752725" y="34117"/>
                  <a:pt x="2752725" y="76203"/>
                </a:cubicBezTo>
                <a:lnTo>
                  <a:pt x="2752725" y="1276347"/>
                </a:lnTo>
                <a:cubicBezTo>
                  <a:pt x="2752725" y="1318433"/>
                  <a:pt x="2718608" y="1352550"/>
                  <a:pt x="2676522" y="1352550"/>
                </a:cubicBezTo>
                <a:lnTo>
                  <a:pt x="76203" y="1352550"/>
                </a:lnTo>
                <a:cubicBezTo>
                  <a:pt x="34117" y="1352550"/>
                  <a:pt x="0" y="1318433"/>
                  <a:pt x="0" y="12763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4FD1C5">
                  <a:alpha val="5000"/>
                </a:srgbClr>
              </a:gs>
            </a:gsLst>
            <a:lin ang="2700000" scaled="1"/>
          </a:gradFill>
          <a:ln w="25400">
            <a:solidFill>
              <a:srgbClr val="4FD1C5">
                <a:alpha val="5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10313" y="1466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65484"/>
                </a:moveTo>
                <a:cubicBezTo>
                  <a:pt x="88664" y="65484"/>
                  <a:pt x="83344" y="70805"/>
                  <a:pt x="83344" y="77391"/>
                </a:cubicBezTo>
                <a:cubicBezTo>
                  <a:pt x="83344" y="82339"/>
                  <a:pt x="79363" y="86320"/>
                  <a:pt x="74414" y="86320"/>
                </a:cubicBezTo>
                <a:cubicBezTo>
                  <a:pt x="69466" y="86320"/>
                  <a:pt x="65484" y="82339"/>
                  <a:pt x="65484" y="77391"/>
                </a:cubicBezTo>
                <a:cubicBezTo>
                  <a:pt x="65484" y="60945"/>
                  <a:pt x="78804" y="47625"/>
                  <a:pt x="95250" y="47625"/>
                </a:cubicBezTo>
                <a:cubicBezTo>
                  <a:pt x="111696" y="47625"/>
                  <a:pt x="125016" y="60945"/>
                  <a:pt x="125016" y="77391"/>
                </a:cubicBezTo>
                <a:cubicBezTo>
                  <a:pt x="125016" y="94952"/>
                  <a:pt x="111621" y="102394"/>
                  <a:pt x="104180" y="105110"/>
                </a:cubicBezTo>
                <a:lnTo>
                  <a:pt x="104180" y="106524"/>
                </a:lnTo>
                <a:cubicBezTo>
                  <a:pt x="104180" y="111472"/>
                  <a:pt x="100199" y="115453"/>
                  <a:pt x="95250" y="115453"/>
                </a:cubicBezTo>
                <a:cubicBezTo>
                  <a:pt x="90301" y="115453"/>
                  <a:pt x="86320" y="111472"/>
                  <a:pt x="86320" y="106524"/>
                </a:cubicBezTo>
                <a:lnTo>
                  <a:pt x="86320" y="103510"/>
                </a:lnTo>
                <a:cubicBezTo>
                  <a:pt x="86320" y="95883"/>
                  <a:pt x="91827" y="90413"/>
                  <a:pt x="97520" y="88553"/>
                </a:cubicBezTo>
                <a:cubicBezTo>
                  <a:pt x="99901" y="87771"/>
                  <a:pt x="102431" y="86506"/>
                  <a:pt x="104291" y="84720"/>
                </a:cubicBezTo>
                <a:cubicBezTo>
                  <a:pt x="105891" y="83158"/>
                  <a:pt x="107156" y="81000"/>
                  <a:pt x="107156" y="77428"/>
                </a:cubicBezTo>
                <a:cubicBezTo>
                  <a:pt x="107156" y="70842"/>
                  <a:pt x="101836" y="65522"/>
                  <a:pt x="95250" y="65522"/>
                </a:cubicBezTo>
                <a:close/>
                <a:moveTo>
                  <a:pt x="83344" y="136922"/>
                </a:moveTo>
                <a:cubicBezTo>
                  <a:pt x="83344" y="130351"/>
                  <a:pt x="88679" y="125016"/>
                  <a:pt x="95250" y="125016"/>
                </a:cubicBezTo>
                <a:cubicBezTo>
                  <a:pt x="101821" y="125016"/>
                  <a:pt x="107156" y="130351"/>
                  <a:pt x="107156" y="136922"/>
                </a:cubicBezTo>
                <a:cubicBezTo>
                  <a:pt x="107156" y="143493"/>
                  <a:pt x="101821" y="148828"/>
                  <a:pt x="95250" y="148828"/>
                </a:cubicBezTo>
                <a:cubicBezTo>
                  <a:pt x="88679" y="148828"/>
                  <a:pt x="83344" y="143493"/>
                  <a:pt x="83344" y="136922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1" name="Text 19"/>
          <p:cNvSpPr/>
          <p:nvPr/>
        </p:nvSpPr>
        <p:spPr>
          <a:xfrm>
            <a:off x="6600825" y="1447800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problem-service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86500" y="1752600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题库服务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86500" y="2019300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题目CRUD：</a:t>
            </a: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增删改查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86500" y="2209800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分类标签：</a:t>
            </a: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多维度分类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86500" y="2400300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题解管理：</a:t>
            </a: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官方题解、讨论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048750" y="1323975"/>
            <a:ext cx="2752725" cy="1352550"/>
          </a:xfrm>
          <a:custGeom>
            <a:avLst/>
            <a:gdLst/>
            <a:ahLst/>
            <a:cxnLst/>
            <a:rect l="l" t="t" r="r" b="b"/>
            <a:pathLst>
              <a:path w="2752725" h="1352550">
                <a:moveTo>
                  <a:pt x="76203" y="0"/>
                </a:moveTo>
                <a:lnTo>
                  <a:pt x="2676522" y="0"/>
                </a:lnTo>
                <a:cubicBezTo>
                  <a:pt x="2718608" y="0"/>
                  <a:pt x="2752725" y="34117"/>
                  <a:pt x="2752725" y="76203"/>
                </a:cubicBezTo>
                <a:lnTo>
                  <a:pt x="2752725" y="1276347"/>
                </a:lnTo>
                <a:cubicBezTo>
                  <a:pt x="2752725" y="1318433"/>
                  <a:pt x="2718608" y="1352550"/>
                  <a:pt x="2676522" y="1352550"/>
                </a:cubicBezTo>
                <a:lnTo>
                  <a:pt x="76203" y="1352550"/>
                </a:lnTo>
                <a:cubicBezTo>
                  <a:pt x="34117" y="1352550"/>
                  <a:pt x="0" y="1318433"/>
                  <a:pt x="0" y="12763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F6AD55">
                  <a:alpha val="5000"/>
                </a:srgbClr>
              </a:gs>
            </a:gsLst>
            <a:lin ang="2700000" scaled="1"/>
          </a:gradFill>
          <a:ln w="25400">
            <a:solidFill>
              <a:srgbClr val="F6AD55">
                <a:alpha val="5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84481" y="14668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9579" y="-9785"/>
                </a:moveTo>
                <a:cubicBezTo>
                  <a:pt x="203225" y="-11088"/>
                  <a:pt x="207243" y="-10158"/>
                  <a:pt x="209996" y="-7441"/>
                </a:cubicBezTo>
                <a:cubicBezTo>
                  <a:pt x="212750" y="-4725"/>
                  <a:pt x="213643" y="-670"/>
                  <a:pt x="212341" y="2977"/>
                </a:cubicBezTo>
                <a:lnTo>
                  <a:pt x="146112" y="187858"/>
                </a:lnTo>
                <a:cubicBezTo>
                  <a:pt x="144252" y="193030"/>
                  <a:pt x="139378" y="196453"/>
                  <a:pt x="133908" y="196453"/>
                </a:cubicBezTo>
                <a:cubicBezTo>
                  <a:pt x="128625" y="196453"/>
                  <a:pt x="123862" y="193253"/>
                  <a:pt x="121890" y="188379"/>
                </a:cubicBezTo>
                <a:lnTo>
                  <a:pt x="98003" y="129592"/>
                </a:lnTo>
                <a:cubicBezTo>
                  <a:pt x="96329" y="125499"/>
                  <a:pt x="97073" y="120811"/>
                  <a:pt x="99938" y="117463"/>
                </a:cubicBezTo>
                <a:lnTo>
                  <a:pt x="135099" y="75642"/>
                </a:lnTo>
                <a:cubicBezTo>
                  <a:pt x="136996" y="73372"/>
                  <a:pt x="136847" y="70061"/>
                  <a:pt x="134764" y="67977"/>
                </a:cubicBezTo>
                <a:cubicBezTo>
                  <a:pt x="132680" y="65894"/>
                  <a:pt x="129332" y="65745"/>
                  <a:pt x="127099" y="67642"/>
                </a:cubicBezTo>
                <a:lnTo>
                  <a:pt x="85279" y="102729"/>
                </a:lnTo>
                <a:cubicBezTo>
                  <a:pt x="81893" y="105556"/>
                  <a:pt x="77242" y="106300"/>
                  <a:pt x="73149" y="104663"/>
                </a:cubicBezTo>
                <a:lnTo>
                  <a:pt x="14176" y="80665"/>
                </a:lnTo>
                <a:cubicBezTo>
                  <a:pt x="9302" y="78693"/>
                  <a:pt x="6102" y="73930"/>
                  <a:pt x="6102" y="68647"/>
                </a:cubicBezTo>
                <a:cubicBezTo>
                  <a:pt x="6102" y="63178"/>
                  <a:pt x="9525" y="58303"/>
                  <a:pt x="14697" y="56443"/>
                </a:cubicBezTo>
                <a:lnTo>
                  <a:pt x="199579" y="-9785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8" name="Text 26"/>
          <p:cNvSpPr/>
          <p:nvPr/>
        </p:nvSpPr>
        <p:spPr>
          <a:xfrm>
            <a:off x="9486900" y="1447800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submission-service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72575" y="1752600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提交服务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72575" y="2019300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提交记录：</a:t>
            </a: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代码、语言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72575" y="2209800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评测状态：</a:t>
            </a: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跟踪状态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72575" y="2400300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历史查询：</a:t>
            </a: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个人、班级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90525" y="2809875"/>
            <a:ext cx="2752725" cy="1352550"/>
          </a:xfrm>
          <a:custGeom>
            <a:avLst/>
            <a:gdLst/>
            <a:ahLst/>
            <a:cxnLst/>
            <a:rect l="l" t="t" r="r" b="b"/>
            <a:pathLst>
              <a:path w="2752725" h="1352550">
                <a:moveTo>
                  <a:pt x="76203" y="0"/>
                </a:moveTo>
                <a:lnTo>
                  <a:pt x="2676522" y="0"/>
                </a:lnTo>
                <a:cubicBezTo>
                  <a:pt x="2718608" y="0"/>
                  <a:pt x="2752725" y="34117"/>
                  <a:pt x="2752725" y="76203"/>
                </a:cubicBezTo>
                <a:lnTo>
                  <a:pt x="2752725" y="1276347"/>
                </a:lnTo>
                <a:cubicBezTo>
                  <a:pt x="2752725" y="1318433"/>
                  <a:pt x="2718608" y="1352550"/>
                  <a:pt x="2676522" y="1352550"/>
                </a:cubicBezTo>
                <a:lnTo>
                  <a:pt x="76203" y="1352550"/>
                </a:lnTo>
                <a:cubicBezTo>
                  <a:pt x="34117" y="1352550"/>
                  <a:pt x="0" y="1318433"/>
                  <a:pt x="0" y="12763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4FD1C5">
                  <a:alpha val="5000"/>
                </a:srgbClr>
              </a:gs>
            </a:gsLst>
            <a:lin ang="2700000" scaled="1"/>
          </a:gradFill>
          <a:ln w="25400">
            <a:solidFill>
              <a:srgbClr val="4FD1C5">
                <a:alpha val="5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6256" y="29527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63103" y="57076"/>
                </a:moveTo>
                <a:lnTo>
                  <a:pt x="56145" y="50118"/>
                </a:lnTo>
                <a:cubicBezTo>
                  <a:pt x="51495" y="45467"/>
                  <a:pt x="51495" y="37914"/>
                  <a:pt x="56145" y="33263"/>
                </a:cubicBezTo>
                <a:lnTo>
                  <a:pt x="98822" y="-9451"/>
                </a:lnTo>
                <a:cubicBezTo>
                  <a:pt x="103473" y="-14101"/>
                  <a:pt x="111026" y="-14101"/>
                  <a:pt x="115677" y="-9451"/>
                </a:cubicBezTo>
                <a:lnTo>
                  <a:pt x="122634" y="-2456"/>
                </a:lnTo>
                <a:cubicBezTo>
                  <a:pt x="127285" y="2195"/>
                  <a:pt x="127285" y="9748"/>
                  <a:pt x="122634" y="14399"/>
                </a:cubicBezTo>
                <a:lnTo>
                  <a:pt x="79958" y="57076"/>
                </a:lnTo>
                <a:cubicBezTo>
                  <a:pt x="75307" y="61726"/>
                  <a:pt x="67754" y="61726"/>
                  <a:pt x="63103" y="57076"/>
                </a:cubicBezTo>
                <a:close/>
                <a:moveTo>
                  <a:pt x="102691" y="78767"/>
                </a:moveTo>
                <a:lnTo>
                  <a:pt x="91008" y="67084"/>
                </a:lnTo>
                <a:lnTo>
                  <a:pt x="132680" y="25412"/>
                </a:lnTo>
                <a:lnTo>
                  <a:pt x="177105" y="69838"/>
                </a:lnTo>
                <a:lnTo>
                  <a:pt x="135434" y="111509"/>
                </a:lnTo>
                <a:lnTo>
                  <a:pt x="123751" y="99826"/>
                </a:lnTo>
                <a:lnTo>
                  <a:pt x="37430" y="186147"/>
                </a:lnTo>
                <a:cubicBezTo>
                  <a:pt x="31626" y="191951"/>
                  <a:pt x="22213" y="191951"/>
                  <a:pt x="16371" y="186147"/>
                </a:cubicBezTo>
                <a:cubicBezTo>
                  <a:pt x="10530" y="180342"/>
                  <a:pt x="10567" y="170929"/>
                  <a:pt x="16371" y="165088"/>
                </a:cubicBezTo>
                <a:lnTo>
                  <a:pt x="102691" y="78767"/>
                </a:lnTo>
                <a:close/>
                <a:moveTo>
                  <a:pt x="145442" y="139378"/>
                </a:moveTo>
                <a:cubicBezTo>
                  <a:pt x="140791" y="134727"/>
                  <a:pt x="140791" y="127174"/>
                  <a:pt x="145442" y="122523"/>
                </a:cubicBezTo>
                <a:lnTo>
                  <a:pt x="188119" y="79846"/>
                </a:lnTo>
                <a:cubicBezTo>
                  <a:pt x="192770" y="75195"/>
                  <a:pt x="200323" y="75195"/>
                  <a:pt x="204974" y="79846"/>
                </a:cubicBezTo>
                <a:lnTo>
                  <a:pt x="211931" y="86804"/>
                </a:lnTo>
                <a:cubicBezTo>
                  <a:pt x="216582" y="91455"/>
                  <a:pt x="216582" y="99008"/>
                  <a:pt x="211931" y="103659"/>
                </a:cubicBezTo>
                <a:lnTo>
                  <a:pt x="169255" y="146372"/>
                </a:lnTo>
                <a:cubicBezTo>
                  <a:pt x="164604" y="151023"/>
                  <a:pt x="157051" y="151023"/>
                  <a:pt x="152400" y="146372"/>
                </a:cubicBezTo>
                <a:lnTo>
                  <a:pt x="145442" y="139415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5" name="Text 33"/>
          <p:cNvSpPr/>
          <p:nvPr/>
        </p:nvSpPr>
        <p:spPr>
          <a:xfrm>
            <a:off x="828675" y="2933700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judge-service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14350" y="3238500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评测服务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14350" y="3505200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判题调度：</a:t>
            </a: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任务分发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14350" y="3695700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沙箱管理：</a:t>
            </a: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Docker隔离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14350" y="3886200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结果判定：</a:t>
            </a: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AC/WA/RE等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276600" y="2809875"/>
            <a:ext cx="2752725" cy="1352550"/>
          </a:xfrm>
          <a:custGeom>
            <a:avLst/>
            <a:gdLst/>
            <a:ahLst/>
            <a:cxnLst/>
            <a:rect l="l" t="t" r="r" b="b"/>
            <a:pathLst>
              <a:path w="2752725" h="1352550">
                <a:moveTo>
                  <a:pt x="76203" y="0"/>
                </a:moveTo>
                <a:lnTo>
                  <a:pt x="2676522" y="0"/>
                </a:lnTo>
                <a:cubicBezTo>
                  <a:pt x="2718608" y="0"/>
                  <a:pt x="2752725" y="34117"/>
                  <a:pt x="2752725" y="76203"/>
                </a:cubicBezTo>
                <a:lnTo>
                  <a:pt x="2752725" y="1276347"/>
                </a:lnTo>
                <a:cubicBezTo>
                  <a:pt x="2752725" y="1318433"/>
                  <a:pt x="2718608" y="1352550"/>
                  <a:pt x="2676522" y="1352550"/>
                </a:cubicBezTo>
                <a:lnTo>
                  <a:pt x="76203" y="1352550"/>
                </a:lnTo>
                <a:cubicBezTo>
                  <a:pt x="34117" y="1352550"/>
                  <a:pt x="0" y="1318433"/>
                  <a:pt x="0" y="12763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F6AD55">
                  <a:alpha val="5000"/>
                </a:srgbClr>
              </a:gs>
            </a:gsLst>
            <a:lin ang="2700000" scaled="1"/>
          </a:gradFill>
          <a:ln w="25400">
            <a:solidFill>
              <a:srgbClr val="F6AD55">
                <a:alpha val="5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48050" y="29527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47625" y="95250"/>
                </a:move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ubicBezTo>
                  <a:pt x="42290" y="107156"/>
                  <a:pt x="47625" y="101821"/>
                  <a:pt x="47625" y="95250"/>
                </a:cubicBezTo>
                <a:close/>
                <a:moveTo>
                  <a:pt x="59531" y="95250"/>
                </a:moveTo>
                <a:cubicBezTo>
                  <a:pt x="59531" y="100199"/>
                  <a:pt x="63512" y="104180"/>
                  <a:pt x="68461" y="104180"/>
                </a:cubicBezTo>
                <a:lnTo>
                  <a:pt x="110133" y="104180"/>
                </a:lnTo>
                <a:cubicBezTo>
                  <a:pt x="115081" y="104180"/>
                  <a:pt x="119063" y="100199"/>
                  <a:pt x="119063" y="95250"/>
                </a:cubicBezTo>
                <a:cubicBezTo>
                  <a:pt x="119063" y="90301"/>
                  <a:pt x="115081" y="86320"/>
                  <a:pt x="110133" y="86320"/>
                </a:cubicBezTo>
                <a:lnTo>
                  <a:pt x="68461" y="86320"/>
                </a:lnTo>
                <a:cubicBezTo>
                  <a:pt x="63512" y="86320"/>
                  <a:pt x="59531" y="90301"/>
                  <a:pt x="59531" y="95250"/>
                </a:cubicBezTo>
                <a:close/>
                <a:moveTo>
                  <a:pt x="59531" y="142875"/>
                </a:moveTo>
                <a:cubicBezTo>
                  <a:pt x="59531" y="147824"/>
                  <a:pt x="63512" y="151805"/>
                  <a:pt x="68461" y="151805"/>
                </a:cubicBezTo>
                <a:lnTo>
                  <a:pt x="110133" y="151805"/>
                </a:lnTo>
                <a:cubicBezTo>
                  <a:pt x="115081" y="151805"/>
                  <a:pt x="119063" y="147824"/>
                  <a:pt x="119063" y="142875"/>
                </a:cubicBezTo>
                <a:cubicBezTo>
                  <a:pt x="119063" y="137926"/>
                  <a:pt x="115081" y="133945"/>
                  <a:pt x="110133" y="133945"/>
                </a:cubicBezTo>
                <a:lnTo>
                  <a:pt x="68461" y="133945"/>
                </a:lnTo>
                <a:cubicBezTo>
                  <a:pt x="63512" y="133945"/>
                  <a:pt x="59531" y="137926"/>
                  <a:pt x="59531" y="142875"/>
                </a:cubicBezTo>
                <a:close/>
                <a:moveTo>
                  <a:pt x="35719" y="154781"/>
                </a:moveTo>
                <a:cubicBezTo>
                  <a:pt x="42290" y="154781"/>
                  <a:pt x="47625" y="149446"/>
                  <a:pt x="47625" y="142875"/>
                </a:cubicBezTo>
                <a:cubicBezTo>
                  <a:pt x="47625" y="136304"/>
                  <a:pt x="42290" y="130969"/>
                  <a:pt x="35719" y="130969"/>
                </a:cubicBezTo>
                <a:cubicBezTo>
                  <a:pt x="29148" y="130969"/>
                  <a:pt x="23812" y="136304"/>
                  <a:pt x="23812" y="142875"/>
                </a:cubicBezTo>
                <a:cubicBezTo>
                  <a:pt x="23812" y="149446"/>
                  <a:pt x="29148" y="154781"/>
                  <a:pt x="35719" y="154781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2" name="Text 40"/>
          <p:cNvSpPr/>
          <p:nvPr/>
        </p:nvSpPr>
        <p:spPr>
          <a:xfrm>
            <a:off x="3714750" y="2933700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training-service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400425" y="3238500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训练服务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400425" y="3505200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训练计划：</a:t>
            </a: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创建、发布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400425" y="3695700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竞赛管理：</a:t>
            </a: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报名、进行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400425" y="3886200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排行榜：</a:t>
            </a: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实时排名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62675" y="2809875"/>
            <a:ext cx="2752725" cy="1352550"/>
          </a:xfrm>
          <a:custGeom>
            <a:avLst/>
            <a:gdLst/>
            <a:ahLst/>
            <a:cxnLst/>
            <a:rect l="l" t="t" r="r" b="b"/>
            <a:pathLst>
              <a:path w="2752725" h="1352550">
                <a:moveTo>
                  <a:pt x="76203" y="0"/>
                </a:moveTo>
                <a:lnTo>
                  <a:pt x="2676522" y="0"/>
                </a:lnTo>
                <a:cubicBezTo>
                  <a:pt x="2718608" y="0"/>
                  <a:pt x="2752725" y="34117"/>
                  <a:pt x="2752725" y="76203"/>
                </a:cubicBezTo>
                <a:lnTo>
                  <a:pt x="2752725" y="1276347"/>
                </a:lnTo>
                <a:cubicBezTo>
                  <a:pt x="2752725" y="1318433"/>
                  <a:pt x="2718608" y="1352550"/>
                  <a:pt x="2676522" y="1352550"/>
                </a:cubicBezTo>
                <a:lnTo>
                  <a:pt x="76203" y="1352550"/>
                </a:lnTo>
                <a:cubicBezTo>
                  <a:pt x="34117" y="1352550"/>
                  <a:pt x="0" y="1318433"/>
                  <a:pt x="0" y="12763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4FD1C5">
                  <a:alpha val="5000"/>
                </a:srgbClr>
              </a:gs>
            </a:gsLst>
            <a:lin ang="2700000" scaled="1"/>
          </a:gradFill>
          <a:ln w="25400">
            <a:solidFill>
              <a:srgbClr val="4FD1C5">
                <a:alpha val="5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98406" y="29527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9" name="Text 47"/>
          <p:cNvSpPr/>
          <p:nvPr/>
        </p:nvSpPr>
        <p:spPr>
          <a:xfrm>
            <a:off x="6600825" y="2933700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analytics-service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86500" y="3238500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分析服务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286500" y="3505200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数据统计：</a:t>
            </a: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提交量、通过率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286500" y="3695700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学习画像：</a:t>
            </a: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能力雷达图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286500" y="3886200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薄弱点分析：</a:t>
            </a: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识别弱点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048750" y="2809875"/>
            <a:ext cx="2752725" cy="1352550"/>
          </a:xfrm>
          <a:custGeom>
            <a:avLst/>
            <a:gdLst/>
            <a:ahLst/>
            <a:cxnLst/>
            <a:rect l="l" t="t" r="r" b="b"/>
            <a:pathLst>
              <a:path w="2752725" h="1352550">
                <a:moveTo>
                  <a:pt x="76203" y="0"/>
                </a:moveTo>
                <a:lnTo>
                  <a:pt x="2676522" y="0"/>
                </a:lnTo>
                <a:cubicBezTo>
                  <a:pt x="2718608" y="0"/>
                  <a:pt x="2752725" y="34117"/>
                  <a:pt x="2752725" y="76203"/>
                </a:cubicBezTo>
                <a:lnTo>
                  <a:pt x="2752725" y="1276347"/>
                </a:lnTo>
                <a:cubicBezTo>
                  <a:pt x="2752725" y="1318433"/>
                  <a:pt x="2718608" y="1352550"/>
                  <a:pt x="2676522" y="1352550"/>
                </a:cubicBezTo>
                <a:lnTo>
                  <a:pt x="76203" y="1352550"/>
                </a:lnTo>
                <a:cubicBezTo>
                  <a:pt x="34117" y="1352550"/>
                  <a:pt x="0" y="1318433"/>
                  <a:pt x="0" y="12763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F6AD55">
                  <a:alpha val="5000"/>
                </a:srgbClr>
              </a:gs>
            </a:gsLst>
            <a:lin ang="2700000" scaled="1"/>
          </a:gradFill>
          <a:ln w="25400">
            <a:solidFill>
              <a:srgbClr val="F6AD55">
                <a:alpha val="5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184481" y="29527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6" name="Text 54"/>
          <p:cNvSpPr/>
          <p:nvPr/>
        </p:nvSpPr>
        <p:spPr>
          <a:xfrm>
            <a:off x="9486900" y="2933700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ops-service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172575" y="3238500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运维服务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172575" y="3505200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系统配置：</a:t>
            </a: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参数管理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172575" y="3695700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公告管理：</a:t>
            </a: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发布通知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172575" y="3886200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系统监控：</a:t>
            </a: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健康检查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85763" y="4329113"/>
            <a:ext cx="11420475" cy="1381125"/>
          </a:xfrm>
          <a:custGeom>
            <a:avLst/>
            <a:gdLst/>
            <a:ahLst/>
            <a:cxnLst/>
            <a:rect l="l" t="t" r="r" b="b"/>
            <a:pathLst>
              <a:path w="11420475" h="1381125">
                <a:moveTo>
                  <a:pt x="76197" y="0"/>
                </a:moveTo>
                <a:lnTo>
                  <a:pt x="11344278" y="0"/>
                </a:lnTo>
                <a:cubicBezTo>
                  <a:pt x="11386361" y="0"/>
                  <a:pt x="11420475" y="34114"/>
                  <a:pt x="11420475" y="76197"/>
                </a:cubicBezTo>
                <a:lnTo>
                  <a:pt x="11420475" y="1304928"/>
                </a:lnTo>
                <a:cubicBezTo>
                  <a:pt x="11420475" y="1347011"/>
                  <a:pt x="11386361" y="1381125"/>
                  <a:pt x="11344278" y="1381125"/>
                </a:cubicBezTo>
                <a:lnTo>
                  <a:pt x="76197" y="1381125"/>
                </a:lnTo>
                <a:cubicBezTo>
                  <a:pt x="34114" y="1381125"/>
                  <a:pt x="0" y="1347011"/>
                  <a:pt x="0" y="130492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F6AD55">
                  <a:alpha val="20000"/>
                </a:srgbClr>
              </a:gs>
            </a:gsLst>
            <a:lin ang="0" scaled="1"/>
          </a:gra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8638" y="44958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3" name="Text 61"/>
          <p:cNvSpPr/>
          <p:nvPr/>
        </p:nvSpPr>
        <p:spPr>
          <a:xfrm>
            <a:off x="723900" y="4448175"/>
            <a:ext cx="1104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微服务架构优势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504825" y="4829175"/>
            <a:ext cx="2714625" cy="762000"/>
          </a:xfrm>
          <a:custGeom>
            <a:avLst/>
            <a:gdLst/>
            <a:ahLst/>
            <a:cxnLst/>
            <a:rect l="l" t="t" r="r" b="b"/>
            <a:pathLst>
              <a:path w="2714625" h="76200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723900"/>
                </a:lnTo>
                <a:cubicBezTo>
                  <a:pt x="2714625" y="744928"/>
                  <a:pt x="2697553" y="762000"/>
                  <a:pt x="267652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745456" y="4905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6802" y="-580"/>
                </a:moveTo>
                <a:cubicBezTo>
                  <a:pt x="119077" y="-5045"/>
                  <a:pt x="109523" y="-5045"/>
                  <a:pt x="101798" y="-580"/>
                </a:cubicBezTo>
                <a:lnTo>
                  <a:pt x="64204" y="21119"/>
                </a:lnTo>
                <a:cubicBezTo>
                  <a:pt x="56480" y="25584"/>
                  <a:pt x="51703" y="33844"/>
                  <a:pt x="51703" y="42773"/>
                </a:cubicBezTo>
                <a:lnTo>
                  <a:pt x="51703" y="88270"/>
                </a:lnTo>
                <a:lnTo>
                  <a:pt x="12278" y="111041"/>
                </a:lnTo>
                <a:cubicBezTo>
                  <a:pt x="4554" y="115506"/>
                  <a:pt x="-223" y="123765"/>
                  <a:pt x="-223" y="132695"/>
                </a:cubicBezTo>
                <a:lnTo>
                  <a:pt x="-223" y="176138"/>
                </a:lnTo>
                <a:cubicBezTo>
                  <a:pt x="-223" y="185068"/>
                  <a:pt x="4554" y="193328"/>
                  <a:pt x="12278" y="197793"/>
                </a:cubicBezTo>
                <a:lnTo>
                  <a:pt x="49917" y="219492"/>
                </a:lnTo>
                <a:cubicBezTo>
                  <a:pt x="57641" y="223957"/>
                  <a:pt x="67196" y="223957"/>
                  <a:pt x="74920" y="219492"/>
                </a:cubicBezTo>
                <a:lnTo>
                  <a:pt x="114345" y="196721"/>
                </a:lnTo>
                <a:lnTo>
                  <a:pt x="153769" y="219492"/>
                </a:lnTo>
                <a:cubicBezTo>
                  <a:pt x="161493" y="223957"/>
                  <a:pt x="171048" y="223957"/>
                  <a:pt x="178772" y="219492"/>
                </a:cubicBezTo>
                <a:lnTo>
                  <a:pt x="216322" y="197793"/>
                </a:lnTo>
                <a:cubicBezTo>
                  <a:pt x="224046" y="193328"/>
                  <a:pt x="228823" y="185068"/>
                  <a:pt x="228823" y="176138"/>
                </a:cubicBezTo>
                <a:lnTo>
                  <a:pt x="228823" y="132695"/>
                </a:lnTo>
                <a:cubicBezTo>
                  <a:pt x="228823" y="123765"/>
                  <a:pt x="224046" y="115506"/>
                  <a:pt x="216322" y="111041"/>
                </a:cubicBezTo>
                <a:lnTo>
                  <a:pt x="176897" y="88270"/>
                </a:lnTo>
                <a:lnTo>
                  <a:pt x="176897" y="42773"/>
                </a:lnTo>
                <a:cubicBezTo>
                  <a:pt x="176897" y="33844"/>
                  <a:pt x="172120" y="25584"/>
                  <a:pt x="164396" y="21119"/>
                </a:cubicBezTo>
                <a:lnTo>
                  <a:pt x="126802" y="-580"/>
                </a:lnTo>
                <a:close/>
                <a:moveTo>
                  <a:pt x="103584" y="130641"/>
                </a:moveTo>
                <a:lnTo>
                  <a:pt x="103584" y="178192"/>
                </a:lnTo>
                <a:lnTo>
                  <a:pt x="64160" y="200963"/>
                </a:lnTo>
                <a:cubicBezTo>
                  <a:pt x="63624" y="201275"/>
                  <a:pt x="62999" y="201454"/>
                  <a:pt x="62374" y="201454"/>
                </a:cubicBezTo>
                <a:lnTo>
                  <a:pt x="62374" y="154439"/>
                </a:lnTo>
                <a:lnTo>
                  <a:pt x="103584" y="130641"/>
                </a:lnTo>
                <a:close/>
                <a:moveTo>
                  <a:pt x="206901" y="130909"/>
                </a:moveTo>
                <a:cubicBezTo>
                  <a:pt x="207213" y="131445"/>
                  <a:pt x="207392" y="132070"/>
                  <a:pt x="207392" y="132695"/>
                </a:cubicBezTo>
                <a:lnTo>
                  <a:pt x="207392" y="176138"/>
                </a:lnTo>
                <a:cubicBezTo>
                  <a:pt x="207392" y="177433"/>
                  <a:pt x="206722" y="178594"/>
                  <a:pt x="205606" y="179219"/>
                </a:cubicBezTo>
                <a:lnTo>
                  <a:pt x="167967" y="200918"/>
                </a:lnTo>
                <a:cubicBezTo>
                  <a:pt x="167432" y="201231"/>
                  <a:pt x="166807" y="201409"/>
                  <a:pt x="166181" y="201409"/>
                </a:cubicBezTo>
                <a:lnTo>
                  <a:pt x="166181" y="154394"/>
                </a:lnTo>
                <a:lnTo>
                  <a:pt x="206901" y="130909"/>
                </a:lnTo>
                <a:close/>
                <a:moveTo>
                  <a:pt x="155511" y="42773"/>
                </a:moveTo>
                <a:lnTo>
                  <a:pt x="155511" y="88270"/>
                </a:lnTo>
                <a:lnTo>
                  <a:pt x="114300" y="112068"/>
                </a:lnTo>
                <a:lnTo>
                  <a:pt x="114300" y="64517"/>
                </a:lnTo>
                <a:lnTo>
                  <a:pt x="155019" y="41032"/>
                </a:lnTo>
                <a:cubicBezTo>
                  <a:pt x="155332" y="41568"/>
                  <a:pt x="155511" y="42193"/>
                  <a:pt x="155511" y="42818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6" name="Text 64"/>
          <p:cNvSpPr/>
          <p:nvPr/>
        </p:nvSpPr>
        <p:spPr>
          <a:xfrm>
            <a:off x="547688" y="5172075"/>
            <a:ext cx="2628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服务独立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552450" y="5362575"/>
            <a:ext cx="261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独立开发部署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3328988" y="4829175"/>
            <a:ext cx="2714625" cy="762000"/>
          </a:xfrm>
          <a:custGeom>
            <a:avLst/>
            <a:gdLst/>
            <a:ahLst/>
            <a:cxnLst/>
            <a:rect l="l" t="t" r="r" b="b"/>
            <a:pathLst>
              <a:path w="2714625" h="76200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723900"/>
                </a:lnTo>
                <a:cubicBezTo>
                  <a:pt x="2714625" y="744928"/>
                  <a:pt x="2697553" y="762000"/>
                  <a:pt x="267652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4583906" y="49053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5009" y="14288"/>
                </a:moveTo>
                <a:lnTo>
                  <a:pt x="10716" y="14288"/>
                </a:lnTo>
                <a:cubicBezTo>
                  <a:pt x="4777" y="14288"/>
                  <a:pt x="0" y="19065"/>
                  <a:pt x="0" y="25003"/>
                </a:cubicBezTo>
                <a:lnTo>
                  <a:pt x="0" y="89297"/>
                </a:lnTo>
                <a:cubicBezTo>
                  <a:pt x="0" y="93628"/>
                  <a:pt x="2590" y="97557"/>
                  <a:pt x="6608" y="99209"/>
                </a:cubicBezTo>
                <a:cubicBezTo>
                  <a:pt x="10626" y="100861"/>
                  <a:pt x="15225" y="99923"/>
                  <a:pt x="18306" y="96887"/>
                </a:cubicBezTo>
                <a:lnTo>
                  <a:pt x="36165" y="79028"/>
                </a:lnTo>
                <a:lnTo>
                  <a:pt x="71438" y="114300"/>
                </a:lnTo>
                <a:lnTo>
                  <a:pt x="36165" y="149572"/>
                </a:lnTo>
                <a:lnTo>
                  <a:pt x="18306" y="131713"/>
                </a:lnTo>
                <a:cubicBezTo>
                  <a:pt x="15225" y="128632"/>
                  <a:pt x="10626" y="127739"/>
                  <a:pt x="6608" y="129391"/>
                </a:cubicBezTo>
                <a:cubicBezTo>
                  <a:pt x="2590" y="131043"/>
                  <a:pt x="0" y="134972"/>
                  <a:pt x="0" y="139303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lnTo>
                  <a:pt x="75009" y="214313"/>
                </a:lnTo>
                <a:cubicBezTo>
                  <a:pt x="79340" y="214313"/>
                  <a:pt x="83269" y="211723"/>
                  <a:pt x="84921" y="207705"/>
                </a:cubicBezTo>
                <a:cubicBezTo>
                  <a:pt x="86573" y="203686"/>
                  <a:pt x="85680" y="199087"/>
                  <a:pt x="82600" y="196007"/>
                </a:cubicBezTo>
                <a:lnTo>
                  <a:pt x="64740" y="178147"/>
                </a:lnTo>
                <a:lnTo>
                  <a:pt x="100013" y="142875"/>
                </a:lnTo>
                <a:lnTo>
                  <a:pt x="135285" y="178147"/>
                </a:lnTo>
                <a:lnTo>
                  <a:pt x="117425" y="196007"/>
                </a:lnTo>
                <a:cubicBezTo>
                  <a:pt x="114345" y="199087"/>
                  <a:pt x="113452" y="203686"/>
                  <a:pt x="115104" y="207705"/>
                </a:cubicBezTo>
                <a:cubicBezTo>
                  <a:pt x="116756" y="211723"/>
                  <a:pt x="120685" y="214313"/>
                  <a:pt x="125016" y="214313"/>
                </a:cubicBezTo>
                <a:lnTo>
                  <a:pt x="189309" y="214313"/>
                </a:lnTo>
                <a:cubicBezTo>
                  <a:pt x="195248" y="214313"/>
                  <a:pt x="200025" y="209535"/>
                  <a:pt x="200025" y="203597"/>
                </a:cubicBezTo>
                <a:lnTo>
                  <a:pt x="200025" y="139303"/>
                </a:lnTo>
                <a:cubicBezTo>
                  <a:pt x="200025" y="134972"/>
                  <a:pt x="197435" y="131043"/>
                  <a:pt x="193417" y="129391"/>
                </a:cubicBezTo>
                <a:cubicBezTo>
                  <a:pt x="189399" y="127739"/>
                  <a:pt x="184800" y="128632"/>
                  <a:pt x="181719" y="131713"/>
                </a:cubicBezTo>
                <a:lnTo>
                  <a:pt x="163860" y="149572"/>
                </a:lnTo>
                <a:lnTo>
                  <a:pt x="128588" y="114300"/>
                </a:lnTo>
                <a:lnTo>
                  <a:pt x="163860" y="79028"/>
                </a:lnTo>
                <a:lnTo>
                  <a:pt x="181719" y="96887"/>
                </a:lnTo>
                <a:cubicBezTo>
                  <a:pt x="184800" y="99968"/>
                  <a:pt x="189399" y="100861"/>
                  <a:pt x="193417" y="99209"/>
                </a:cubicBezTo>
                <a:cubicBezTo>
                  <a:pt x="197435" y="97557"/>
                  <a:pt x="200025" y="93628"/>
                  <a:pt x="200025" y="89297"/>
                </a:cubicBezTo>
                <a:lnTo>
                  <a:pt x="200025" y="25003"/>
                </a:lnTo>
                <a:cubicBezTo>
                  <a:pt x="200025" y="19065"/>
                  <a:pt x="195248" y="14288"/>
                  <a:pt x="189309" y="14288"/>
                </a:cubicBezTo>
                <a:lnTo>
                  <a:pt x="125016" y="14288"/>
                </a:lnTo>
                <a:cubicBezTo>
                  <a:pt x="120685" y="14288"/>
                  <a:pt x="116756" y="16877"/>
                  <a:pt x="115104" y="20895"/>
                </a:cubicBezTo>
                <a:cubicBezTo>
                  <a:pt x="113452" y="24914"/>
                  <a:pt x="114389" y="29513"/>
                  <a:pt x="117425" y="32593"/>
                </a:cubicBezTo>
                <a:lnTo>
                  <a:pt x="135285" y="50453"/>
                </a:lnTo>
                <a:lnTo>
                  <a:pt x="100013" y="85725"/>
                </a:lnTo>
                <a:lnTo>
                  <a:pt x="64740" y="50453"/>
                </a:lnTo>
                <a:lnTo>
                  <a:pt x="82600" y="32593"/>
                </a:lnTo>
                <a:cubicBezTo>
                  <a:pt x="85680" y="29513"/>
                  <a:pt x="86573" y="24914"/>
                  <a:pt x="84921" y="20895"/>
                </a:cubicBezTo>
                <a:cubicBezTo>
                  <a:pt x="83269" y="16877"/>
                  <a:pt x="79340" y="14288"/>
                  <a:pt x="75009" y="14288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70" name="Text 68"/>
          <p:cNvSpPr/>
          <p:nvPr/>
        </p:nvSpPr>
        <p:spPr>
          <a:xfrm>
            <a:off x="3371850" y="5172075"/>
            <a:ext cx="2628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弹性伸缩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3376613" y="5362575"/>
            <a:ext cx="261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按需扩容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153150" y="4829175"/>
            <a:ext cx="2714625" cy="762000"/>
          </a:xfrm>
          <a:custGeom>
            <a:avLst/>
            <a:gdLst/>
            <a:ahLst/>
            <a:cxnLst/>
            <a:rect l="l" t="t" r="r" b="b"/>
            <a:pathLst>
              <a:path w="2714625" h="76200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723900"/>
                </a:lnTo>
                <a:cubicBezTo>
                  <a:pt x="2714625" y="744928"/>
                  <a:pt x="2697553" y="762000"/>
                  <a:pt x="267652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7393781" y="4905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4" name="Text 72"/>
          <p:cNvSpPr/>
          <p:nvPr/>
        </p:nvSpPr>
        <p:spPr>
          <a:xfrm>
            <a:off x="6196013" y="5172075"/>
            <a:ext cx="2628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故障隔离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200775" y="5362575"/>
            <a:ext cx="261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服务容错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977313" y="4829175"/>
            <a:ext cx="2714625" cy="762000"/>
          </a:xfrm>
          <a:custGeom>
            <a:avLst/>
            <a:gdLst/>
            <a:ahLst/>
            <a:cxnLst/>
            <a:rect l="l" t="t" r="r" b="b"/>
            <a:pathLst>
              <a:path w="2714625" h="76200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723900"/>
                </a:lnTo>
                <a:cubicBezTo>
                  <a:pt x="2714625" y="744928"/>
                  <a:pt x="2697553" y="762000"/>
                  <a:pt x="267652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10189369" y="490537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100013"/>
                </a:moveTo>
                <a:cubicBezTo>
                  <a:pt x="168503" y="100013"/>
                  <a:pt x="189309" y="79206"/>
                  <a:pt x="189309" y="53578"/>
                </a:cubicBezTo>
                <a:cubicBezTo>
                  <a:pt x="189309" y="27950"/>
                  <a:pt x="168503" y="7144"/>
                  <a:pt x="142875" y="7144"/>
                </a:cubicBezTo>
                <a:cubicBezTo>
                  <a:pt x="117247" y="7144"/>
                  <a:pt x="96441" y="27950"/>
                  <a:pt x="96441" y="53578"/>
                </a:cubicBezTo>
                <a:cubicBezTo>
                  <a:pt x="96441" y="79206"/>
                  <a:pt x="117247" y="100013"/>
                  <a:pt x="142875" y="100013"/>
                </a:cubicBezTo>
                <a:close/>
                <a:moveTo>
                  <a:pt x="42863" y="103584"/>
                </a:moveTo>
                <a:cubicBezTo>
                  <a:pt x="60605" y="103584"/>
                  <a:pt x="75009" y="89180"/>
                  <a:pt x="75009" y="71438"/>
                </a:cubicBezTo>
                <a:cubicBezTo>
                  <a:pt x="75009" y="53695"/>
                  <a:pt x="60605" y="39291"/>
                  <a:pt x="42863" y="39291"/>
                </a:cubicBezTo>
                <a:cubicBezTo>
                  <a:pt x="25120" y="39291"/>
                  <a:pt x="10716" y="53695"/>
                  <a:pt x="10716" y="71438"/>
                </a:cubicBezTo>
                <a:cubicBezTo>
                  <a:pt x="10716" y="89180"/>
                  <a:pt x="25120" y="103584"/>
                  <a:pt x="42862" y="103584"/>
                </a:cubicBezTo>
                <a:close/>
                <a:moveTo>
                  <a:pt x="0" y="185738"/>
                </a:moveTo>
                <a:lnTo>
                  <a:pt x="0" y="200025"/>
                </a:lnTo>
                <a:cubicBezTo>
                  <a:pt x="0" y="207928"/>
                  <a:pt x="6385" y="214313"/>
                  <a:pt x="14288" y="214313"/>
                </a:cubicBezTo>
                <a:lnTo>
                  <a:pt x="52998" y="214313"/>
                </a:lnTo>
                <a:cubicBezTo>
                  <a:pt x="51078" y="209937"/>
                  <a:pt x="50006" y="205115"/>
                  <a:pt x="50006" y="200025"/>
                </a:cubicBezTo>
                <a:lnTo>
                  <a:pt x="50006" y="192881"/>
                </a:lnTo>
                <a:cubicBezTo>
                  <a:pt x="50006" y="169128"/>
                  <a:pt x="58936" y="147429"/>
                  <a:pt x="73625" y="130999"/>
                </a:cubicBezTo>
                <a:cubicBezTo>
                  <a:pt x="68401" y="129436"/>
                  <a:pt x="62865" y="128588"/>
                  <a:pt x="57150" y="128588"/>
                </a:cubicBezTo>
                <a:cubicBezTo>
                  <a:pt x="25584" y="128588"/>
                  <a:pt x="0" y="154171"/>
                  <a:pt x="0" y="185738"/>
                </a:cubicBezTo>
                <a:close/>
                <a:moveTo>
                  <a:pt x="275034" y="71438"/>
                </a:moveTo>
                <a:cubicBezTo>
                  <a:pt x="275034" y="53695"/>
                  <a:pt x="260630" y="39291"/>
                  <a:pt x="242888" y="39291"/>
                </a:cubicBezTo>
                <a:cubicBezTo>
                  <a:pt x="225145" y="39291"/>
                  <a:pt x="210741" y="53695"/>
                  <a:pt x="210741" y="71438"/>
                </a:cubicBezTo>
                <a:cubicBezTo>
                  <a:pt x="210741" y="89180"/>
                  <a:pt x="225145" y="103584"/>
                  <a:pt x="242888" y="103584"/>
                </a:cubicBezTo>
                <a:cubicBezTo>
                  <a:pt x="260630" y="103584"/>
                  <a:pt x="275034" y="89180"/>
                  <a:pt x="275034" y="71438"/>
                </a:cubicBezTo>
                <a:close/>
                <a:moveTo>
                  <a:pt x="71438" y="192881"/>
                </a:moveTo>
                <a:lnTo>
                  <a:pt x="71438" y="200025"/>
                </a:lnTo>
                <a:cubicBezTo>
                  <a:pt x="71438" y="207928"/>
                  <a:pt x="77822" y="214313"/>
                  <a:pt x="85725" y="214313"/>
                </a:cubicBezTo>
                <a:lnTo>
                  <a:pt x="155734" y="214313"/>
                </a:lnTo>
                <a:cubicBezTo>
                  <a:pt x="152564" y="204668"/>
                  <a:pt x="152921" y="194489"/>
                  <a:pt x="160511" y="185738"/>
                </a:cubicBezTo>
                <a:cubicBezTo>
                  <a:pt x="154260" y="178504"/>
                  <a:pt x="151358" y="168012"/>
                  <a:pt x="155421" y="157475"/>
                </a:cubicBezTo>
                <a:cubicBezTo>
                  <a:pt x="158368" y="149840"/>
                  <a:pt x="162520" y="142696"/>
                  <a:pt x="167655" y="136356"/>
                </a:cubicBezTo>
                <a:cubicBezTo>
                  <a:pt x="170066" y="133410"/>
                  <a:pt x="172834" y="131132"/>
                  <a:pt x="175826" y="129480"/>
                </a:cubicBezTo>
                <a:cubicBezTo>
                  <a:pt x="165958" y="124346"/>
                  <a:pt x="154751" y="121444"/>
                  <a:pt x="142875" y="121444"/>
                </a:cubicBezTo>
                <a:cubicBezTo>
                  <a:pt x="103406" y="121444"/>
                  <a:pt x="71438" y="153412"/>
                  <a:pt x="71438" y="192881"/>
                </a:cubicBezTo>
                <a:close/>
                <a:moveTo>
                  <a:pt x="278874" y="173191"/>
                </a:moveTo>
                <a:cubicBezTo>
                  <a:pt x="281687" y="171584"/>
                  <a:pt x="283116" y="168235"/>
                  <a:pt x="281910" y="165155"/>
                </a:cubicBezTo>
                <a:cubicBezTo>
                  <a:pt x="279767" y="159618"/>
                  <a:pt x="276776" y="154394"/>
                  <a:pt x="273025" y="149796"/>
                </a:cubicBezTo>
                <a:cubicBezTo>
                  <a:pt x="270971" y="147251"/>
                  <a:pt x="267355" y="146804"/>
                  <a:pt x="264542" y="148456"/>
                </a:cubicBezTo>
                <a:cubicBezTo>
                  <a:pt x="254809" y="154082"/>
                  <a:pt x="242843" y="147206"/>
                  <a:pt x="242843" y="135910"/>
                </a:cubicBezTo>
                <a:cubicBezTo>
                  <a:pt x="242843" y="132651"/>
                  <a:pt x="240655" y="129748"/>
                  <a:pt x="237440" y="129257"/>
                </a:cubicBezTo>
                <a:cubicBezTo>
                  <a:pt x="231681" y="128364"/>
                  <a:pt x="225475" y="128364"/>
                  <a:pt x="219715" y="129257"/>
                </a:cubicBezTo>
                <a:cubicBezTo>
                  <a:pt x="216500" y="129748"/>
                  <a:pt x="214312" y="132651"/>
                  <a:pt x="214312" y="135910"/>
                </a:cubicBezTo>
                <a:cubicBezTo>
                  <a:pt x="214312" y="147161"/>
                  <a:pt x="202347" y="154082"/>
                  <a:pt x="192613" y="148456"/>
                </a:cubicBezTo>
                <a:cubicBezTo>
                  <a:pt x="189801" y="146849"/>
                  <a:pt x="186184" y="147295"/>
                  <a:pt x="184130" y="149796"/>
                </a:cubicBezTo>
                <a:cubicBezTo>
                  <a:pt x="180380" y="154394"/>
                  <a:pt x="177388" y="159618"/>
                  <a:pt x="175245" y="165155"/>
                </a:cubicBezTo>
                <a:cubicBezTo>
                  <a:pt x="174084" y="168191"/>
                  <a:pt x="175468" y="171539"/>
                  <a:pt x="178281" y="173147"/>
                </a:cubicBezTo>
                <a:cubicBezTo>
                  <a:pt x="188059" y="178772"/>
                  <a:pt x="188059" y="192569"/>
                  <a:pt x="178281" y="198239"/>
                </a:cubicBezTo>
                <a:cubicBezTo>
                  <a:pt x="175468" y="199846"/>
                  <a:pt x="174040" y="203195"/>
                  <a:pt x="175245" y="206231"/>
                </a:cubicBezTo>
                <a:cubicBezTo>
                  <a:pt x="177388" y="211768"/>
                  <a:pt x="180380" y="216991"/>
                  <a:pt x="184130" y="221590"/>
                </a:cubicBezTo>
                <a:cubicBezTo>
                  <a:pt x="186184" y="224135"/>
                  <a:pt x="189801" y="224582"/>
                  <a:pt x="192613" y="222930"/>
                </a:cubicBezTo>
                <a:cubicBezTo>
                  <a:pt x="202347" y="217304"/>
                  <a:pt x="214312" y="224224"/>
                  <a:pt x="214312" y="235476"/>
                </a:cubicBezTo>
                <a:cubicBezTo>
                  <a:pt x="214312" y="238735"/>
                  <a:pt x="216500" y="241637"/>
                  <a:pt x="219715" y="242128"/>
                </a:cubicBezTo>
                <a:cubicBezTo>
                  <a:pt x="225475" y="243021"/>
                  <a:pt x="231681" y="243021"/>
                  <a:pt x="237440" y="242128"/>
                </a:cubicBezTo>
                <a:cubicBezTo>
                  <a:pt x="240655" y="241637"/>
                  <a:pt x="242843" y="238735"/>
                  <a:pt x="242843" y="235476"/>
                </a:cubicBezTo>
                <a:cubicBezTo>
                  <a:pt x="242843" y="224224"/>
                  <a:pt x="254809" y="217304"/>
                  <a:pt x="264542" y="222930"/>
                </a:cubicBezTo>
                <a:cubicBezTo>
                  <a:pt x="267355" y="224537"/>
                  <a:pt x="270971" y="224091"/>
                  <a:pt x="273025" y="221590"/>
                </a:cubicBezTo>
                <a:cubicBezTo>
                  <a:pt x="276776" y="216991"/>
                  <a:pt x="279767" y="211768"/>
                  <a:pt x="281910" y="206231"/>
                </a:cubicBezTo>
                <a:cubicBezTo>
                  <a:pt x="283071" y="203195"/>
                  <a:pt x="281687" y="199846"/>
                  <a:pt x="278874" y="198239"/>
                </a:cubicBezTo>
                <a:cubicBezTo>
                  <a:pt x="269096" y="192613"/>
                  <a:pt x="269096" y="178817"/>
                  <a:pt x="278874" y="173147"/>
                </a:cubicBezTo>
                <a:close/>
                <a:moveTo>
                  <a:pt x="210741" y="185738"/>
                </a:moveTo>
                <a:cubicBezTo>
                  <a:pt x="210741" y="175881"/>
                  <a:pt x="218743" y="167878"/>
                  <a:pt x="228600" y="167878"/>
                </a:cubicBezTo>
                <a:cubicBezTo>
                  <a:pt x="238457" y="167878"/>
                  <a:pt x="246459" y="175881"/>
                  <a:pt x="246459" y="185738"/>
                </a:cubicBezTo>
                <a:cubicBezTo>
                  <a:pt x="246459" y="195594"/>
                  <a:pt x="238457" y="203597"/>
                  <a:pt x="228600" y="203597"/>
                </a:cubicBezTo>
                <a:cubicBezTo>
                  <a:pt x="218743" y="203597"/>
                  <a:pt x="210741" y="195594"/>
                  <a:pt x="210741" y="185738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78" name="Text 76"/>
          <p:cNvSpPr/>
          <p:nvPr/>
        </p:nvSpPr>
        <p:spPr>
          <a:xfrm>
            <a:off x="9020175" y="5172075"/>
            <a:ext cx="2628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团队自治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9024938" y="5362575"/>
            <a:ext cx="261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独立负责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1028700" cy="314325"/>
          </a:xfrm>
          <a:custGeom>
            <a:avLst/>
            <a:gdLst/>
            <a:ahLst/>
            <a:cxnLst/>
            <a:rect l="l" t="t" r="r" b="b"/>
            <a:pathLst>
              <a:path w="1028700" h="314325">
                <a:moveTo>
                  <a:pt x="38099" y="0"/>
                </a:moveTo>
                <a:lnTo>
                  <a:pt x="990601" y="0"/>
                </a:lnTo>
                <a:cubicBezTo>
                  <a:pt x="1011642" y="0"/>
                  <a:pt x="1028700" y="17058"/>
                  <a:pt x="1028700" y="38099"/>
                </a:cubicBezTo>
                <a:lnTo>
                  <a:pt x="1028700" y="276226"/>
                </a:lnTo>
                <a:cubicBezTo>
                  <a:pt x="1028700" y="297267"/>
                  <a:pt x="1011642" y="314325"/>
                  <a:pt x="990601" y="314325"/>
                </a:cubicBezTo>
                <a:lnTo>
                  <a:pt x="38099" y="314325"/>
                </a:lnTo>
                <a:cubicBezTo>
                  <a:pt x="17058" y="314325"/>
                  <a:pt x="0" y="297267"/>
                  <a:pt x="0" y="2762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4825" y="466725"/>
            <a:ext cx="8575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810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数据库设计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3381" y="13620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" name="Text 4"/>
          <p:cNvSpPr/>
          <p:nvPr/>
        </p:nvSpPr>
        <p:spPr>
          <a:xfrm>
            <a:off x="600075" y="1314450"/>
            <a:ext cx="3571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用户与组织域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657350"/>
            <a:ext cx="3705225" cy="571500"/>
          </a:xfrm>
          <a:custGeom>
            <a:avLst/>
            <a:gdLst/>
            <a:ahLst/>
            <a:cxnLst/>
            <a:rect l="l" t="t" r="r" b="b"/>
            <a:pathLst>
              <a:path w="3705225" h="571500">
                <a:moveTo>
                  <a:pt x="38102" y="0"/>
                </a:moveTo>
                <a:lnTo>
                  <a:pt x="3667123" y="0"/>
                </a:lnTo>
                <a:cubicBezTo>
                  <a:pt x="3688166" y="0"/>
                  <a:pt x="3705225" y="17059"/>
                  <a:pt x="3705225" y="38102"/>
                </a:cubicBezTo>
                <a:lnTo>
                  <a:pt x="3705225" y="533398"/>
                </a:lnTo>
                <a:cubicBezTo>
                  <a:pt x="3705225" y="554441"/>
                  <a:pt x="3688166" y="571500"/>
                  <a:pt x="36671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3550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user（用户表）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00250"/>
            <a:ext cx="3609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id, username, email, password, role_id, created_at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2305050"/>
            <a:ext cx="3705225" cy="571500"/>
          </a:xfrm>
          <a:custGeom>
            <a:avLst/>
            <a:gdLst/>
            <a:ahLst/>
            <a:cxnLst/>
            <a:rect l="l" t="t" r="r" b="b"/>
            <a:pathLst>
              <a:path w="3705225" h="571500">
                <a:moveTo>
                  <a:pt x="38102" y="0"/>
                </a:moveTo>
                <a:lnTo>
                  <a:pt x="3667123" y="0"/>
                </a:lnTo>
                <a:cubicBezTo>
                  <a:pt x="3688166" y="0"/>
                  <a:pt x="3705225" y="17059"/>
                  <a:pt x="3705225" y="38102"/>
                </a:cubicBezTo>
                <a:lnTo>
                  <a:pt x="3705225" y="533398"/>
                </a:lnTo>
                <a:cubicBezTo>
                  <a:pt x="3705225" y="554441"/>
                  <a:pt x="3688166" y="571500"/>
                  <a:pt x="36671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81250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role（角色表）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647950"/>
            <a:ext cx="3609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id, name, permissions, description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2952750"/>
            <a:ext cx="3705225" cy="571500"/>
          </a:xfrm>
          <a:custGeom>
            <a:avLst/>
            <a:gdLst/>
            <a:ahLst/>
            <a:cxnLst/>
            <a:rect l="l" t="t" r="r" b="b"/>
            <a:pathLst>
              <a:path w="3705225" h="571500">
                <a:moveTo>
                  <a:pt x="38102" y="0"/>
                </a:moveTo>
                <a:lnTo>
                  <a:pt x="3667123" y="0"/>
                </a:lnTo>
                <a:cubicBezTo>
                  <a:pt x="3688166" y="0"/>
                  <a:pt x="3705225" y="17059"/>
                  <a:pt x="3705225" y="38102"/>
                </a:cubicBezTo>
                <a:lnTo>
                  <a:pt x="3705225" y="533398"/>
                </a:lnTo>
                <a:cubicBezTo>
                  <a:pt x="3705225" y="554441"/>
                  <a:pt x="3688166" y="571500"/>
                  <a:pt x="36671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28950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user_role（关联表）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295650"/>
            <a:ext cx="3609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user_id, role_id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3600450"/>
            <a:ext cx="3705225" cy="571500"/>
          </a:xfrm>
          <a:custGeom>
            <a:avLst/>
            <a:gdLst/>
            <a:ahLst/>
            <a:cxnLst/>
            <a:rect l="l" t="t" r="r" b="b"/>
            <a:pathLst>
              <a:path w="3705225" h="571500">
                <a:moveTo>
                  <a:pt x="38102" y="0"/>
                </a:moveTo>
                <a:lnTo>
                  <a:pt x="3667123" y="0"/>
                </a:lnTo>
                <a:cubicBezTo>
                  <a:pt x="3688166" y="0"/>
                  <a:pt x="3705225" y="17059"/>
                  <a:pt x="3705225" y="38102"/>
                </a:cubicBezTo>
                <a:lnTo>
                  <a:pt x="3705225" y="533398"/>
                </a:lnTo>
                <a:cubicBezTo>
                  <a:pt x="3705225" y="554441"/>
                  <a:pt x="3688166" y="571500"/>
                  <a:pt x="36671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76650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school / department / class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3943350"/>
            <a:ext cx="3609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三级组织表：id, name, parent_id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65563" y="13620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85725" y="58936"/>
                </a:moveTo>
                <a:cubicBezTo>
                  <a:pt x="79798" y="58936"/>
                  <a:pt x="75009" y="63724"/>
                  <a:pt x="75009" y="69652"/>
                </a:cubicBezTo>
                <a:cubicBezTo>
                  <a:pt x="75009" y="74105"/>
                  <a:pt x="71426" y="77688"/>
                  <a:pt x="66973" y="77688"/>
                </a:cubicBezTo>
                <a:cubicBezTo>
                  <a:pt x="62519" y="77688"/>
                  <a:pt x="58936" y="74105"/>
                  <a:pt x="58936" y="69652"/>
                </a:cubicBezTo>
                <a:cubicBezTo>
                  <a:pt x="58936" y="54851"/>
                  <a:pt x="70924" y="42863"/>
                  <a:pt x="85725" y="42863"/>
                </a:cubicBezTo>
                <a:cubicBezTo>
                  <a:pt x="100526" y="42863"/>
                  <a:pt x="112514" y="54851"/>
                  <a:pt x="112514" y="69652"/>
                </a:cubicBezTo>
                <a:cubicBezTo>
                  <a:pt x="112514" y="85457"/>
                  <a:pt x="100459" y="92154"/>
                  <a:pt x="93762" y="94599"/>
                </a:cubicBezTo>
                <a:lnTo>
                  <a:pt x="93762" y="95871"/>
                </a:lnTo>
                <a:cubicBezTo>
                  <a:pt x="93762" y="100325"/>
                  <a:pt x="90179" y="103908"/>
                  <a:pt x="85725" y="103908"/>
                </a:cubicBezTo>
                <a:cubicBezTo>
                  <a:pt x="81271" y="103908"/>
                  <a:pt x="77688" y="100325"/>
                  <a:pt x="77688" y="95871"/>
                </a:cubicBezTo>
                <a:lnTo>
                  <a:pt x="77688" y="93159"/>
                </a:lnTo>
                <a:cubicBezTo>
                  <a:pt x="77688" y="86294"/>
                  <a:pt x="82644" y="81372"/>
                  <a:pt x="87768" y="79697"/>
                </a:cubicBezTo>
                <a:cubicBezTo>
                  <a:pt x="89911" y="78994"/>
                  <a:pt x="92188" y="77856"/>
                  <a:pt x="93862" y="76248"/>
                </a:cubicBezTo>
                <a:cubicBezTo>
                  <a:pt x="95302" y="74842"/>
                  <a:pt x="96441" y="72900"/>
                  <a:pt x="96441" y="69685"/>
                </a:cubicBezTo>
                <a:cubicBezTo>
                  <a:pt x="96441" y="63758"/>
                  <a:pt x="91652" y="58969"/>
                  <a:pt x="85725" y="58969"/>
                </a:cubicBezTo>
                <a:close/>
                <a:moveTo>
                  <a:pt x="75009" y="123230"/>
                </a:moveTo>
                <a:cubicBezTo>
                  <a:pt x="75009" y="117316"/>
                  <a:pt x="79811" y="112514"/>
                  <a:pt x="85725" y="112514"/>
                </a:cubicBezTo>
                <a:cubicBezTo>
                  <a:pt x="91639" y="112514"/>
                  <a:pt x="96441" y="117316"/>
                  <a:pt x="96441" y="123230"/>
                </a:cubicBezTo>
                <a:cubicBezTo>
                  <a:pt x="96441" y="129144"/>
                  <a:pt x="91639" y="133945"/>
                  <a:pt x="85725" y="133945"/>
                </a:cubicBezTo>
                <a:cubicBezTo>
                  <a:pt x="79811" y="133945"/>
                  <a:pt x="75009" y="129144"/>
                  <a:pt x="75009" y="12323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0" name="Text 18"/>
          <p:cNvSpPr/>
          <p:nvPr/>
        </p:nvSpPr>
        <p:spPr>
          <a:xfrm>
            <a:off x="4460825" y="1314450"/>
            <a:ext cx="3571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6AD5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题库域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41750" y="1657350"/>
            <a:ext cx="3705225" cy="571500"/>
          </a:xfrm>
          <a:custGeom>
            <a:avLst/>
            <a:gdLst/>
            <a:ahLst/>
            <a:cxnLst/>
            <a:rect l="l" t="t" r="r" b="b"/>
            <a:pathLst>
              <a:path w="3705225" h="571500">
                <a:moveTo>
                  <a:pt x="38102" y="0"/>
                </a:moveTo>
                <a:lnTo>
                  <a:pt x="3667123" y="0"/>
                </a:lnTo>
                <a:cubicBezTo>
                  <a:pt x="3688166" y="0"/>
                  <a:pt x="3705225" y="17059"/>
                  <a:pt x="3705225" y="38102"/>
                </a:cubicBezTo>
                <a:lnTo>
                  <a:pt x="3705225" y="533398"/>
                </a:lnTo>
                <a:cubicBezTo>
                  <a:pt x="3705225" y="554441"/>
                  <a:pt x="3688166" y="571500"/>
                  <a:pt x="36671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317950" y="1733550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problem（题目表）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17950" y="2000250"/>
            <a:ext cx="3609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id, title, description, difficulty, time_limit, memory_limit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41750" y="2305050"/>
            <a:ext cx="3705225" cy="571500"/>
          </a:xfrm>
          <a:custGeom>
            <a:avLst/>
            <a:gdLst/>
            <a:ahLst/>
            <a:cxnLst/>
            <a:rect l="l" t="t" r="r" b="b"/>
            <a:pathLst>
              <a:path w="3705225" h="571500">
                <a:moveTo>
                  <a:pt x="38102" y="0"/>
                </a:moveTo>
                <a:lnTo>
                  <a:pt x="3667123" y="0"/>
                </a:lnTo>
                <a:cubicBezTo>
                  <a:pt x="3688166" y="0"/>
                  <a:pt x="3705225" y="17059"/>
                  <a:pt x="3705225" y="38102"/>
                </a:cubicBezTo>
                <a:lnTo>
                  <a:pt x="3705225" y="533398"/>
                </a:lnTo>
                <a:cubicBezTo>
                  <a:pt x="3705225" y="554441"/>
                  <a:pt x="3688166" y="571500"/>
                  <a:pt x="36671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317950" y="2381250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problem_tag（标签表）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17950" y="2647950"/>
            <a:ext cx="3609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id, name, category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41750" y="2952750"/>
            <a:ext cx="3705225" cy="571500"/>
          </a:xfrm>
          <a:custGeom>
            <a:avLst/>
            <a:gdLst/>
            <a:ahLst/>
            <a:cxnLst/>
            <a:rect l="l" t="t" r="r" b="b"/>
            <a:pathLst>
              <a:path w="3705225" h="571500">
                <a:moveTo>
                  <a:pt x="38102" y="0"/>
                </a:moveTo>
                <a:lnTo>
                  <a:pt x="3667123" y="0"/>
                </a:lnTo>
                <a:cubicBezTo>
                  <a:pt x="3688166" y="0"/>
                  <a:pt x="3705225" y="17059"/>
                  <a:pt x="3705225" y="38102"/>
                </a:cubicBezTo>
                <a:lnTo>
                  <a:pt x="3705225" y="533398"/>
                </a:lnTo>
                <a:cubicBezTo>
                  <a:pt x="3705225" y="554441"/>
                  <a:pt x="3688166" y="571500"/>
                  <a:pt x="36671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317950" y="3028950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problem_tag_map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17950" y="3295650"/>
            <a:ext cx="3609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problem_id, tag_id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241750" y="3600450"/>
            <a:ext cx="3705225" cy="571500"/>
          </a:xfrm>
          <a:custGeom>
            <a:avLst/>
            <a:gdLst/>
            <a:ahLst/>
            <a:cxnLst/>
            <a:rect l="l" t="t" r="r" b="b"/>
            <a:pathLst>
              <a:path w="3705225" h="571500">
                <a:moveTo>
                  <a:pt x="38102" y="0"/>
                </a:moveTo>
                <a:lnTo>
                  <a:pt x="3667123" y="0"/>
                </a:lnTo>
                <a:cubicBezTo>
                  <a:pt x="3688166" y="0"/>
                  <a:pt x="3705225" y="17059"/>
                  <a:pt x="3705225" y="38102"/>
                </a:cubicBezTo>
                <a:lnTo>
                  <a:pt x="3705225" y="533398"/>
                </a:lnTo>
                <a:cubicBezTo>
                  <a:pt x="3705225" y="554441"/>
                  <a:pt x="3688166" y="571500"/>
                  <a:pt x="36671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317950" y="3676650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problem_testcase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317950" y="3943350"/>
            <a:ext cx="3609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id, problem_id, input, output, score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15598" y="13620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79621" y="-8807"/>
                </a:moveTo>
                <a:cubicBezTo>
                  <a:pt x="182902" y="-9979"/>
                  <a:pt x="186519" y="-9142"/>
                  <a:pt x="188997" y="-6697"/>
                </a:cubicBezTo>
                <a:cubicBezTo>
                  <a:pt x="191475" y="-4253"/>
                  <a:pt x="192278" y="-603"/>
                  <a:pt x="191106" y="2679"/>
                </a:cubicBezTo>
                <a:lnTo>
                  <a:pt x="131501" y="169072"/>
                </a:lnTo>
                <a:cubicBezTo>
                  <a:pt x="129826" y="173727"/>
                  <a:pt x="125440" y="176808"/>
                  <a:pt x="120517" y="176808"/>
                </a:cubicBezTo>
                <a:cubicBezTo>
                  <a:pt x="115762" y="176808"/>
                  <a:pt x="111476" y="173928"/>
                  <a:pt x="109701" y="169541"/>
                </a:cubicBezTo>
                <a:lnTo>
                  <a:pt x="88203" y="116633"/>
                </a:lnTo>
                <a:cubicBezTo>
                  <a:pt x="86696" y="112949"/>
                  <a:pt x="87366" y="108730"/>
                  <a:pt x="89944" y="105716"/>
                </a:cubicBezTo>
                <a:lnTo>
                  <a:pt x="121589" y="68078"/>
                </a:lnTo>
                <a:cubicBezTo>
                  <a:pt x="123297" y="66035"/>
                  <a:pt x="123163" y="63055"/>
                  <a:pt x="121287" y="61180"/>
                </a:cubicBezTo>
                <a:cubicBezTo>
                  <a:pt x="119412" y="59304"/>
                  <a:pt x="116398" y="59170"/>
                  <a:pt x="114389" y="60878"/>
                </a:cubicBezTo>
                <a:lnTo>
                  <a:pt x="76751" y="92456"/>
                </a:lnTo>
                <a:cubicBezTo>
                  <a:pt x="73703" y="95001"/>
                  <a:pt x="69518" y="95670"/>
                  <a:pt x="65834" y="94197"/>
                </a:cubicBezTo>
                <a:lnTo>
                  <a:pt x="12758" y="72598"/>
                </a:lnTo>
                <a:cubicBezTo>
                  <a:pt x="8372" y="70824"/>
                  <a:pt x="5492" y="66537"/>
                  <a:pt x="5492" y="61782"/>
                </a:cubicBezTo>
                <a:cubicBezTo>
                  <a:pt x="5492" y="56860"/>
                  <a:pt x="8573" y="52473"/>
                  <a:pt x="13227" y="50799"/>
                </a:cubicBezTo>
                <a:lnTo>
                  <a:pt x="179621" y="-8807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4" name="Text 32"/>
          <p:cNvSpPr/>
          <p:nvPr/>
        </p:nvSpPr>
        <p:spPr>
          <a:xfrm>
            <a:off x="8321576" y="1314450"/>
            <a:ext cx="3571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提交与评测域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02501" y="1657350"/>
            <a:ext cx="3705225" cy="571500"/>
          </a:xfrm>
          <a:custGeom>
            <a:avLst/>
            <a:gdLst/>
            <a:ahLst/>
            <a:cxnLst/>
            <a:rect l="l" t="t" r="r" b="b"/>
            <a:pathLst>
              <a:path w="3705225" h="571500">
                <a:moveTo>
                  <a:pt x="38102" y="0"/>
                </a:moveTo>
                <a:lnTo>
                  <a:pt x="3667123" y="0"/>
                </a:lnTo>
                <a:cubicBezTo>
                  <a:pt x="3688166" y="0"/>
                  <a:pt x="3705225" y="17059"/>
                  <a:pt x="3705225" y="38102"/>
                </a:cubicBezTo>
                <a:lnTo>
                  <a:pt x="3705225" y="533398"/>
                </a:lnTo>
                <a:cubicBezTo>
                  <a:pt x="3705225" y="554441"/>
                  <a:pt x="3688166" y="571500"/>
                  <a:pt x="36671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178701" y="1733550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submission（提交表）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178701" y="2000250"/>
            <a:ext cx="3609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id, user_id, problem_id, code, language, submit_time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02501" y="2305050"/>
            <a:ext cx="3705225" cy="571500"/>
          </a:xfrm>
          <a:custGeom>
            <a:avLst/>
            <a:gdLst/>
            <a:ahLst/>
            <a:cxnLst/>
            <a:rect l="l" t="t" r="r" b="b"/>
            <a:pathLst>
              <a:path w="3705225" h="571500">
                <a:moveTo>
                  <a:pt x="38102" y="0"/>
                </a:moveTo>
                <a:lnTo>
                  <a:pt x="3667123" y="0"/>
                </a:lnTo>
                <a:cubicBezTo>
                  <a:pt x="3688166" y="0"/>
                  <a:pt x="3705225" y="17059"/>
                  <a:pt x="3705225" y="38102"/>
                </a:cubicBezTo>
                <a:lnTo>
                  <a:pt x="3705225" y="533398"/>
                </a:lnTo>
                <a:cubicBezTo>
                  <a:pt x="3705225" y="554441"/>
                  <a:pt x="3688166" y="571500"/>
                  <a:pt x="36671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178701" y="2381250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judge_result（评测结果表）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178701" y="2647950"/>
            <a:ext cx="3609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id, submission_id, status, runtime, memory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26313" y="30384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8321" y="0"/>
                </a:moveTo>
                <a:lnTo>
                  <a:pt x="123330" y="0"/>
                </a:lnTo>
                <a:cubicBezTo>
                  <a:pt x="132204" y="0"/>
                  <a:pt x="139437" y="7300"/>
                  <a:pt x="139102" y="16140"/>
                </a:cubicBezTo>
                <a:cubicBezTo>
                  <a:pt x="139035" y="17915"/>
                  <a:pt x="138968" y="19690"/>
                  <a:pt x="138868" y="21431"/>
                </a:cubicBezTo>
                <a:lnTo>
                  <a:pt x="155477" y="21431"/>
                </a:lnTo>
                <a:cubicBezTo>
                  <a:pt x="164217" y="21431"/>
                  <a:pt x="171919" y="28664"/>
                  <a:pt x="171249" y="38107"/>
                </a:cubicBezTo>
                <a:cubicBezTo>
                  <a:pt x="168738" y="72833"/>
                  <a:pt x="150990" y="91920"/>
                  <a:pt x="131735" y="101899"/>
                </a:cubicBezTo>
                <a:cubicBezTo>
                  <a:pt x="126444" y="104645"/>
                  <a:pt x="121053" y="106687"/>
                  <a:pt x="115930" y="108194"/>
                </a:cubicBezTo>
                <a:cubicBezTo>
                  <a:pt x="109165" y="117771"/>
                  <a:pt x="102133" y="122828"/>
                  <a:pt x="96541" y="125540"/>
                </a:cubicBezTo>
                <a:lnTo>
                  <a:pt x="96541" y="150019"/>
                </a:lnTo>
                <a:lnTo>
                  <a:pt x="117972" y="150019"/>
                </a:lnTo>
                <a:cubicBezTo>
                  <a:pt x="123899" y="150019"/>
                  <a:pt x="128688" y="154807"/>
                  <a:pt x="128688" y="160734"/>
                </a:cubicBezTo>
                <a:cubicBezTo>
                  <a:pt x="128688" y="166661"/>
                  <a:pt x="123899" y="171450"/>
                  <a:pt x="117972" y="171450"/>
                </a:cubicBezTo>
                <a:lnTo>
                  <a:pt x="53679" y="171450"/>
                </a:lnTo>
                <a:cubicBezTo>
                  <a:pt x="47752" y="171450"/>
                  <a:pt x="42963" y="166661"/>
                  <a:pt x="42963" y="160734"/>
                </a:cubicBezTo>
                <a:cubicBezTo>
                  <a:pt x="42963" y="154807"/>
                  <a:pt x="47752" y="150019"/>
                  <a:pt x="53679" y="150019"/>
                </a:cubicBezTo>
                <a:lnTo>
                  <a:pt x="75110" y="150019"/>
                </a:lnTo>
                <a:lnTo>
                  <a:pt x="75110" y="125540"/>
                </a:lnTo>
                <a:cubicBezTo>
                  <a:pt x="69752" y="122962"/>
                  <a:pt x="63088" y="118173"/>
                  <a:pt x="56592" y="109366"/>
                </a:cubicBezTo>
                <a:cubicBezTo>
                  <a:pt x="50430" y="107759"/>
                  <a:pt x="43733" y="105315"/>
                  <a:pt x="37203" y="101631"/>
                </a:cubicBezTo>
                <a:cubicBezTo>
                  <a:pt x="19087" y="91485"/>
                  <a:pt x="2746" y="72364"/>
                  <a:pt x="402" y="38040"/>
                </a:cubicBezTo>
                <a:cubicBezTo>
                  <a:pt x="-234" y="28631"/>
                  <a:pt x="7434" y="21398"/>
                  <a:pt x="16174" y="21398"/>
                </a:cubicBezTo>
                <a:lnTo>
                  <a:pt x="32783" y="21398"/>
                </a:lnTo>
                <a:cubicBezTo>
                  <a:pt x="32683" y="19656"/>
                  <a:pt x="32616" y="17915"/>
                  <a:pt x="32549" y="16107"/>
                </a:cubicBezTo>
                <a:cubicBezTo>
                  <a:pt x="32214" y="7233"/>
                  <a:pt x="39447" y="-33"/>
                  <a:pt x="48321" y="-33"/>
                </a:cubicBezTo>
                <a:close/>
                <a:moveTo>
                  <a:pt x="33989" y="37505"/>
                </a:moveTo>
                <a:lnTo>
                  <a:pt x="16442" y="37505"/>
                </a:lnTo>
                <a:cubicBezTo>
                  <a:pt x="18518" y="65868"/>
                  <a:pt x="31544" y="80066"/>
                  <a:pt x="44972" y="87600"/>
                </a:cubicBezTo>
                <a:cubicBezTo>
                  <a:pt x="40150" y="75110"/>
                  <a:pt x="36165" y="58802"/>
                  <a:pt x="33989" y="37505"/>
                </a:cubicBezTo>
                <a:close/>
                <a:moveTo>
                  <a:pt x="127248" y="85993"/>
                </a:moveTo>
                <a:cubicBezTo>
                  <a:pt x="140810" y="78023"/>
                  <a:pt x="153066" y="63858"/>
                  <a:pt x="155142" y="37505"/>
                </a:cubicBezTo>
                <a:lnTo>
                  <a:pt x="137629" y="37505"/>
                </a:lnTo>
                <a:cubicBezTo>
                  <a:pt x="135553" y="57898"/>
                  <a:pt x="131802" y="73737"/>
                  <a:pt x="127248" y="85993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2" name="Text 40"/>
          <p:cNvSpPr/>
          <p:nvPr/>
        </p:nvSpPr>
        <p:spPr>
          <a:xfrm>
            <a:off x="8321576" y="2990850"/>
            <a:ext cx="3571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6AD5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训练与竞赛域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02501" y="3333750"/>
            <a:ext cx="3705225" cy="571500"/>
          </a:xfrm>
          <a:custGeom>
            <a:avLst/>
            <a:gdLst/>
            <a:ahLst/>
            <a:cxnLst/>
            <a:rect l="l" t="t" r="r" b="b"/>
            <a:pathLst>
              <a:path w="3705225" h="571500">
                <a:moveTo>
                  <a:pt x="38102" y="0"/>
                </a:moveTo>
                <a:lnTo>
                  <a:pt x="3667123" y="0"/>
                </a:lnTo>
                <a:cubicBezTo>
                  <a:pt x="3688166" y="0"/>
                  <a:pt x="3705225" y="17059"/>
                  <a:pt x="3705225" y="38102"/>
                </a:cubicBezTo>
                <a:lnTo>
                  <a:pt x="3705225" y="533398"/>
                </a:lnTo>
                <a:cubicBezTo>
                  <a:pt x="3705225" y="554441"/>
                  <a:pt x="3688166" y="571500"/>
                  <a:pt x="36671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178701" y="3409950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training_plan / contest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178701" y="3676650"/>
            <a:ext cx="3609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训练计划和竞赛表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02501" y="3981450"/>
            <a:ext cx="3705225" cy="571500"/>
          </a:xfrm>
          <a:custGeom>
            <a:avLst/>
            <a:gdLst/>
            <a:ahLst/>
            <a:cxnLst/>
            <a:rect l="l" t="t" r="r" b="b"/>
            <a:pathLst>
              <a:path w="3705225" h="571500">
                <a:moveTo>
                  <a:pt x="38102" y="0"/>
                </a:moveTo>
                <a:lnTo>
                  <a:pt x="3667123" y="0"/>
                </a:lnTo>
                <a:cubicBezTo>
                  <a:pt x="3688166" y="0"/>
                  <a:pt x="3705225" y="17059"/>
                  <a:pt x="3705225" y="38102"/>
                </a:cubicBezTo>
                <a:lnTo>
                  <a:pt x="3705225" y="533398"/>
                </a:lnTo>
                <a:cubicBezTo>
                  <a:pt x="3705225" y="554441"/>
                  <a:pt x="3688166" y="571500"/>
                  <a:pt x="36671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178701" y="4057650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contest_rank（排行榜表）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178701" y="4324350"/>
            <a:ext cx="3609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实时排名数据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85763" y="4710113"/>
            <a:ext cx="11420475" cy="1457325"/>
          </a:xfrm>
          <a:custGeom>
            <a:avLst/>
            <a:gdLst/>
            <a:ahLst/>
            <a:cxnLst/>
            <a:rect l="l" t="t" r="r" b="b"/>
            <a:pathLst>
              <a:path w="11420475" h="1457325">
                <a:moveTo>
                  <a:pt x="76204" y="0"/>
                </a:moveTo>
                <a:lnTo>
                  <a:pt x="11344271" y="0"/>
                </a:lnTo>
                <a:cubicBezTo>
                  <a:pt x="11386358" y="0"/>
                  <a:pt x="11420475" y="34117"/>
                  <a:pt x="11420475" y="76204"/>
                </a:cubicBezTo>
                <a:lnTo>
                  <a:pt x="11420475" y="1381121"/>
                </a:lnTo>
                <a:cubicBezTo>
                  <a:pt x="11420475" y="1423208"/>
                  <a:pt x="11386358" y="1457325"/>
                  <a:pt x="11344271" y="1457325"/>
                </a:cubicBezTo>
                <a:lnTo>
                  <a:pt x="76204" y="1457325"/>
                </a:lnTo>
                <a:cubicBezTo>
                  <a:pt x="34117" y="1457325"/>
                  <a:pt x="0" y="1423208"/>
                  <a:pt x="0" y="1381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F6AD55">
                  <a:alpha val="20000"/>
                </a:srgbClr>
              </a:gs>
            </a:gsLst>
            <a:lin ang="0" scaled="1"/>
          </a:gra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8169" y="49149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1" name="Text 49"/>
          <p:cNvSpPr/>
          <p:nvPr/>
        </p:nvSpPr>
        <p:spPr>
          <a:xfrm>
            <a:off x="762000" y="4867275"/>
            <a:ext cx="1097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数据库设计亮点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42925" y="5248275"/>
            <a:ext cx="2695575" cy="762000"/>
          </a:xfrm>
          <a:custGeom>
            <a:avLst/>
            <a:gdLst/>
            <a:ahLst/>
            <a:cxnLst/>
            <a:rect l="l" t="t" r="r" b="b"/>
            <a:pathLst>
              <a:path w="2695575" h="762000">
                <a:moveTo>
                  <a:pt x="38100" y="0"/>
                </a:moveTo>
                <a:lnTo>
                  <a:pt x="2657475" y="0"/>
                </a:lnTo>
                <a:cubicBezTo>
                  <a:pt x="2678503" y="0"/>
                  <a:pt x="2695575" y="17072"/>
                  <a:pt x="2695575" y="38100"/>
                </a:cubicBezTo>
                <a:lnTo>
                  <a:pt x="2695575" y="723900"/>
                </a:lnTo>
                <a:cubicBezTo>
                  <a:pt x="2695575" y="744928"/>
                  <a:pt x="2678503" y="762000"/>
                  <a:pt x="265747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774031" y="53244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4" name="Text 52"/>
          <p:cNvSpPr/>
          <p:nvPr/>
        </p:nvSpPr>
        <p:spPr>
          <a:xfrm>
            <a:off x="585788" y="5591175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领域驱动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90550" y="5781675"/>
            <a:ext cx="2600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业务域清晰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348038" y="5248275"/>
            <a:ext cx="2695575" cy="762000"/>
          </a:xfrm>
          <a:custGeom>
            <a:avLst/>
            <a:gdLst/>
            <a:ahLst/>
            <a:cxnLst/>
            <a:rect l="l" t="t" r="r" b="b"/>
            <a:pathLst>
              <a:path w="2695575" h="762000">
                <a:moveTo>
                  <a:pt x="38100" y="0"/>
                </a:moveTo>
                <a:lnTo>
                  <a:pt x="2657475" y="0"/>
                </a:lnTo>
                <a:cubicBezTo>
                  <a:pt x="2678503" y="0"/>
                  <a:pt x="2695575" y="17072"/>
                  <a:pt x="2695575" y="38100"/>
                </a:cubicBezTo>
                <a:lnTo>
                  <a:pt x="2695575" y="723900"/>
                </a:lnTo>
                <a:cubicBezTo>
                  <a:pt x="2695575" y="744928"/>
                  <a:pt x="2678503" y="762000"/>
                  <a:pt x="265747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564856" y="53244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7300" y="42863"/>
                </a:moveTo>
                <a:cubicBezTo>
                  <a:pt x="179889" y="42863"/>
                  <a:pt x="172700" y="44872"/>
                  <a:pt x="166405" y="48533"/>
                </a:cubicBezTo>
                <a:cubicBezTo>
                  <a:pt x="159350" y="41389"/>
                  <a:pt x="151135" y="35406"/>
                  <a:pt x="142071" y="30897"/>
                </a:cubicBezTo>
                <a:cubicBezTo>
                  <a:pt x="154662" y="20181"/>
                  <a:pt x="170691" y="14288"/>
                  <a:pt x="187300" y="14288"/>
                </a:cubicBezTo>
                <a:cubicBezTo>
                  <a:pt x="225876" y="14288"/>
                  <a:pt x="257175" y="45541"/>
                  <a:pt x="257175" y="84162"/>
                </a:cubicBezTo>
                <a:cubicBezTo>
                  <a:pt x="257175" y="102691"/>
                  <a:pt x="249808" y="120461"/>
                  <a:pt x="236726" y="133543"/>
                </a:cubicBezTo>
                <a:lnTo>
                  <a:pt x="204981" y="165289"/>
                </a:lnTo>
                <a:cubicBezTo>
                  <a:pt x="191899" y="178371"/>
                  <a:pt x="174129" y="185738"/>
                  <a:pt x="155600" y="185738"/>
                </a:cubicBezTo>
                <a:cubicBezTo>
                  <a:pt x="117024" y="185738"/>
                  <a:pt x="85725" y="154484"/>
                  <a:pt x="85725" y="115863"/>
                </a:cubicBezTo>
                <a:cubicBezTo>
                  <a:pt x="85725" y="115193"/>
                  <a:pt x="85725" y="114523"/>
                  <a:pt x="85770" y="113854"/>
                </a:cubicBezTo>
                <a:cubicBezTo>
                  <a:pt x="85993" y="105951"/>
                  <a:pt x="92556" y="99745"/>
                  <a:pt x="100459" y="99968"/>
                </a:cubicBezTo>
                <a:cubicBezTo>
                  <a:pt x="108362" y="100191"/>
                  <a:pt x="114568" y="106754"/>
                  <a:pt x="114345" y="114657"/>
                </a:cubicBezTo>
                <a:cubicBezTo>
                  <a:pt x="114345" y="115059"/>
                  <a:pt x="114345" y="115461"/>
                  <a:pt x="114345" y="115818"/>
                </a:cubicBezTo>
                <a:cubicBezTo>
                  <a:pt x="114345" y="138633"/>
                  <a:pt x="132829" y="157118"/>
                  <a:pt x="155644" y="157118"/>
                </a:cubicBezTo>
                <a:cubicBezTo>
                  <a:pt x="166583" y="157118"/>
                  <a:pt x="177076" y="152787"/>
                  <a:pt x="184845" y="145018"/>
                </a:cubicBezTo>
                <a:lnTo>
                  <a:pt x="216590" y="113273"/>
                </a:lnTo>
                <a:cubicBezTo>
                  <a:pt x="224314" y="105549"/>
                  <a:pt x="228689" y="95012"/>
                  <a:pt x="228689" y="84073"/>
                </a:cubicBezTo>
                <a:cubicBezTo>
                  <a:pt x="228689" y="61258"/>
                  <a:pt x="210205" y="42773"/>
                  <a:pt x="187389" y="42773"/>
                </a:cubicBezTo>
                <a:close/>
                <a:moveTo>
                  <a:pt x="122873" y="77376"/>
                </a:moveTo>
                <a:cubicBezTo>
                  <a:pt x="122024" y="77019"/>
                  <a:pt x="121176" y="76527"/>
                  <a:pt x="120417" y="75992"/>
                </a:cubicBezTo>
                <a:cubicBezTo>
                  <a:pt x="114791" y="73089"/>
                  <a:pt x="108362" y="71438"/>
                  <a:pt x="101620" y="71438"/>
                </a:cubicBezTo>
                <a:cubicBezTo>
                  <a:pt x="90681" y="71438"/>
                  <a:pt x="80189" y="75768"/>
                  <a:pt x="72420" y="83537"/>
                </a:cubicBezTo>
                <a:lnTo>
                  <a:pt x="40675" y="115282"/>
                </a:lnTo>
                <a:cubicBezTo>
                  <a:pt x="32951" y="123006"/>
                  <a:pt x="28575" y="133543"/>
                  <a:pt x="28575" y="144482"/>
                </a:cubicBezTo>
                <a:cubicBezTo>
                  <a:pt x="28575" y="167298"/>
                  <a:pt x="47059" y="185782"/>
                  <a:pt x="69875" y="185782"/>
                </a:cubicBezTo>
                <a:cubicBezTo>
                  <a:pt x="77242" y="185782"/>
                  <a:pt x="84430" y="183818"/>
                  <a:pt x="90726" y="180156"/>
                </a:cubicBezTo>
                <a:cubicBezTo>
                  <a:pt x="97780" y="187300"/>
                  <a:pt x="105995" y="193283"/>
                  <a:pt x="115104" y="197793"/>
                </a:cubicBezTo>
                <a:cubicBezTo>
                  <a:pt x="102513" y="208464"/>
                  <a:pt x="86529" y="214402"/>
                  <a:pt x="69875" y="214402"/>
                </a:cubicBezTo>
                <a:cubicBezTo>
                  <a:pt x="31299" y="214402"/>
                  <a:pt x="0" y="183148"/>
                  <a:pt x="0" y="144527"/>
                </a:cubicBezTo>
                <a:cubicBezTo>
                  <a:pt x="0" y="125998"/>
                  <a:pt x="7367" y="108228"/>
                  <a:pt x="20449" y="95146"/>
                </a:cubicBezTo>
                <a:lnTo>
                  <a:pt x="52194" y="63401"/>
                </a:lnTo>
                <a:cubicBezTo>
                  <a:pt x="65276" y="50319"/>
                  <a:pt x="83046" y="42952"/>
                  <a:pt x="101575" y="42952"/>
                </a:cubicBezTo>
                <a:cubicBezTo>
                  <a:pt x="140241" y="42952"/>
                  <a:pt x="171450" y="74474"/>
                  <a:pt x="171450" y="113005"/>
                </a:cubicBezTo>
                <a:cubicBezTo>
                  <a:pt x="171450" y="113586"/>
                  <a:pt x="171450" y="114166"/>
                  <a:pt x="171450" y="114746"/>
                </a:cubicBezTo>
                <a:cubicBezTo>
                  <a:pt x="171271" y="122649"/>
                  <a:pt x="164708" y="128855"/>
                  <a:pt x="156805" y="128677"/>
                </a:cubicBezTo>
                <a:cubicBezTo>
                  <a:pt x="148903" y="128498"/>
                  <a:pt x="142696" y="121935"/>
                  <a:pt x="142875" y="114032"/>
                </a:cubicBezTo>
                <a:cubicBezTo>
                  <a:pt x="142875" y="113675"/>
                  <a:pt x="142875" y="113362"/>
                  <a:pt x="142875" y="113005"/>
                </a:cubicBezTo>
                <a:cubicBezTo>
                  <a:pt x="142875" y="97959"/>
                  <a:pt x="134838" y="84743"/>
                  <a:pt x="122873" y="77465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8" name="Text 56"/>
          <p:cNvSpPr/>
          <p:nvPr/>
        </p:nvSpPr>
        <p:spPr>
          <a:xfrm>
            <a:off x="3390900" y="5591175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关系明确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3395663" y="5781675"/>
            <a:ext cx="2600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外键约束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153150" y="5248275"/>
            <a:ext cx="2695575" cy="762000"/>
          </a:xfrm>
          <a:custGeom>
            <a:avLst/>
            <a:gdLst/>
            <a:ahLst/>
            <a:cxnLst/>
            <a:rect l="l" t="t" r="r" b="b"/>
            <a:pathLst>
              <a:path w="2695575" h="762000">
                <a:moveTo>
                  <a:pt x="38100" y="0"/>
                </a:moveTo>
                <a:lnTo>
                  <a:pt x="2657475" y="0"/>
                </a:lnTo>
                <a:cubicBezTo>
                  <a:pt x="2678503" y="0"/>
                  <a:pt x="2695575" y="17072"/>
                  <a:pt x="2695575" y="38100"/>
                </a:cubicBezTo>
                <a:lnTo>
                  <a:pt x="2695575" y="723900"/>
                </a:lnTo>
                <a:cubicBezTo>
                  <a:pt x="2695575" y="744928"/>
                  <a:pt x="2678503" y="762000"/>
                  <a:pt x="265747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384256" y="53244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2" name="Text 60"/>
          <p:cNvSpPr/>
          <p:nvPr/>
        </p:nvSpPr>
        <p:spPr>
          <a:xfrm>
            <a:off x="6196013" y="5591175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200775" y="5781675"/>
            <a:ext cx="2600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索引、缓存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958263" y="5248275"/>
            <a:ext cx="2695575" cy="762000"/>
          </a:xfrm>
          <a:custGeom>
            <a:avLst/>
            <a:gdLst/>
            <a:ahLst/>
            <a:cxnLst/>
            <a:rect l="l" t="t" r="r" b="b"/>
            <a:pathLst>
              <a:path w="2695575" h="762000">
                <a:moveTo>
                  <a:pt x="38100" y="0"/>
                </a:moveTo>
                <a:lnTo>
                  <a:pt x="2657475" y="0"/>
                </a:lnTo>
                <a:cubicBezTo>
                  <a:pt x="2678503" y="0"/>
                  <a:pt x="2695575" y="17072"/>
                  <a:pt x="2695575" y="38100"/>
                </a:cubicBezTo>
                <a:lnTo>
                  <a:pt x="2695575" y="723900"/>
                </a:lnTo>
                <a:cubicBezTo>
                  <a:pt x="2695575" y="744928"/>
                  <a:pt x="2678503" y="762000"/>
                  <a:pt x="265747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0203656" y="53244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35719" y="46434"/>
                </a:moveTo>
                <a:cubicBezTo>
                  <a:pt x="41633" y="46434"/>
                  <a:pt x="46434" y="41633"/>
                  <a:pt x="46434" y="35719"/>
                </a:cubicBezTo>
                <a:cubicBezTo>
                  <a:pt x="46434" y="29805"/>
                  <a:pt x="41633" y="25003"/>
                  <a:pt x="35719" y="25003"/>
                </a:cubicBezTo>
                <a:cubicBezTo>
                  <a:pt x="29805" y="25003"/>
                  <a:pt x="25003" y="29805"/>
                  <a:pt x="25003" y="35719"/>
                </a:cubicBezTo>
                <a:cubicBezTo>
                  <a:pt x="25003" y="41633"/>
                  <a:pt x="29805" y="46434"/>
                  <a:pt x="35719" y="46434"/>
                </a:cubicBezTo>
                <a:close/>
                <a:moveTo>
                  <a:pt x="71438" y="35719"/>
                </a:moveTo>
                <a:cubicBezTo>
                  <a:pt x="71438" y="50363"/>
                  <a:pt x="62642" y="62954"/>
                  <a:pt x="50006" y="68446"/>
                </a:cubicBezTo>
                <a:lnTo>
                  <a:pt x="50006" y="100013"/>
                </a:lnTo>
                <a:lnTo>
                  <a:pt x="128588" y="100013"/>
                </a:lnTo>
                <a:cubicBezTo>
                  <a:pt x="140419" y="100013"/>
                  <a:pt x="150019" y="90413"/>
                  <a:pt x="150019" y="78581"/>
                </a:cubicBezTo>
                <a:lnTo>
                  <a:pt x="150019" y="68446"/>
                </a:lnTo>
                <a:cubicBezTo>
                  <a:pt x="137383" y="62954"/>
                  <a:pt x="128588" y="50363"/>
                  <a:pt x="128588" y="35719"/>
                </a:cubicBezTo>
                <a:cubicBezTo>
                  <a:pt x="128588" y="15984"/>
                  <a:pt x="144572" y="0"/>
                  <a:pt x="164306" y="0"/>
                </a:cubicBezTo>
                <a:cubicBezTo>
                  <a:pt x="184041" y="0"/>
                  <a:pt x="200025" y="15984"/>
                  <a:pt x="200025" y="35719"/>
                </a:cubicBezTo>
                <a:cubicBezTo>
                  <a:pt x="200025" y="50363"/>
                  <a:pt x="191229" y="62954"/>
                  <a:pt x="178594" y="68446"/>
                </a:cubicBezTo>
                <a:lnTo>
                  <a:pt x="178594" y="78581"/>
                </a:lnTo>
                <a:cubicBezTo>
                  <a:pt x="178594" y="106219"/>
                  <a:pt x="156225" y="128588"/>
                  <a:pt x="128588" y="128588"/>
                </a:cubicBezTo>
                <a:lnTo>
                  <a:pt x="50006" y="128588"/>
                </a:lnTo>
                <a:lnTo>
                  <a:pt x="50006" y="160154"/>
                </a:lnTo>
                <a:cubicBezTo>
                  <a:pt x="62642" y="165646"/>
                  <a:pt x="71438" y="178237"/>
                  <a:pt x="71438" y="192881"/>
                </a:cubicBezTo>
                <a:cubicBezTo>
                  <a:pt x="71438" y="212616"/>
                  <a:pt x="55453" y="228600"/>
                  <a:pt x="35719" y="228600"/>
                </a:cubicBezTo>
                <a:cubicBezTo>
                  <a:pt x="15984" y="228600"/>
                  <a:pt x="0" y="212616"/>
                  <a:pt x="0" y="192881"/>
                </a:cubicBezTo>
                <a:cubicBezTo>
                  <a:pt x="0" y="178237"/>
                  <a:pt x="8796" y="165646"/>
                  <a:pt x="21431" y="160154"/>
                </a:cubicBezTo>
                <a:lnTo>
                  <a:pt x="21431" y="68491"/>
                </a:lnTo>
                <a:cubicBezTo>
                  <a:pt x="8796" y="62954"/>
                  <a:pt x="0" y="50363"/>
                  <a:pt x="0" y="35719"/>
                </a:cubicBezTo>
                <a:cubicBezTo>
                  <a:pt x="0" y="15984"/>
                  <a:pt x="15984" y="0"/>
                  <a:pt x="35719" y="0"/>
                </a:cubicBezTo>
                <a:cubicBezTo>
                  <a:pt x="55453" y="0"/>
                  <a:pt x="71438" y="15984"/>
                  <a:pt x="71438" y="35719"/>
                </a:cubicBezTo>
                <a:close/>
                <a:moveTo>
                  <a:pt x="175022" y="35719"/>
                </a:moveTo>
                <a:cubicBezTo>
                  <a:pt x="175022" y="29805"/>
                  <a:pt x="170220" y="25003"/>
                  <a:pt x="164306" y="25003"/>
                </a:cubicBezTo>
                <a:cubicBezTo>
                  <a:pt x="158392" y="25003"/>
                  <a:pt x="153591" y="29805"/>
                  <a:pt x="153591" y="35719"/>
                </a:cubicBezTo>
                <a:cubicBezTo>
                  <a:pt x="153591" y="41633"/>
                  <a:pt x="158392" y="46434"/>
                  <a:pt x="164306" y="46434"/>
                </a:cubicBezTo>
                <a:cubicBezTo>
                  <a:pt x="170220" y="46434"/>
                  <a:pt x="175022" y="41633"/>
                  <a:pt x="175022" y="35719"/>
                </a:cubicBezTo>
                <a:close/>
                <a:moveTo>
                  <a:pt x="35719" y="203597"/>
                </a:moveTo>
                <a:cubicBezTo>
                  <a:pt x="41633" y="203597"/>
                  <a:pt x="46434" y="198795"/>
                  <a:pt x="46434" y="192881"/>
                </a:cubicBezTo>
                <a:cubicBezTo>
                  <a:pt x="46434" y="186967"/>
                  <a:pt x="41633" y="182166"/>
                  <a:pt x="35719" y="182166"/>
                </a:cubicBezTo>
                <a:cubicBezTo>
                  <a:pt x="29805" y="182166"/>
                  <a:pt x="25003" y="186967"/>
                  <a:pt x="25003" y="192881"/>
                </a:cubicBezTo>
                <a:cubicBezTo>
                  <a:pt x="25003" y="198795"/>
                  <a:pt x="29805" y="203597"/>
                  <a:pt x="35719" y="203597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66" name="Text 64"/>
          <p:cNvSpPr/>
          <p:nvPr/>
        </p:nvSpPr>
        <p:spPr>
          <a:xfrm>
            <a:off x="9001125" y="5591175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版本管理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005888" y="5781675"/>
            <a:ext cx="2600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Flyway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536" y="379536"/>
            <a:ext cx="1012095" cy="309251"/>
          </a:xfrm>
          <a:custGeom>
            <a:avLst/>
            <a:gdLst/>
            <a:ahLst/>
            <a:cxnLst/>
            <a:rect l="l" t="t" r="r" b="b"/>
            <a:pathLst>
              <a:path w="1012095" h="309251">
                <a:moveTo>
                  <a:pt x="37484" y="0"/>
                </a:moveTo>
                <a:lnTo>
                  <a:pt x="974611" y="0"/>
                </a:lnTo>
                <a:cubicBezTo>
                  <a:pt x="995313" y="0"/>
                  <a:pt x="1012095" y="16782"/>
                  <a:pt x="1012095" y="37484"/>
                </a:cubicBezTo>
                <a:lnTo>
                  <a:pt x="1012095" y="271767"/>
                </a:lnTo>
                <a:cubicBezTo>
                  <a:pt x="1012095" y="292469"/>
                  <a:pt x="995313" y="309251"/>
                  <a:pt x="974611" y="309251"/>
                </a:cubicBezTo>
                <a:lnTo>
                  <a:pt x="37484" y="309251"/>
                </a:lnTo>
                <a:cubicBezTo>
                  <a:pt x="16796" y="309251"/>
                  <a:pt x="0" y="292455"/>
                  <a:pt x="0" y="271767"/>
                </a:cubicBezTo>
                <a:lnTo>
                  <a:pt x="0" y="37484"/>
                </a:lnTo>
                <a:cubicBezTo>
                  <a:pt x="0" y="16796"/>
                  <a:pt x="16796" y="0"/>
                  <a:pt x="37484" y="0"/>
                </a:cubicBezTo>
                <a:close/>
              </a:path>
            </a:pathLst>
          </a:custGeom>
          <a:solidFill>
            <a:srgbClr val="F6AD55">
              <a:alpha val="10196"/>
            </a:srgbClr>
          </a:solidFill>
          <a:ln w="12700">
            <a:solidFill>
              <a:srgbClr val="F6AD5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6676" y="459191"/>
            <a:ext cx="846488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4850" y="768443"/>
            <a:ext cx="11610982" cy="37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56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关键技术难点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8278" y="1340089"/>
            <a:ext cx="168683" cy="168683"/>
          </a:xfrm>
          <a:custGeom>
            <a:avLst/>
            <a:gdLst/>
            <a:ahLst/>
            <a:cxnLst/>
            <a:rect l="l" t="t" r="r" b="b"/>
            <a:pathLst>
              <a:path w="168683" h="168683">
                <a:moveTo>
                  <a:pt x="84341" y="0"/>
                </a:moveTo>
                <a:cubicBezTo>
                  <a:pt x="85857" y="0"/>
                  <a:pt x="87372" y="329"/>
                  <a:pt x="88756" y="955"/>
                </a:cubicBezTo>
                <a:lnTo>
                  <a:pt x="150826" y="27279"/>
                </a:lnTo>
                <a:cubicBezTo>
                  <a:pt x="158074" y="30343"/>
                  <a:pt x="163477" y="37492"/>
                  <a:pt x="163444" y="46124"/>
                </a:cubicBezTo>
                <a:cubicBezTo>
                  <a:pt x="163279" y="78806"/>
                  <a:pt x="149838" y="138603"/>
                  <a:pt x="93072" y="165783"/>
                </a:cubicBezTo>
                <a:cubicBezTo>
                  <a:pt x="87570" y="168419"/>
                  <a:pt x="81178" y="168419"/>
                  <a:pt x="75677" y="165783"/>
                </a:cubicBezTo>
                <a:cubicBezTo>
                  <a:pt x="18878" y="138603"/>
                  <a:pt x="5469" y="78806"/>
                  <a:pt x="5304" y="46124"/>
                </a:cubicBezTo>
                <a:cubicBezTo>
                  <a:pt x="5271" y="37492"/>
                  <a:pt x="10674" y="30343"/>
                  <a:pt x="17923" y="27279"/>
                </a:cubicBezTo>
                <a:lnTo>
                  <a:pt x="79959" y="955"/>
                </a:lnTo>
                <a:cubicBezTo>
                  <a:pt x="81343" y="329"/>
                  <a:pt x="82826" y="0"/>
                  <a:pt x="84341" y="0"/>
                </a:cubicBezTo>
                <a:close/>
                <a:moveTo>
                  <a:pt x="84341" y="22008"/>
                </a:moveTo>
                <a:lnTo>
                  <a:pt x="84341" y="146576"/>
                </a:lnTo>
                <a:cubicBezTo>
                  <a:pt x="129806" y="124568"/>
                  <a:pt x="142029" y="75808"/>
                  <a:pt x="142326" y="46618"/>
                </a:cubicBezTo>
                <a:lnTo>
                  <a:pt x="84341" y="22041"/>
                </a:lnTo>
                <a:lnTo>
                  <a:pt x="84341" y="22041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" name="Text 4"/>
          <p:cNvSpPr/>
          <p:nvPr/>
        </p:nvSpPr>
        <p:spPr>
          <a:xfrm>
            <a:off x="590389" y="1293233"/>
            <a:ext cx="5519668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多角色权限控制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3593" y="1630598"/>
            <a:ext cx="5632123" cy="787185"/>
          </a:xfrm>
          <a:custGeom>
            <a:avLst/>
            <a:gdLst/>
            <a:ahLst/>
            <a:cxnLst/>
            <a:rect l="l" t="t" r="r" b="b"/>
            <a:pathLst>
              <a:path w="5632123" h="787185">
                <a:moveTo>
                  <a:pt x="37485" y="0"/>
                </a:moveTo>
                <a:lnTo>
                  <a:pt x="5594637" y="0"/>
                </a:lnTo>
                <a:cubicBezTo>
                  <a:pt x="5615340" y="0"/>
                  <a:pt x="5632123" y="16783"/>
                  <a:pt x="5632123" y="37486"/>
                </a:cubicBezTo>
                <a:lnTo>
                  <a:pt x="5632123" y="749699"/>
                </a:lnTo>
                <a:cubicBezTo>
                  <a:pt x="5632123" y="770402"/>
                  <a:pt x="5615340" y="787185"/>
                  <a:pt x="5594637" y="787185"/>
                </a:cubicBezTo>
                <a:lnTo>
                  <a:pt x="37485" y="787185"/>
                </a:lnTo>
                <a:cubicBezTo>
                  <a:pt x="16783" y="787185"/>
                  <a:pt x="0" y="770403"/>
                  <a:pt x="0" y="74970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93593" y="1630598"/>
            <a:ext cx="37485" cy="787185"/>
          </a:xfrm>
          <a:custGeom>
            <a:avLst/>
            <a:gdLst/>
            <a:ahLst/>
            <a:cxnLst/>
            <a:rect l="l" t="t" r="r" b="b"/>
            <a:pathLst>
              <a:path w="37485" h="787185">
                <a:moveTo>
                  <a:pt x="37485" y="0"/>
                </a:moveTo>
                <a:lnTo>
                  <a:pt x="37485" y="0"/>
                </a:lnTo>
                <a:lnTo>
                  <a:pt x="37485" y="787185"/>
                </a:lnTo>
                <a:lnTo>
                  <a:pt x="37485" y="787185"/>
                </a:lnTo>
                <a:cubicBezTo>
                  <a:pt x="16783" y="787185"/>
                  <a:pt x="0" y="770403"/>
                  <a:pt x="0" y="74970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9" name="Text 7"/>
          <p:cNvSpPr/>
          <p:nvPr/>
        </p:nvSpPr>
        <p:spPr>
          <a:xfrm>
            <a:off x="487305" y="1705568"/>
            <a:ext cx="553841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RBAC + ABAC 混合策略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7305" y="1967963"/>
            <a:ext cx="552903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RBAC：</a:t>
            </a:r>
            <a:r>
              <a:rPr lang="en-US" sz="103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基于角色分配权限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7305" y="2155388"/>
            <a:ext cx="552903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ABAC：</a:t>
            </a:r>
            <a:r>
              <a:rPr lang="en-US" sz="103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基于属性动态决策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3593" y="2492753"/>
            <a:ext cx="5632123" cy="599760"/>
          </a:xfrm>
          <a:custGeom>
            <a:avLst/>
            <a:gdLst/>
            <a:ahLst/>
            <a:cxnLst/>
            <a:rect l="l" t="t" r="r" b="b"/>
            <a:pathLst>
              <a:path w="5632123" h="599760">
                <a:moveTo>
                  <a:pt x="37485" y="0"/>
                </a:moveTo>
                <a:lnTo>
                  <a:pt x="5594638" y="0"/>
                </a:lnTo>
                <a:cubicBezTo>
                  <a:pt x="5615340" y="0"/>
                  <a:pt x="5632123" y="16783"/>
                  <a:pt x="5632123" y="37485"/>
                </a:cubicBezTo>
                <a:lnTo>
                  <a:pt x="5632123" y="562275"/>
                </a:lnTo>
                <a:cubicBezTo>
                  <a:pt x="5632123" y="582978"/>
                  <a:pt x="5615340" y="599760"/>
                  <a:pt x="5594638" y="599760"/>
                </a:cubicBezTo>
                <a:lnTo>
                  <a:pt x="37485" y="599760"/>
                </a:lnTo>
                <a:cubicBezTo>
                  <a:pt x="16783" y="599760"/>
                  <a:pt x="0" y="582978"/>
                  <a:pt x="0" y="56227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93593" y="2492753"/>
            <a:ext cx="37485" cy="599760"/>
          </a:xfrm>
          <a:custGeom>
            <a:avLst/>
            <a:gdLst/>
            <a:ahLst/>
            <a:cxnLst/>
            <a:rect l="l" t="t" r="r" b="b"/>
            <a:pathLst>
              <a:path w="37485" h="599760">
                <a:moveTo>
                  <a:pt x="37485" y="0"/>
                </a:moveTo>
                <a:lnTo>
                  <a:pt x="37485" y="0"/>
                </a:lnTo>
                <a:lnTo>
                  <a:pt x="37485" y="599760"/>
                </a:lnTo>
                <a:lnTo>
                  <a:pt x="37485" y="599760"/>
                </a:lnTo>
                <a:cubicBezTo>
                  <a:pt x="16783" y="599760"/>
                  <a:pt x="0" y="582978"/>
                  <a:pt x="0" y="56227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4" name="Text 12"/>
          <p:cNvSpPr/>
          <p:nvPr/>
        </p:nvSpPr>
        <p:spPr>
          <a:xfrm>
            <a:off x="487305" y="2567723"/>
            <a:ext cx="553841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Spring Security + JWT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7305" y="2830118"/>
            <a:ext cx="552903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实现细粒度权限控制和数据级权限隔离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8278" y="3251825"/>
            <a:ext cx="168683" cy="168683"/>
          </a:xfrm>
          <a:custGeom>
            <a:avLst/>
            <a:gdLst/>
            <a:ahLst/>
            <a:cxnLst/>
            <a:rect l="l" t="t" r="r" b="b"/>
            <a:pathLst>
              <a:path w="168683" h="168683">
                <a:moveTo>
                  <a:pt x="0" y="84341"/>
                </a:moveTo>
                <a:cubicBezTo>
                  <a:pt x="0" y="37792"/>
                  <a:pt x="37792" y="0"/>
                  <a:pt x="84341" y="0"/>
                </a:cubicBezTo>
                <a:cubicBezTo>
                  <a:pt x="130890" y="0"/>
                  <a:pt x="168683" y="37792"/>
                  <a:pt x="168683" y="84341"/>
                </a:cubicBezTo>
                <a:cubicBezTo>
                  <a:pt x="168683" y="130890"/>
                  <a:pt x="130890" y="168683"/>
                  <a:pt x="84341" y="168683"/>
                </a:cubicBezTo>
                <a:cubicBezTo>
                  <a:pt x="37792" y="168683"/>
                  <a:pt x="0" y="130890"/>
                  <a:pt x="0" y="84341"/>
                </a:cubicBezTo>
                <a:close/>
                <a:moveTo>
                  <a:pt x="94884" y="31628"/>
                </a:moveTo>
                <a:cubicBezTo>
                  <a:pt x="94884" y="25809"/>
                  <a:pt x="90160" y="21085"/>
                  <a:pt x="84341" y="21085"/>
                </a:cubicBezTo>
                <a:cubicBezTo>
                  <a:pt x="78523" y="21085"/>
                  <a:pt x="73799" y="25809"/>
                  <a:pt x="73799" y="31628"/>
                </a:cubicBezTo>
                <a:cubicBezTo>
                  <a:pt x="73799" y="37447"/>
                  <a:pt x="78523" y="42171"/>
                  <a:pt x="84341" y="42171"/>
                </a:cubicBezTo>
                <a:cubicBezTo>
                  <a:pt x="90160" y="42171"/>
                  <a:pt x="94884" y="37447"/>
                  <a:pt x="94884" y="31628"/>
                </a:cubicBezTo>
                <a:close/>
                <a:moveTo>
                  <a:pt x="84341" y="137055"/>
                </a:moveTo>
                <a:cubicBezTo>
                  <a:pt x="95971" y="137055"/>
                  <a:pt x="105427" y="127599"/>
                  <a:pt x="105427" y="115969"/>
                </a:cubicBezTo>
                <a:cubicBezTo>
                  <a:pt x="105427" y="110632"/>
                  <a:pt x="103450" y="105723"/>
                  <a:pt x="100155" y="102033"/>
                </a:cubicBezTo>
                <a:lnTo>
                  <a:pt x="123053" y="56271"/>
                </a:lnTo>
                <a:cubicBezTo>
                  <a:pt x="124996" y="52351"/>
                  <a:pt x="123415" y="47607"/>
                  <a:pt x="119527" y="45663"/>
                </a:cubicBezTo>
                <a:cubicBezTo>
                  <a:pt x="115640" y="43719"/>
                  <a:pt x="110863" y="45300"/>
                  <a:pt x="108919" y="49188"/>
                </a:cubicBezTo>
                <a:lnTo>
                  <a:pt x="86022" y="94950"/>
                </a:lnTo>
                <a:cubicBezTo>
                  <a:pt x="85461" y="94917"/>
                  <a:pt x="84901" y="94884"/>
                  <a:pt x="84341" y="94884"/>
                </a:cubicBezTo>
                <a:cubicBezTo>
                  <a:pt x="72711" y="94884"/>
                  <a:pt x="63256" y="104339"/>
                  <a:pt x="63256" y="115969"/>
                </a:cubicBezTo>
                <a:cubicBezTo>
                  <a:pt x="63256" y="127599"/>
                  <a:pt x="72711" y="137055"/>
                  <a:pt x="84341" y="137055"/>
                </a:cubicBezTo>
                <a:close/>
                <a:moveTo>
                  <a:pt x="57985" y="47442"/>
                </a:moveTo>
                <a:cubicBezTo>
                  <a:pt x="57985" y="41623"/>
                  <a:pt x="53261" y="36899"/>
                  <a:pt x="47442" y="36899"/>
                </a:cubicBezTo>
                <a:cubicBezTo>
                  <a:pt x="41623" y="36899"/>
                  <a:pt x="36899" y="41623"/>
                  <a:pt x="36899" y="47442"/>
                </a:cubicBezTo>
                <a:cubicBezTo>
                  <a:pt x="36899" y="53261"/>
                  <a:pt x="41623" y="57985"/>
                  <a:pt x="47442" y="57985"/>
                </a:cubicBezTo>
                <a:cubicBezTo>
                  <a:pt x="53261" y="57985"/>
                  <a:pt x="57985" y="53261"/>
                  <a:pt x="57985" y="47442"/>
                </a:cubicBezTo>
                <a:close/>
                <a:moveTo>
                  <a:pt x="31628" y="94884"/>
                </a:moveTo>
                <a:cubicBezTo>
                  <a:pt x="37447" y="94884"/>
                  <a:pt x="42171" y="90160"/>
                  <a:pt x="42171" y="84341"/>
                </a:cubicBezTo>
                <a:cubicBezTo>
                  <a:pt x="42171" y="78523"/>
                  <a:pt x="37447" y="73799"/>
                  <a:pt x="31628" y="73799"/>
                </a:cubicBezTo>
                <a:cubicBezTo>
                  <a:pt x="25809" y="73799"/>
                  <a:pt x="21085" y="78523"/>
                  <a:pt x="21085" y="84341"/>
                </a:cubicBezTo>
                <a:cubicBezTo>
                  <a:pt x="21085" y="90160"/>
                  <a:pt x="25809" y="94884"/>
                  <a:pt x="31628" y="94884"/>
                </a:cubicBezTo>
                <a:close/>
                <a:moveTo>
                  <a:pt x="147597" y="84341"/>
                </a:moveTo>
                <a:cubicBezTo>
                  <a:pt x="147597" y="78523"/>
                  <a:pt x="142873" y="73799"/>
                  <a:pt x="137055" y="73799"/>
                </a:cubicBezTo>
                <a:cubicBezTo>
                  <a:pt x="131236" y="73799"/>
                  <a:pt x="126512" y="78523"/>
                  <a:pt x="126512" y="84341"/>
                </a:cubicBezTo>
                <a:cubicBezTo>
                  <a:pt x="126512" y="90160"/>
                  <a:pt x="131236" y="94884"/>
                  <a:pt x="137055" y="94884"/>
                </a:cubicBezTo>
                <a:cubicBezTo>
                  <a:pt x="142873" y="94884"/>
                  <a:pt x="147597" y="90160"/>
                  <a:pt x="147597" y="84341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17" name="Text 15"/>
          <p:cNvSpPr/>
          <p:nvPr/>
        </p:nvSpPr>
        <p:spPr>
          <a:xfrm>
            <a:off x="590389" y="3204968"/>
            <a:ext cx="5519668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F6AD5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评测系统性能优化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93593" y="3542334"/>
            <a:ext cx="5632123" cy="599760"/>
          </a:xfrm>
          <a:custGeom>
            <a:avLst/>
            <a:gdLst/>
            <a:ahLst/>
            <a:cxnLst/>
            <a:rect l="l" t="t" r="r" b="b"/>
            <a:pathLst>
              <a:path w="5632123" h="599760">
                <a:moveTo>
                  <a:pt x="37485" y="0"/>
                </a:moveTo>
                <a:lnTo>
                  <a:pt x="5594638" y="0"/>
                </a:lnTo>
                <a:cubicBezTo>
                  <a:pt x="5615340" y="0"/>
                  <a:pt x="5632123" y="16783"/>
                  <a:pt x="5632123" y="37485"/>
                </a:cubicBezTo>
                <a:lnTo>
                  <a:pt x="5632123" y="562275"/>
                </a:lnTo>
                <a:cubicBezTo>
                  <a:pt x="5632123" y="582978"/>
                  <a:pt x="5615340" y="599760"/>
                  <a:pt x="5594638" y="599760"/>
                </a:cubicBezTo>
                <a:lnTo>
                  <a:pt x="37485" y="599760"/>
                </a:lnTo>
                <a:cubicBezTo>
                  <a:pt x="16783" y="599760"/>
                  <a:pt x="0" y="582978"/>
                  <a:pt x="0" y="56227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93593" y="3542334"/>
            <a:ext cx="37485" cy="599760"/>
          </a:xfrm>
          <a:custGeom>
            <a:avLst/>
            <a:gdLst/>
            <a:ahLst/>
            <a:cxnLst/>
            <a:rect l="l" t="t" r="r" b="b"/>
            <a:pathLst>
              <a:path w="37485" h="599760">
                <a:moveTo>
                  <a:pt x="37485" y="0"/>
                </a:moveTo>
                <a:lnTo>
                  <a:pt x="37485" y="0"/>
                </a:lnTo>
                <a:lnTo>
                  <a:pt x="37485" y="599760"/>
                </a:lnTo>
                <a:lnTo>
                  <a:pt x="37485" y="599760"/>
                </a:lnTo>
                <a:cubicBezTo>
                  <a:pt x="16783" y="599760"/>
                  <a:pt x="0" y="582978"/>
                  <a:pt x="0" y="56227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0" name="Text 18"/>
          <p:cNvSpPr/>
          <p:nvPr/>
        </p:nvSpPr>
        <p:spPr>
          <a:xfrm>
            <a:off x="487305" y="3617304"/>
            <a:ext cx="553841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消息队列异步处理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7305" y="3879699"/>
            <a:ext cx="552903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RabbitMQ异步处理，提升系统吞吐量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93593" y="4217064"/>
            <a:ext cx="5632123" cy="599760"/>
          </a:xfrm>
          <a:custGeom>
            <a:avLst/>
            <a:gdLst/>
            <a:ahLst/>
            <a:cxnLst/>
            <a:rect l="l" t="t" r="r" b="b"/>
            <a:pathLst>
              <a:path w="5632123" h="599760">
                <a:moveTo>
                  <a:pt x="37485" y="0"/>
                </a:moveTo>
                <a:lnTo>
                  <a:pt x="5594638" y="0"/>
                </a:lnTo>
                <a:cubicBezTo>
                  <a:pt x="5615340" y="0"/>
                  <a:pt x="5632123" y="16783"/>
                  <a:pt x="5632123" y="37485"/>
                </a:cubicBezTo>
                <a:lnTo>
                  <a:pt x="5632123" y="562275"/>
                </a:lnTo>
                <a:cubicBezTo>
                  <a:pt x="5632123" y="582978"/>
                  <a:pt x="5615340" y="599760"/>
                  <a:pt x="5594638" y="599760"/>
                </a:cubicBezTo>
                <a:lnTo>
                  <a:pt x="37485" y="599760"/>
                </a:lnTo>
                <a:cubicBezTo>
                  <a:pt x="16783" y="599760"/>
                  <a:pt x="0" y="582978"/>
                  <a:pt x="0" y="56227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93593" y="4217064"/>
            <a:ext cx="37485" cy="599760"/>
          </a:xfrm>
          <a:custGeom>
            <a:avLst/>
            <a:gdLst/>
            <a:ahLst/>
            <a:cxnLst/>
            <a:rect l="l" t="t" r="r" b="b"/>
            <a:pathLst>
              <a:path w="37485" h="599760">
                <a:moveTo>
                  <a:pt x="37485" y="0"/>
                </a:moveTo>
                <a:lnTo>
                  <a:pt x="37485" y="0"/>
                </a:lnTo>
                <a:lnTo>
                  <a:pt x="37485" y="599760"/>
                </a:lnTo>
                <a:lnTo>
                  <a:pt x="37485" y="599760"/>
                </a:lnTo>
                <a:cubicBezTo>
                  <a:pt x="16783" y="599760"/>
                  <a:pt x="0" y="582978"/>
                  <a:pt x="0" y="56227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4" name="Text 22"/>
          <p:cNvSpPr/>
          <p:nvPr/>
        </p:nvSpPr>
        <p:spPr>
          <a:xfrm>
            <a:off x="487305" y="4292034"/>
            <a:ext cx="553841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Redis缓存优化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7305" y="4554429"/>
            <a:ext cx="552903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缓存评测结果和排行榜，减少DB压力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06405" y="1340089"/>
            <a:ext cx="147597" cy="168683"/>
          </a:xfrm>
          <a:custGeom>
            <a:avLst/>
            <a:gdLst/>
            <a:ahLst/>
            <a:cxnLst/>
            <a:rect l="l" t="t" r="r" b="b"/>
            <a:pathLst>
              <a:path w="147597" h="168683">
                <a:moveTo>
                  <a:pt x="147597" y="67802"/>
                </a:moveTo>
                <a:cubicBezTo>
                  <a:pt x="142721" y="71031"/>
                  <a:pt x="137120" y="73634"/>
                  <a:pt x="131289" y="75709"/>
                </a:cubicBezTo>
                <a:cubicBezTo>
                  <a:pt x="115805" y="81244"/>
                  <a:pt x="95477" y="84341"/>
                  <a:pt x="73799" y="84341"/>
                </a:cubicBezTo>
                <a:cubicBezTo>
                  <a:pt x="52120" y="84341"/>
                  <a:pt x="31760" y="81211"/>
                  <a:pt x="16308" y="75709"/>
                </a:cubicBezTo>
                <a:cubicBezTo>
                  <a:pt x="10510" y="73634"/>
                  <a:pt x="4876" y="71031"/>
                  <a:pt x="0" y="67802"/>
                </a:cubicBezTo>
                <a:lnTo>
                  <a:pt x="0" y="94884"/>
                </a:lnTo>
                <a:cubicBezTo>
                  <a:pt x="0" y="109446"/>
                  <a:pt x="33045" y="121241"/>
                  <a:pt x="73799" y="121241"/>
                </a:cubicBezTo>
                <a:cubicBezTo>
                  <a:pt x="114553" y="121241"/>
                  <a:pt x="147597" y="109446"/>
                  <a:pt x="147597" y="94884"/>
                </a:cubicBezTo>
                <a:lnTo>
                  <a:pt x="147597" y="67802"/>
                </a:lnTo>
                <a:close/>
                <a:moveTo>
                  <a:pt x="147597" y="42171"/>
                </a:moveTo>
                <a:lnTo>
                  <a:pt x="147597" y="26357"/>
                </a:lnTo>
                <a:cubicBezTo>
                  <a:pt x="147597" y="11795"/>
                  <a:pt x="114553" y="0"/>
                  <a:pt x="73799" y="0"/>
                </a:cubicBezTo>
                <a:cubicBezTo>
                  <a:pt x="33045" y="0"/>
                  <a:pt x="0" y="11795"/>
                  <a:pt x="0" y="26357"/>
                </a:cubicBezTo>
                <a:lnTo>
                  <a:pt x="0" y="42171"/>
                </a:lnTo>
                <a:cubicBezTo>
                  <a:pt x="0" y="56733"/>
                  <a:pt x="33045" y="68527"/>
                  <a:pt x="73799" y="68527"/>
                </a:cubicBezTo>
                <a:cubicBezTo>
                  <a:pt x="114553" y="68527"/>
                  <a:pt x="147597" y="56733"/>
                  <a:pt x="147597" y="42171"/>
                </a:cubicBezTo>
                <a:close/>
                <a:moveTo>
                  <a:pt x="131289" y="128423"/>
                </a:moveTo>
                <a:cubicBezTo>
                  <a:pt x="115837" y="133925"/>
                  <a:pt x="95510" y="137055"/>
                  <a:pt x="73799" y="137055"/>
                </a:cubicBezTo>
                <a:cubicBezTo>
                  <a:pt x="52087" y="137055"/>
                  <a:pt x="31760" y="133925"/>
                  <a:pt x="16308" y="128423"/>
                </a:cubicBezTo>
                <a:cubicBezTo>
                  <a:pt x="10510" y="126347"/>
                  <a:pt x="4876" y="123744"/>
                  <a:pt x="0" y="120516"/>
                </a:cubicBezTo>
                <a:lnTo>
                  <a:pt x="0" y="142326"/>
                </a:lnTo>
                <a:cubicBezTo>
                  <a:pt x="0" y="156888"/>
                  <a:pt x="33045" y="168683"/>
                  <a:pt x="73799" y="168683"/>
                </a:cubicBezTo>
                <a:cubicBezTo>
                  <a:pt x="114553" y="168683"/>
                  <a:pt x="147597" y="156888"/>
                  <a:pt x="147597" y="142326"/>
                </a:cubicBezTo>
                <a:lnTo>
                  <a:pt x="147597" y="120516"/>
                </a:lnTo>
                <a:cubicBezTo>
                  <a:pt x="142721" y="123744"/>
                  <a:pt x="137120" y="126347"/>
                  <a:pt x="131289" y="128423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7" name="Text 25"/>
          <p:cNvSpPr/>
          <p:nvPr/>
        </p:nvSpPr>
        <p:spPr>
          <a:xfrm>
            <a:off x="6387973" y="1293233"/>
            <a:ext cx="5519668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数据库性能优化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91177" y="1630598"/>
            <a:ext cx="5632123" cy="599760"/>
          </a:xfrm>
          <a:custGeom>
            <a:avLst/>
            <a:gdLst/>
            <a:ahLst/>
            <a:cxnLst/>
            <a:rect l="l" t="t" r="r" b="b"/>
            <a:pathLst>
              <a:path w="5632123" h="599760">
                <a:moveTo>
                  <a:pt x="37485" y="0"/>
                </a:moveTo>
                <a:lnTo>
                  <a:pt x="5594638" y="0"/>
                </a:lnTo>
                <a:cubicBezTo>
                  <a:pt x="5615340" y="0"/>
                  <a:pt x="5632123" y="16783"/>
                  <a:pt x="5632123" y="37485"/>
                </a:cubicBezTo>
                <a:lnTo>
                  <a:pt x="5632123" y="562275"/>
                </a:lnTo>
                <a:cubicBezTo>
                  <a:pt x="5632123" y="582978"/>
                  <a:pt x="5615340" y="599760"/>
                  <a:pt x="5594638" y="599760"/>
                </a:cubicBezTo>
                <a:lnTo>
                  <a:pt x="37485" y="599760"/>
                </a:lnTo>
                <a:cubicBezTo>
                  <a:pt x="16783" y="599760"/>
                  <a:pt x="0" y="582978"/>
                  <a:pt x="0" y="56227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191177" y="1630598"/>
            <a:ext cx="37485" cy="599760"/>
          </a:xfrm>
          <a:custGeom>
            <a:avLst/>
            <a:gdLst/>
            <a:ahLst/>
            <a:cxnLst/>
            <a:rect l="l" t="t" r="r" b="b"/>
            <a:pathLst>
              <a:path w="37485" h="599760">
                <a:moveTo>
                  <a:pt x="37485" y="0"/>
                </a:moveTo>
                <a:lnTo>
                  <a:pt x="37485" y="0"/>
                </a:lnTo>
                <a:lnTo>
                  <a:pt x="37485" y="599760"/>
                </a:lnTo>
                <a:lnTo>
                  <a:pt x="37485" y="599760"/>
                </a:lnTo>
                <a:cubicBezTo>
                  <a:pt x="16783" y="599760"/>
                  <a:pt x="0" y="582978"/>
                  <a:pt x="0" y="56227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0" name="Text 28"/>
          <p:cNvSpPr/>
          <p:nvPr/>
        </p:nvSpPr>
        <p:spPr>
          <a:xfrm>
            <a:off x="6284889" y="1705568"/>
            <a:ext cx="553841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索引优化 + 分页查询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284889" y="1967963"/>
            <a:ext cx="552903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高频查询字段建索引，避免深度分页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1177" y="2305328"/>
            <a:ext cx="5632123" cy="599760"/>
          </a:xfrm>
          <a:custGeom>
            <a:avLst/>
            <a:gdLst/>
            <a:ahLst/>
            <a:cxnLst/>
            <a:rect l="l" t="t" r="r" b="b"/>
            <a:pathLst>
              <a:path w="5632123" h="599760">
                <a:moveTo>
                  <a:pt x="37485" y="0"/>
                </a:moveTo>
                <a:lnTo>
                  <a:pt x="5594638" y="0"/>
                </a:lnTo>
                <a:cubicBezTo>
                  <a:pt x="5615340" y="0"/>
                  <a:pt x="5632123" y="16783"/>
                  <a:pt x="5632123" y="37485"/>
                </a:cubicBezTo>
                <a:lnTo>
                  <a:pt x="5632123" y="562275"/>
                </a:lnTo>
                <a:cubicBezTo>
                  <a:pt x="5632123" y="582978"/>
                  <a:pt x="5615340" y="599760"/>
                  <a:pt x="5594638" y="599760"/>
                </a:cubicBezTo>
                <a:lnTo>
                  <a:pt x="37485" y="599760"/>
                </a:lnTo>
                <a:cubicBezTo>
                  <a:pt x="16783" y="599760"/>
                  <a:pt x="0" y="582978"/>
                  <a:pt x="0" y="56227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191177" y="2305328"/>
            <a:ext cx="37485" cy="599760"/>
          </a:xfrm>
          <a:custGeom>
            <a:avLst/>
            <a:gdLst/>
            <a:ahLst/>
            <a:cxnLst/>
            <a:rect l="l" t="t" r="r" b="b"/>
            <a:pathLst>
              <a:path w="37485" h="599760">
                <a:moveTo>
                  <a:pt x="37485" y="0"/>
                </a:moveTo>
                <a:lnTo>
                  <a:pt x="37485" y="0"/>
                </a:lnTo>
                <a:lnTo>
                  <a:pt x="37485" y="599760"/>
                </a:lnTo>
                <a:lnTo>
                  <a:pt x="37485" y="599760"/>
                </a:lnTo>
                <a:cubicBezTo>
                  <a:pt x="16783" y="599760"/>
                  <a:pt x="0" y="582978"/>
                  <a:pt x="0" y="56227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4" name="Text 32"/>
          <p:cNvSpPr/>
          <p:nvPr/>
        </p:nvSpPr>
        <p:spPr>
          <a:xfrm>
            <a:off x="6284889" y="2380298"/>
            <a:ext cx="553841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Redis缓存热点数据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84889" y="2642693"/>
            <a:ext cx="552903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缓存题目列表、用户信息等热点数据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16948" y="3064400"/>
            <a:ext cx="126512" cy="168683"/>
          </a:xfrm>
          <a:custGeom>
            <a:avLst/>
            <a:gdLst/>
            <a:ahLst/>
            <a:cxnLst/>
            <a:rect l="l" t="t" r="r" b="b"/>
            <a:pathLst>
              <a:path w="126512" h="168683">
                <a:moveTo>
                  <a:pt x="42171" y="31628"/>
                </a:moveTo>
                <a:lnTo>
                  <a:pt x="42171" y="52713"/>
                </a:lnTo>
                <a:lnTo>
                  <a:pt x="84341" y="52713"/>
                </a:lnTo>
                <a:lnTo>
                  <a:pt x="84341" y="31628"/>
                </a:lnTo>
                <a:cubicBezTo>
                  <a:pt x="84341" y="19998"/>
                  <a:pt x="74886" y="10543"/>
                  <a:pt x="63256" y="10543"/>
                </a:cubicBezTo>
                <a:cubicBezTo>
                  <a:pt x="51626" y="10543"/>
                  <a:pt x="42171" y="19998"/>
                  <a:pt x="42171" y="31628"/>
                </a:cubicBezTo>
                <a:close/>
                <a:moveTo>
                  <a:pt x="21085" y="52713"/>
                </a:moveTo>
                <a:lnTo>
                  <a:pt x="21085" y="31628"/>
                </a:lnTo>
                <a:cubicBezTo>
                  <a:pt x="21085" y="8335"/>
                  <a:pt x="39963" y="-10543"/>
                  <a:pt x="63256" y="-10543"/>
                </a:cubicBezTo>
                <a:cubicBezTo>
                  <a:pt x="86549" y="-10543"/>
                  <a:pt x="105427" y="8335"/>
                  <a:pt x="105427" y="31628"/>
                </a:cubicBezTo>
                <a:lnTo>
                  <a:pt x="105427" y="52713"/>
                </a:lnTo>
                <a:cubicBezTo>
                  <a:pt x="117056" y="52713"/>
                  <a:pt x="126512" y="62169"/>
                  <a:pt x="126512" y="73799"/>
                </a:cubicBezTo>
                <a:lnTo>
                  <a:pt x="126512" y="147597"/>
                </a:lnTo>
                <a:cubicBezTo>
                  <a:pt x="126512" y="159227"/>
                  <a:pt x="117056" y="168683"/>
                  <a:pt x="105427" y="168683"/>
                </a:cubicBezTo>
                <a:lnTo>
                  <a:pt x="21085" y="168683"/>
                </a:lnTo>
                <a:cubicBezTo>
                  <a:pt x="9455" y="168683"/>
                  <a:pt x="0" y="159227"/>
                  <a:pt x="0" y="147597"/>
                </a:cubicBezTo>
                <a:lnTo>
                  <a:pt x="0" y="73799"/>
                </a:lnTo>
                <a:cubicBezTo>
                  <a:pt x="0" y="62169"/>
                  <a:pt x="9455" y="52713"/>
                  <a:pt x="21085" y="52713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7" name="Text 35"/>
          <p:cNvSpPr/>
          <p:nvPr/>
        </p:nvSpPr>
        <p:spPr>
          <a:xfrm>
            <a:off x="6387973" y="3017543"/>
            <a:ext cx="5519668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F6AD5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系统安全性设计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91177" y="3354909"/>
            <a:ext cx="5632123" cy="599760"/>
          </a:xfrm>
          <a:custGeom>
            <a:avLst/>
            <a:gdLst/>
            <a:ahLst/>
            <a:cxnLst/>
            <a:rect l="l" t="t" r="r" b="b"/>
            <a:pathLst>
              <a:path w="5632123" h="599760">
                <a:moveTo>
                  <a:pt x="37485" y="0"/>
                </a:moveTo>
                <a:lnTo>
                  <a:pt x="5594638" y="0"/>
                </a:lnTo>
                <a:cubicBezTo>
                  <a:pt x="5615340" y="0"/>
                  <a:pt x="5632123" y="16783"/>
                  <a:pt x="5632123" y="37485"/>
                </a:cubicBezTo>
                <a:lnTo>
                  <a:pt x="5632123" y="562275"/>
                </a:lnTo>
                <a:cubicBezTo>
                  <a:pt x="5632123" y="582978"/>
                  <a:pt x="5615340" y="599760"/>
                  <a:pt x="5594638" y="599760"/>
                </a:cubicBezTo>
                <a:lnTo>
                  <a:pt x="37485" y="599760"/>
                </a:lnTo>
                <a:cubicBezTo>
                  <a:pt x="16783" y="599760"/>
                  <a:pt x="0" y="582978"/>
                  <a:pt x="0" y="56227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191177" y="3354909"/>
            <a:ext cx="37485" cy="599760"/>
          </a:xfrm>
          <a:custGeom>
            <a:avLst/>
            <a:gdLst/>
            <a:ahLst/>
            <a:cxnLst/>
            <a:rect l="l" t="t" r="r" b="b"/>
            <a:pathLst>
              <a:path w="37485" h="599760">
                <a:moveTo>
                  <a:pt x="37485" y="0"/>
                </a:moveTo>
                <a:lnTo>
                  <a:pt x="37485" y="0"/>
                </a:lnTo>
                <a:lnTo>
                  <a:pt x="37485" y="599760"/>
                </a:lnTo>
                <a:lnTo>
                  <a:pt x="37485" y="599760"/>
                </a:lnTo>
                <a:cubicBezTo>
                  <a:pt x="16783" y="599760"/>
                  <a:pt x="0" y="582978"/>
                  <a:pt x="0" y="56227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0" name="Text 38"/>
          <p:cNvSpPr/>
          <p:nvPr/>
        </p:nvSpPr>
        <p:spPr>
          <a:xfrm>
            <a:off x="6284889" y="3429879"/>
            <a:ext cx="553841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JWT无状态认证 + BCrypt加密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284889" y="3692274"/>
            <a:ext cx="552903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分布式环境安全认证，密码加密存储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91177" y="4029639"/>
            <a:ext cx="5632123" cy="599760"/>
          </a:xfrm>
          <a:custGeom>
            <a:avLst/>
            <a:gdLst/>
            <a:ahLst/>
            <a:cxnLst/>
            <a:rect l="l" t="t" r="r" b="b"/>
            <a:pathLst>
              <a:path w="5632123" h="599760">
                <a:moveTo>
                  <a:pt x="37485" y="0"/>
                </a:moveTo>
                <a:lnTo>
                  <a:pt x="5594638" y="0"/>
                </a:lnTo>
                <a:cubicBezTo>
                  <a:pt x="5615340" y="0"/>
                  <a:pt x="5632123" y="16783"/>
                  <a:pt x="5632123" y="37485"/>
                </a:cubicBezTo>
                <a:lnTo>
                  <a:pt x="5632123" y="562275"/>
                </a:lnTo>
                <a:cubicBezTo>
                  <a:pt x="5632123" y="582978"/>
                  <a:pt x="5615340" y="599760"/>
                  <a:pt x="5594638" y="599760"/>
                </a:cubicBezTo>
                <a:lnTo>
                  <a:pt x="37485" y="599760"/>
                </a:lnTo>
                <a:cubicBezTo>
                  <a:pt x="16783" y="599760"/>
                  <a:pt x="0" y="582978"/>
                  <a:pt x="0" y="56227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191177" y="4029639"/>
            <a:ext cx="37485" cy="599760"/>
          </a:xfrm>
          <a:custGeom>
            <a:avLst/>
            <a:gdLst/>
            <a:ahLst/>
            <a:cxnLst/>
            <a:rect l="l" t="t" r="r" b="b"/>
            <a:pathLst>
              <a:path w="37485" h="599760">
                <a:moveTo>
                  <a:pt x="37485" y="0"/>
                </a:moveTo>
                <a:lnTo>
                  <a:pt x="37485" y="0"/>
                </a:lnTo>
                <a:lnTo>
                  <a:pt x="37485" y="599760"/>
                </a:lnTo>
                <a:lnTo>
                  <a:pt x="37485" y="599760"/>
                </a:lnTo>
                <a:cubicBezTo>
                  <a:pt x="16783" y="599760"/>
                  <a:pt x="0" y="582978"/>
                  <a:pt x="0" y="56227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4" name="Text 42"/>
          <p:cNvSpPr/>
          <p:nvPr/>
        </p:nvSpPr>
        <p:spPr>
          <a:xfrm>
            <a:off x="6284889" y="4104609"/>
            <a:ext cx="553841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seccomp + 接口限流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284889" y="4367004"/>
            <a:ext cx="552903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限制容器权限，防止恶意攻击和刷题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79536" y="4971450"/>
            <a:ext cx="11432929" cy="1508772"/>
          </a:xfrm>
          <a:custGeom>
            <a:avLst/>
            <a:gdLst/>
            <a:ahLst/>
            <a:cxnLst/>
            <a:rect l="l" t="t" r="r" b="b"/>
            <a:pathLst>
              <a:path w="11432929" h="1508772">
                <a:moveTo>
                  <a:pt x="74971" y="0"/>
                </a:moveTo>
                <a:lnTo>
                  <a:pt x="11357958" y="0"/>
                </a:lnTo>
                <a:cubicBezTo>
                  <a:pt x="11399363" y="0"/>
                  <a:pt x="11432929" y="33566"/>
                  <a:pt x="11432929" y="74971"/>
                </a:cubicBezTo>
                <a:lnTo>
                  <a:pt x="11432929" y="1433801"/>
                </a:lnTo>
                <a:cubicBezTo>
                  <a:pt x="11432929" y="1475206"/>
                  <a:pt x="11399363" y="1508772"/>
                  <a:pt x="11357958" y="1508772"/>
                </a:cubicBezTo>
                <a:lnTo>
                  <a:pt x="74971" y="1508772"/>
                </a:lnTo>
                <a:cubicBezTo>
                  <a:pt x="33566" y="1508772"/>
                  <a:pt x="0" y="1475206"/>
                  <a:pt x="0" y="1433801"/>
                </a:cubicBezTo>
                <a:lnTo>
                  <a:pt x="0" y="74971"/>
                </a:lnTo>
                <a:cubicBezTo>
                  <a:pt x="0" y="33593"/>
                  <a:pt x="33593" y="0"/>
                  <a:pt x="74971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F6AD55">
                  <a:alpha val="20000"/>
                </a:srgbClr>
              </a:gs>
            </a:gsLst>
            <a:lin ang="0" scaled="1"/>
          </a:gra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7590" y="5172932"/>
            <a:ext cx="168683" cy="168683"/>
          </a:xfrm>
          <a:custGeom>
            <a:avLst/>
            <a:gdLst/>
            <a:ahLst/>
            <a:cxnLst/>
            <a:rect l="l" t="t" r="r" b="b"/>
            <a:pathLst>
              <a:path w="168683" h="168683">
                <a:moveTo>
                  <a:pt x="42171" y="105427"/>
                </a:moveTo>
                <a:lnTo>
                  <a:pt x="8072" y="105427"/>
                </a:lnTo>
                <a:cubicBezTo>
                  <a:pt x="-132" y="105427"/>
                  <a:pt x="-5172" y="96498"/>
                  <a:pt x="-955" y="89448"/>
                </a:cubicBezTo>
                <a:lnTo>
                  <a:pt x="16473" y="60390"/>
                </a:lnTo>
                <a:cubicBezTo>
                  <a:pt x="19339" y="55613"/>
                  <a:pt x="24479" y="52713"/>
                  <a:pt x="30047" y="52713"/>
                </a:cubicBezTo>
                <a:lnTo>
                  <a:pt x="61345" y="52713"/>
                </a:lnTo>
                <a:cubicBezTo>
                  <a:pt x="86417" y="10246"/>
                  <a:pt x="123810" y="8105"/>
                  <a:pt x="148816" y="11762"/>
                </a:cubicBezTo>
                <a:cubicBezTo>
                  <a:pt x="153033" y="12388"/>
                  <a:pt x="156328" y="15682"/>
                  <a:pt x="156921" y="19866"/>
                </a:cubicBezTo>
                <a:cubicBezTo>
                  <a:pt x="160578" y="44872"/>
                  <a:pt x="158436" y="82266"/>
                  <a:pt x="115969" y="107337"/>
                </a:cubicBezTo>
                <a:lnTo>
                  <a:pt x="115969" y="138636"/>
                </a:lnTo>
                <a:cubicBezTo>
                  <a:pt x="115969" y="144204"/>
                  <a:pt x="113070" y="149343"/>
                  <a:pt x="108293" y="152210"/>
                </a:cubicBezTo>
                <a:lnTo>
                  <a:pt x="79235" y="169638"/>
                </a:lnTo>
                <a:cubicBezTo>
                  <a:pt x="72217" y="173855"/>
                  <a:pt x="63256" y="168781"/>
                  <a:pt x="63256" y="160611"/>
                </a:cubicBezTo>
                <a:lnTo>
                  <a:pt x="63256" y="126512"/>
                </a:lnTo>
                <a:cubicBezTo>
                  <a:pt x="63256" y="114882"/>
                  <a:pt x="53801" y="105427"/>
                  <a:pt x="42171" y="105427"/>
                </a:cubicBezTo>
                <a:lnTo>
                  <a:pt x="42138" y="105427"/>
                </a:lnTo>
                <a:close/>
                <a:moveTo>
                  <a:pt x="131783" y="52713"/>
                </a:moveTo>
                <a:cubicBezTo>
                  <a:pt x="131783" y="43985"/>
                  <a:pt x="124697" y="36899"/>
                  <a:pt x="115969" y="36899"/>
                </a:cubicBezTo>
                <a:cubicBezTo>
                  <a:pt x="107241" y="36899"/>
                  <a:pt x="100155" y="43985"/>
                  <a:pt x="100155" y="52713"/>
                </a:cubicBezTo>
                <a:cubicBezTo>
                  <a:pt x="100155" y="61441"/>
                  <a:pt x="107241" y="68527"/>
                  <a:pt x="115969" y="68527"/>
                </a:cubicBezTo>
                <a:cubicBezTo>
                  <a:pt x="124697" y="68527"/>
                  <a:pt x="131783" y="61441"/>
                  <a:pt x="131783" y="52713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8" name="Text 46"/>
          <p:cNvSpPr/>
          <p:nvPr/>
        </p:nvSpPr>
        <p:spPr>
          <a:xfrm>
            <a:off x="749700" y="5126075"/>
            <a:ext cx="10992480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技术难点解决方案综合优势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34161" y="5500925"/>
            <a:ext cx="2698921" cy="824670"/>
          </a:xfrm>
          <a:custGeom>
            <a:avLst/>
            <a:gdLst/>
            <a:ahLst/>
            <a:cxnLst/>
            <a:rect l="l" t="t" r="r" b="b"/>
            <a:pathLst>
              <a:path w="2698921" h="824670">
                <a:moveTo>
                  <a:pt x="37481" y="0"/>
                </a:moveTo>
                <a:lnTo>
                  <a:pt x="2661440" y="0"/>
                </a:lnTo>
                <a:cubicBezTo>
                  <a:pt x="2682126" y="0"/>
                  <a:pt x="2698921" y="16795"/>
                  <a:pt x="2698921" y="37481"/>
                </a:cubicBezTo>
                <a:lnTo>
                  <a:pt x="2698921" y="787189"/>
                </a:lnTo>
                <a:cubicBezTo>
                  <a:pt x="2698921" y="807875"/>
                  <a:pt x="2682126" y="824670"/>
                  <a:pt x="2661440" y="824670"/>
                </a:cubicBezTo>
                <a:lnTo>
                  <a:pt x="37481" y="824670"/>
                </a:lnTo>
                <a:cubicBezTo>
                  <a:pt x="16795" y="824670"/>
                  <a:pt x="0" y="807875"/>
                  <a:pt x="0" y="787189"/>
                </a:cubicBezTo>
                <a:lnTo>
                  <a:pt x="0" y="37481"/>
                </a:lnTo>
                <a:cubicBezTo>
                  <a:pt x="0" y="16795"/>
                  <a:pt x="16795" y="0"/>
                  <a:pt x="3748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770288" y="5613380"/>
            <a:ext cx="224910" cy="224910"/>
          </a:xfrm>
          <a:custGeom>
            <a:avLst/>
            <a:gdLst/>
            <a:ahLst/>
            <a:cxnLst/>
            <a:rect l="l" t="t" r="r" b="b"/>
            <a:pathLst>
              <a:path w="224910" h="224910">
                <a:moveTo>
                  <a:pt x="112455" y="224910"/>
                </a:moveTo>
                <a:cubicBezTo>
                  <a:pt x="174521" y="224910"/>
                  <a:pt x="224910" y="174521"/>
                  <a:pt x="224910" y="112455"/>
                </a:cubicBezTo>
                <a:cubicBezTo>
                  <a:pt x="224910" y="50389"/>
                  <a:pt x="174521" y="0"/>
                  <a:pt x="112455" y="0"/>
                </a:cubicBezTo>
                <a:cubicBezTo>
                  <a:pt x="50389" y="0"/>
                  <a:pt x="0" y="50389"/>
                  <a:pt x="0" y="112455"/>
                </a:cubicBezTo>
                <a:cubicBezTo>
                  <a:pt x="0" y="174521"/>
                  <a:pt x="50389" y="224910"/>
                  <a:pt x="112455" y="224910"/>
                </a:cubicBezTo>
                <a:close/>
                <a:moveTo>
                  <a:pt x="149530" y="93434"/>
                </a:moveTo>
                <a:lnTo>
                  <a:pt x="114388" y="149662"/>
                </a:lnTo>
                <a:cubicBezTo>
                  <a:pt x="112543" y="152605"/>
                  <a:pt x="109380" y="154450"/>
                  <a:pt x="105910" y="154626"/>
                </a:cubicBezTo>
                <a:cubicBezTo>
                  <a:pt x="102440" y="154801"/>
                  <a:pt x="99101" y="153220"/>
                  <a:pt x="97036" y="150409"/>
                </a:cubicBezTo>
                <a:lnTo>
                  <a:pt x="75951" y="122295"/>
                </a:lnTo>
                <a:cubicBezTo>
                  <a:pt x="72437" y="117639"/>
                  <a:pt x="73403" y="111049"/>
                  <a:pt x="78060" y="107535"/>
                </a:cubicBezTo>
                <a:cubicBezTo>
                  <a:pt x="82716" y="104021"/>
                  <a:pt x="89305" y="104987"/>
                  <a:pt x="92819" y="109644"/>
                </a:cubicBezTo>
                <a:lnTo>
                  <a:pt x="104680" y="125458"/>
                </a:lnTo>
                <a:lnTo>
                  <a:pt x="131651" y="82277"/>
                </a:lnTo>
                <a:cubicBezTo>
                  <a:pt x="134726" y="77357"/>
                  <a:pt x="141228" y="75819"/>
                  <a:pt x="146192" y="78938"/>
                </a:cubicBezTo>
                <a:cubicBezTo>
                  <a:pt x="151155" y="82057"/>
                  <a:pt x="152649" y="88514"/>
                  <a:pt x="149530" y="93478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1" name="Text 49"/>
          <p:cNvSpPr/>
          <p:nvPr/>
        </p:nvSpPr>
        <p:spPr>
          <a:xfrm>
            <a:off x="613817" y="5875776"/>
            <a:ext cx="2539610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安全可靠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18503" y="6063201"/>
            <a:ext cx="2530238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多层安全防护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343927" y="5500925"/>
            <a:ext cx="2698921" cy="824670"/>
          </a:xfrm>
          <a:custGeom>
            <a:avLst/>
            <a:gdLst/>
            <a:ahLst/>
            <a:cxnLst/>
            <a:rect l="l" t="t" r="r" b="b"/>
            <a:pathLst>
              <a:path w="2698921" h="824670">
                <a:moveTo>
                  <a:pt x="37481" y="0"/>
                </a:moveTo>
                <a:lnTo>
                  <a:pt x="2661440" y="0"/>
                </a:lnTo>
                <a:cubicBezTo>
                  <a:pt x="2682126" y="0"/>
                  <a:pt x="2698921" y="16795"/>
                  <a:pt x="2698921" y="37481"/>
                </a:cubicBezTo>
                <a:lnTo>
                  <a:pt x="2698921" y="787189"/>
                </a:lnTo>
                <a:cubicBezTo>
                  <a:pt x="2698921" y="807875"/>
                  <a:pt x="2682126" y="824670"/>
                  <a:pt x="2661440" y="824670"/>
                </a:cubicBezTo>
                <a:lnTo>
                  <a:pt x="37481" y="824670"/>
                </a:lnTo>
                <a:cubicBezTo>
                  <a:pt x="16795" y="824670"/>
                  <a:pt x="0" y="807875"/>
                  <a:pt x="0" y="787189"/>
                </a:cubicBezTo>
                <a:lnTo>
                  <a:pt x="0" y="37481"/>
                </a:lnTo>
                <a:cubicBezTo>
                  <a:pt x="0" y="16795"/>
                  <a:pt x="16795" y="0"/>
                  <a:pt x="3748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4594110" y="5613380"/>
            <a:ext cx="196796" cy="224910"/>
          </a:xfrm>
          <a:custGeom>
            <a:avLst/>
            <a:gdLst/>
            <a:ahLst/>
            <a:cxnLst/>
            <a:rect l="l" t="t" r="r" b="b"/>
            <a:pathLst>
              <a:path w="196796" h="224910">
                <a:moveTo>
                  <a:pt x="148827" y="-4349"/>
                </a:moveTo>
                <a:cubicBezTo>
                  <a:pt x="154055" y="-571"/>
                  <a:pt x="155987" y="6282"/>
                  <a:pt x="153615" y="12256"/>
                </a:cubicBezTo>
                <a:lnTo>
                  <a:pt x="119176" y="98398"/>
                </a:lnTo>
                <a:lnTo>
                  <a:pt x="182739" y="98398"/>
                </a:lnTo>
                <a:cubicBezTo>
                  <a:pt x="188670" y="98398"/>
                  <a:pt x="193941" y="102088"/>
                  <a:pt x="195962" y="107667"/>
                </a:cubicBezTo>
                <a:cubicBezTo>
                  <a:pt x="197982" y="113246"/>
                  <a:pt x="196269" y="119483"/>
                  <a:pt x="191745" y="123261"/>
                </a:cubicBezTo>
                <a:lnTo>
                  <a:pt x="65233" y="228688"/>
                </a:lnTo>
                <a:cubicBezTo>
                  <a:pt x="60269" y="232817"/>
                  <a:pt x="53197" y="233037"/>
                  <a:pt x="47969" y="229259"/>
                </a:cubicBezTo>
                <a:cubicBezTo>
                  <a:pt x="42742" y="225481"/>
                  <a:pt x="40809" y="218628"/>
                  <a:pt x="43181" y="212654"/>
                </a:cubicBezTo>
                <a:lnTo>
                  <a:pt x="77620" y="126512"/>
                </a:lnTo>
                <a:lnTo>
                  <a:pt x="14057" y="126512"/>
                </a:lnTo>
                <a:cubicBezTo>
                  <a:pt x="8127" y="126512"/>
                  <a:pt x="2855" y="122822"/>
                  <a:pt x="835" y="117243"/>
                </a:cubicBezTo>
                <a:cubicBezTo>
                  <a:pt x="-1186" y="111664"/>
                  <a:pt x="527" y="105427"/>
                  <a:pt x="5052" y="101649"/>
                </a:cubicBezTo>
                <a:lnTo>
                  <a:pt x="131564" y="-3778"/>
                </a:lnTo>
                <a:cubicBezTo>
                  <a:pt x="136527" y="-7907"/>
                  <a:pt x="143600" y="-8127"/>
                  <a:pt x="148827" y="-4349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5" name="Text 53"/>
          <p:cNvSpPr/>
          <p:nvPr/>
        </p:nvSpPr>
        <p:spPr>
          <a:xfrm>
            <a:off x="3423582" y="5875776"/>
            <a:ext cx="2539610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高性能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428268" y="6063201"/>
            <a:ext cx="2530238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缓存+异步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53692" y="5500925"/>
            <a:ext cx="2698921" cy="824670"/>
          </a:xfrm>
          <a:custGeom>
            <a:avLst/>
            <a:gdLst/>
            <a:ahLst/>
            <a:cxnLst/>
            <a:rect l="l" t="t" r="r" b="b"/>
            <a:pathLst>
              <a:path w="2698921" h="824670">
                <a:moveTo>
                  <a:pt x="37481" y="0"/>
                </a:moveTo>
                <a:lnTo>
                  <a:pt x="2661440" y="0"/>
                </a:lnTo>
                <a:cubicBezTo>
                  <a:pt x="2682126" y="0"/>
                  <a:pt x="2698921" y="16795"/>
                  <a:pt x="2698921" y="37481"/>
                </a:cubicBezTo>
                <a:lnTo>
                  <a:pt x="2698921" y="787189"/>
                </a:lnTo>
                <a:cubicBezTo>
                  <a:pt x="2698921" y="807875"/>
                  <a:pt x="2682126" y="824670"/>
                  <a:pt x="2661440" y="824670"/>
                </a:cubicBezTo>
                <a:lnTo>
                  <a:pt x="37481" y="824670"/>
                </a:lnTo>
                <a:cubicBezTo>
                  <a:pt x="16795" y="824670"/>
                  <a:pt x="0" y="807875"/>
                  <a:pt x="0" y="787189"/>
                </a:cubicBezTo>
                <a:lnTo>
                  <a:pt x="0" y="37481"/>
                </a:lnTo>
                <a:cubicBezTo>
                  <a:pt x="0" y="16795"/>
                  <a:pt x="16795" y="0"/>
                  <a:pt x="3748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403875" y="5613380"/>
            <a:ext cx="196796" cy="224910"/>
          </a:xfrm>
          <a:custGeom>
            <a:avLst/>
            <a:gdLst/>
            <a:ahLst/>
            <a:cxnLst/>
            <a:rect l="l" t="t" r="r" b="b"/>
            <a:pathLst>
              <a:path w="196796" h="224910">
                <a:moveTo>
                  <a:pt x="73799" y="14057"/>
                </a:moveTo>
                <a:lnTo>
                  <a:pt x="10543" y="14057"/>
                </a:lnTo>
                <a:cubicBezTo>
                  <a:pt x="4700" y="14057"/>
                  <a:pt x="0" y="18757"/>
                  <a:pt x="0" y="24600"/>
                </a:cubicBezTo>
                <a:lnTo>
                  <a:pt x="0" y="87855"/>
                </a:lnTo>
                <a:cubicBezTo>
                  <a:pt x="0" y="92116"/>
                  <a:pt x="2548" y="95982"/>
                  <a:pt x="6501" y="97607"/>
                </a:cubicBezTo>
                <a:cubicBezTo>
                  <a:pt x="10455" y="99233"/>
                  <a:pt x="14979" y="98310"/>
                  <a:pt x="18010" y="95323"/>
                </a:cubicBezTo>
                <a:lnTo>
                  <a:pt x="35581" y="77752"/>
                </a:lnTo>
                <a:lnTo>
                  <a:pt x="70284" y="112455"/>
                </a:lnTo>
                <a:lnTo>
                  <a:pt x="35581" y="147158"/>
                </a:lnTo>
                <a:lnTo>
                  <a:pt x="18010" y="129587"/>
                </a:lnTo>
                <a:cubicBezTo>
                  <a:pt x="14979" y="126556"/>
                  <a:pt x="10455" y="125677"/>
                  <a:pt x="6501" y="127303"/>
                </a:cubicBezTo>
                <a:cubicBezTo>
                  <a:pt x="2548" y="128928"/>
                  <a:pt x="0" y="132794"/>
                  <a:pt x="0" y="137055"/>
                </a:cubicBezTo>
                <a:lnTo>
                  <a:pt x="0" y="200311"/>
                </a:lnTo>
                <a:cubicBezTo>
                  <a:pt x="0" y="206153"/>
                  <a:pt x="4700" y="210853"/>
                  <a:pt x="10543" y="210853"/>
                </a:cubicBezTo>
                <a:lnTo>
                  <a:pt x="73799" y="210853"/>
                </a:lnTo>
                <a:cubicBezTo>
                  <a:pt x="78060" y="210853"/>
                  <a:pt x="81925" y="208305"/>
                  <a:pt x="83551" y="204352"/>
                </a:cubicBezTo>
                <a:cubicBezTo>
                  <a:pt x="85176" y="200398"/>
                  <a:pt x="84297" y="195874"/>
                  <a:pt x="81266" y="192843"/>
                </a:cubicBezTo>
                <a:lnTo>
                  <a:pt x="63695" y="175272"/>
                </a:lnTo>
                <a:lnTo>
                  <a:pt x="98398" y="140569"/>
                </a:lnTo>
                <a:lnTo>
                  <a:pt x="133101" y="175272"/>
                </a:lnTo>
                <a:lnTo>
                  <a:pt x="115530" y="192843"/>
                </a:lnTo>
                <a:cubicBezTo>
                  <a:pt x="112499" y="195874"/>
                  <a:pt x="111620" y="200398"/>
                  <a:pt x="113246" y="204352"/>
                </a:cubicBezTo>
                <a:cubicBezTo>
                  <a:pt x="114871" y="208305"/>
                  <a:pt x="118737" y="210853"/>
                  <a:pt x="122998" y="210853"/>
                </a:cubicBezTo>
                <a:lnTo>
                  <a:pt x="186254" y="210853"/>
                </a:lnTo>
                <a:cubicBezTo>
                  <a:pt x="192096" y="210853"/>
                  <a:pt x="196796" y="206153"/>
                  <a:pt x="196796" y="200311"/>
                </a:cubicBezTo>
                <a:lnTo>
                  <a:pt x="196796" y="137055"/>
                </a:lnTo>
                <a:cubicBezTo>
                  <a:pt x="196796" y="132794"/>
                  <a:pt x="194249" y="128928"/>
                  <a:pt x="190295" y="127303"/>
                </a:cubicBezTo>
                <a:cubicBezTo>
                  <a:pt x="186342" y="125677"/>
                  <a:pt x="181817" y="126556"/>
                  <a:pt x="178786" y="129587"/>
                </a:cubicBezTo>
                <a:lnTo>
                  <a:pt x="161215" y="147158"/>
                </a:lnTo>
                <a:lnTo>
                  <a:pt x="126512" y="112455"/>
                </a:lnTo>
                <a:lnTo>
                  <a:pt x="161215" y="77752"/>
                </a:lnTo>
                <a:lnTo>
                  <a:pt x="178786" y="95323"/>
                </a:lnTo>
                <a:cubicBezTo>
                  <a:pt x="181817" y="98354"/>
                  <a:pt x="186342" y="99233"/>
                  <a:pt x="190295" y="97607"/>
                </a:cubicBezTo>
                <a:cubicBezTo>
                  <a:pt x="194249" y="95982"/>
                  <a:pt x="196796" y="92116"/>
                  <a:pt x="196796" y="87855"/>
                </a:cubicBezTo>
                <a:lnTo>
                  <a:pt x="196796" y="24600"/>
                </a:lnTo>
                <a:cubicBezTo>
                  <a:pt x="196796" y="18757"/>
                  <a:pt x="192096" y="14057"/>
                  <a:pt x="186254" y="14057"/>
                </a:cubicBezTo>
                <a:lnTo>
                  <a:pt x="122998" y="14057"/>
                </a:lnTo>
                <a:cubicBezTo>
                  <a:pt x="118737" y="14057"/>
                  <a:pt x="114871" y="16605"/>
                  <a:pt x="113246" y="20558"/>
                </a:cubicBezTo>
                <a:cubicBezTo>
                  <a:pt x="111620" y="24512"/>
                  <a:pt x="112543" y="29036"/>
                  <a:pt x="115530" y="32067"/>
                </a:cubicBezTo>
                <a:lnTo>
                  <a:pt x="133101" y="49638"/>
                </a:lnTo>
                <a:lnTo>
                  <a:pt x="98398" y="84341"/>
                </a:lnTo>
                <a:lnTo>
                  <a:pt x="63695" y="49638"/>
                </a:lnTo>
                <a:lnTo>
                  <a:pt x="81266" y="32067"/>
                </a:lnTo>
                <a:cubicBezTo>
                  <a:pt x="84297" y="29036"/>
                  <a:pt x="85176" y="24512"/>
                  <a:pt x="83551" y="20558"/>
                </a:cubicBezTo>
                <a:cubicBezTo>
                  <a:pt x="81925" y="16605"/>
                  <a:pt x="78060" y="14057"/>
                  <a:pt x="73799" y="14057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9" name="Text 57"/>
          <p:cNvSpPr/>
          <p:nvPr/>
        </p:nvSpPr>
        <p:spPr>
          <a:xfrm>
            <a:off x="6233347" y="5875776"/>
            <a:ext cx="2539610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高扩展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238033" y="6063201"/>
            <a:ext cx="2530238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微服务架构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963457" y="5500925"/>
            <a:ext cx="2698921" cy="824670"/>
          </a:xfrm>
          <a:custGeom>
            <a:avLst/>
            <a:gdLst/>
            <a:ahLst/>
            <a:cxnLst/>
            <a:rect l="l" t="t" r="r" b="b"/>
            <a:pathLst>
              <a:path w="2698921" h="824670">
                <a:moveTo>
                  <a:pt x="37481" y="0"/>
                </a:moveTo>
                <a:lnTo>
                  <a:pt x="2661440" y="0"/>
                </a:lnTo>
                <a:cubicBezTo>
                  <a:pt x="2682126" y="0"/>
                  <a:pt x="2698921" y="16795"/>
                  <a:pt x="2698921" y="37481"/>
                </a:cubicBezTo>
                <a:lnTo>
                  <a:pt x="2698921" y="787189"/>
                </a:lnTo>
                <a:cubicBezTo>
                  <a:pt x="2698921" y="807875"/>
                  <a:pt x="2682126" y="824670"/>
                  <a:pt x="2661440" y="824670"/>
                </a:cubicBezTo>
                <a:lnTo>
                  <a:pt x="37481" y="824670"/>
                </a:lnTo>
                <a:cubicBezTo>
                  <a:pt x="16795" y="824670"/>
                  <a:pt x="0" y="807875"/>
                  <a:pt x="0" y="787189"/>
                </a:cubicBezTo>
                <a:lnTo>
                  <a:pt x="0" y="37481"/>
                </a:lnTo>
                <a:cubicBezTo>
                  <a:pt x="0" y="16795"/>
                  <a:pt x="16795" y="0"/>
                  <a:pt x="3748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213787" y="5613380"/>
            <a:ext cx="196796" cy="224910"/>
          </a:xfrm>
          <a:custGeom>
            <a:avLst/>
            <a:gdLst/>
            <a:ahLst/>
            <a:cxnLst/>
            <a:rect l="l" t="t" r="r" b="b"/>
            <a:pathLst>
              <a:path w="196796" h="224910">
                <a:moveTo>
                  <a:pt x="196796" y="90403"/>
                </a:moveTo>
                <a:cubicBezTo>
                  <a:pt x="190295" y="94708"/>
                  <a:pt x="182827" y="98179"/>
                  <a:pt x="175052" y="100946"/>
                </a:cubicBezTo>
                <a:cubicBezTo>
                  <a:pt x="154406" y="108326"/>
                  <a:pt x="127303" y="112455"/>
                  <a:pt x="98398" y="112455"/>
                </a:cubicBezTo>
                <a:cubicBezTo>
                  <a:pt x="69494" y="112455"/>
                  <a:pt x="42346" y="108282"/>
                  <a:pt x="21744" y="100946"/>
                </a:cubicBezTo>
                <a:cubicBezTo>
                  <a:pt x="14013" y="98179"/>
                  <a:pt x="6501" y="94708"/>
                  <a:pt x="0" y="90403"/>
                </a:cubicBezTo>
                <a:lnTo>
                  <a:pt x="0" y="126512"/>
                </a:lnTo>
                <a:cubicBezTo>
                  <a:pt x="0" y="145928"/>
                  <a:pt x="44060" y="161654"/>
                  <a:pt x="98398" y="161654"/>
                </a:cubicBezTo>
                <a:cubicBezTo>
                  <a:pt x="152737" y="161654"/>
                  <a:pt x="196796" y="145928"/>
                  <a:pt x="196796" y="126512"/>
                </a:cubicBezTo>
                <a:lnTo>
                  <a:pt x="196796" y="90403"/>
                </a:lnTo>
                <a:close/>
                <a:moveTo>
                  <a:pt x="196796" y="56228"/>
                </a:moveTo>
                <a:lnTo>
                  <a:pt x="196796" y="35142"/>
                </a:lnTo>
                <a:cubicBezTo>
                  <a:pt x="196796" y="15726"/>
                  <a:pt x="152737" y="0"/>
                  <a:pt x="98398" y="0"/>
                </a:cubicBezTo>
                <a:cubicBezTo>
                  <a:pt x="44060" y="0"/>
                  <a:pt x="0" y="15726"/>
                  <a:pt x="0" y="35142"/>
                </a:cubicBezTo>
                <a:lnTo>
                  <a:pt x="0" y="56228"/>
                </a:lnTo>
                <a:cubicBezTo>
                  <a:pt x="0" y="75644"/>
                  <a:pt x="44060" y="91370"/>
                  <a:pt x="98398" y="91370"/>
                </a:cubicBezTo>
                <a:cubicBezTo>
                  <a:pt x="152737" y="91370"/>
                  <a:pt x="196796" y="75644"/>
                  <a:pt x="196796" y="56228"/>
                </a:cubicBezTo>
                <a:close/>
                <a:moveTo>
                  <a:pt x="175052" y="171230"/>
                </a:moveTo>
                <a:cubicBezTo>
                  <a:pt x="154450" y="178566"/>
                  <a:pt x="127347" y="182739"/>
                  <a:pt x="98398" y="182739"/>
                </a:cubicBezTo>
                <a:cubicBezTo>
                  <a:pt x="69450" y="182739"/>
                  <a:pt x="42346" y="178566"/>
                  <a:pt x="21744" y="171230"/>
                </a:cubicBezTo>
                <a:cubicBezTo>
                  <a:pt x="14013" y="168463"/>
                  <a:pt x="6501" y="164993"/>
                  <a:pt x="0" y="160688"/>
                </a:cubicBezTo>
                <a:lnTo>
                  <a:pt x="0" y="189768"/>
                </a:lnTo>
                <a:cubicBezTo>
                  <a:pt x="0" y="209184"/>
                  <a:pt x="44060" y="224910"/>
                  <a:pt x="98398" y="224910"/>
                </a:cubicBezTo>
                <a:cubicBezTo>
                  <a:pt x="152737" y="224910"/>
                  <a:pt x="196796" y="209184"/>
                  <a:pt x="196796" y="189768"/>
                </a:cubicBezTo>
                <a:lnTo>
                  <a:pt x="196796" y="160688"/>
                </a:lnTo>
                <a:cubicBezTo>
                  <a:pt x="190295" y="164993"/>
                  <a:pt x="182827" y="168463"/>
                  <a:pt x="175052" y="17123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63" name="Text 61"/>
          <p:cNvSpPr/>
          <p:nvPr/>
        </p:nvSpPr>
        <p:spPr>
          <a:xfrm>
            <a:off x="9043113" y="5875776"/>
            <a:ext cx="2539610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高可用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047798" y="6063201"/>
            <a:ext cx="2530238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集群+备份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2537" y="362537"/>
            <a:ext cx="957815" cy="295401"/>
          </a:xfrm>
          <a:custGeom>
            <a:avLst/>
            <a:gdLst/>
            <a:ahLst/>
            <a:cxnLst/>
            <a:rect l="l" t="t" r="r" b="b"/>
            <a:pathLst>
              <a:path w="957815" h="295401">
                <a:moveTo>
                  <a:pt x="35806" y="0"/>
                </a:moveTo>
                <a:lnTo>
                  <a:pt x="922009" y="0"/>
                </a:lnTo>
                <a:cubicBezTo>
                  <a:pt x="941784" y="0"/>
                  <a:pt x="957815" y="16031"/>
                  <a:pt x="957815" y="35806"/>
                </a:cubicBezTo>
                <a:lnTo>
                  <a:pt x="957815" y="259595"/>
                </a:lnTo>
                <a:cubicBezTo>
                  <a:pt x="957815" y="279370"/>
                  <a:pt x="941784" y="295401"/>
                  <a:pt x="922009" y="295401"/>
                </a:cubicBezTo>
                <a:lnTo>
                  <a:pt x="35806" y="295401"/>
                </a:lnTo>
                <a:cubicBezTo>
                  <a:pt x="16031" y="295401"/>
                  <a:pt x="0" y="279370"/>
                  <a:pt x="0" y="259595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4432" y="438626"/>
            <a:ext cx="797806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8062" y="734026"/>
            <a:ext cx="11637004" cy="358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537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系统特点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7013" y="1244264"/>
            <a:ext cx="5648423" cy="1557568"/>
          </a:xfrm>
          <a:custGeom>
            <a:avLst/>
            <a:gdLst/>
            <a:ahLst/>
            <a:cxnLst/>
            <a:rect l="l" t="t" r="r" b="b"/>
            <a:pathLst>
              <a:path w="5648423" h="1557568">
                <a:moveTo>
                  <a:pt x="71617" y="0"/>
                </a:moveTo>
                <a:lnTo>
                  <a:pt x="5576806" y="0"/>
                </a:lnTo>
                <a:cubicBezTo>
                  <a:pt x="5616359" y="0"/>
                  <a:pt x="5648423" y="32064"/>
                  <a:pt x="5648423" y="71617"/>
                </a:cubicBezTo>
                <a:lnTo>
                  <a:pt x="5648423" y="1485951"/>
                </a:lnTo>
                <a:cubicBezTo>
                  <a:pt x="5648423" y="1525504"/>
                  <a:pt x="5616359" y="1557568"/>
                  <a:pt x="5576806" y="1557568"/>
                </a:cubicBezTo>
                <a:lnTo>
                  <a:pt x="71617" y="1557568"/>
                </a:lnTo>
                <a:cubicBezTo>
                  <a:pt x="32090" y="1557568"/>
                  <a:pt x="0" y="1525478"/>
                  <a:pt x="0" y="1485951"/>
                </a:cubicBezTo>
                <a:lnTo>
                  <a:pt x="0" y="71617"/>
                </a:lnTo>
                <a:cubicBezTo>
                  <a:pt x="0" y="32064"/>
                  <a:pt x="32064" y="0"/>
                  <a:pt x="71617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4FD1C5">
                  <a:alpha val="500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3383" y="1360634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214837" y="0"/>
                </a:moveTo>
                <a:lnTo>
                  <a:pt x="214837" y="0"/>
                </a:lnTo>
                <a:cubicBezTo>
                  <a:pt x="333409" y="0"/>
                  <a:pt x="429674" y="96265"/>
                  <a:pt x="429674" y="214837"/>
                </a:cubicBezTo>
                <a:lnTo>
                  <a:pt x="429674" y="214837"/>
                </a:lnTo>
                <a:cubicBezTo>
                  <a:pt x="429674" y="333409"/>
                  <a:pt x="333409" y="429674"/>
                  <a:pt x="214837" y="429674"/>
                </a:cubicBezTo>
                <a:lnTo>
                  <a:pt x="214837" y="429674"/>
                </a:lnTo>
                <a:cubicBezTo>
                  <a:pt x="96265" y="429674"/>
                  <a:pt x="0" y="333409"/>
                  <a:pt x="0" y="214837"/>
                </a:cubicBezTo>
                <a:lnTo>
                  <a:pt x="0" y="214837"/>
                </a:lnTo>
                <a:cubicBezTo>
                  <a:pt x="0" y="96265"/>
                  <a:pt x="96265" y="0"/>
                  <a:pt x="214837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" name="Shape 5"/>
          <p:cNvSpPr/>
          <p:nvPr/>
        </p:nvSpPr>
        <p:spPr>
          <a:xfrm>
            <a:off x="586326" y="1485956"/>
            <a:ext cx="223789" cy="179031"/>
          </a:xfrm>
          <a:custGeom>
            <a:avLst/>
            <a:gdLst/>
            <a:ahLst/>
            <a:cxnLst/>
            <a:rect l="l" t="t" r="r" b="b"/>
            <a:pathLst>
              <a:path w="223789" h="179031">
                <a:moveTo>
                  <a:pt x="111894" y="78326"/>
                </a:moveTo>
                <a:cubicBezTo>
                  <a:pt x="131965" y="78326"/>
                  <a:pt x="148260" y="62031"/>
                  <a:pt x="148260" y="41960"/>
                </a:cubicBezTo>
                <a:cubicBezTo>
                  <a:pt x="148260" y="21890"/>
                  <a:pt x="131965" y="5595"/>
                  <a:pt x="111894" y="5595"/>
                </a:cubicBezTo>
                <a:cubicBezTo>
                  <a:pt x="91824" y="5595"/>
                  <a:pt x="75529" y="21890"/>
                  <a:pt x="75529" y="41960"/>
                </a:cubicBezTo>
                <a:cubicBezTo>
                  <a:pt x="75529" y="62031"/>
                  <a:pt x="91824" y="78326"/>
                  <a:pt x="111894" y="78326"/>
                </a:cubicBezTo>
                <a:close/>
                <a:moveTo>
                  <a:pt x="33568" y="81123"/>
                </a:moveTo>
                <a:cubicBezTo>
                  <a:pt x="47463" y="81123"/>
                  <a:pt x="58744" y="69842"/>
                  <a:pt x="58744" y="55947"/>
                </a:cubicBezTo>
                <a:cubicBezTo>
                  <a:pt x="58744" y="42052"/>
                  <a:pt x="47463" y="30771"/>
                  <a:pt x="33568" y="30771"/>
                </a:cubicBezTo>
                <a:cubicBezTo>
                  <a:pt x="19673" y="30771"/>
                  <a:pt x="8392" y="42052"/>
                  <a:pt x="8392" y="55947"/>
                </a:cubicBezTo>
                <a:cubicBezTo>
                  <a:pt x="8392" y="69842"/>
                  <a:pt x="19673" y="81123"/>
                  <a:pt x="33568" y="81123"/>
                </a:cubicBezTo>
                <a:close/>
                <a:moveTo>
                  <a:pt x="0" y="145463"/>
                </a:moveTo>
                <a:lnTo>
                  <a:pt x="0" y="156652"/>
                </a:lnTo>
                <a:cubicBezTo>
                  <a:pt x="0" y="162841"/>
                  <a:pt x="5000" y="167841"/>
                  <a:pt x="11189" y="167841"/>
                </a:cubicBezTo>
                <a:lnTo>
                  <a:pt x="41506" y="167841"/>
                </a:lnTo>
                <a:cubicBezTo>
                  <a:pt x="40002" y="164415"/>
                  <a:pt x="39163" y="160638"/>
                  <a:pt x="39163" y="156652"/>
                </a:cubicBezTo>
                <a:lnTo>
                  <a:pt x="39163" y="151057"/>
                </a:lnTo>
                <a:cubicBezTo>
                  <a:pt x="39163" y="132455"/>
                  <a:pt x="46156" y="115461"/>
                  <a:pt x="57661" y="102593"/>
                </a:cubicBezTo>
                <a:cubicBezTo>
                  <a:pt x="53569" y="101369"/>
                  <a:pt x="49233" y="100705"/>
                  <a:pt x="44758" y="100705"/>
                </a:cubicBezTo>
                <a:cubicBezTo>
                  <a:pt x="20036" y="100705"/>
                  <a:pt x="0" y="120741"/>
                  <a:pt x="0" y="145463"/>
                </a:cubicBezTo>
                <a:close/>
                <a:moveTo>
                  <a:pt x="215396" y="55947"/>
                </a:moveTo>
                <a:cubicBezTo>
                  <a:pt x="215396" y="42052"/>
                  <a:pt x="204115" y="30771"/>
                  <a:pt x="190220" y="30771"/>
                </a:cubicBezTo>
                <a:cubicBezTo>
                  <a:pt x="176325" y="30771"/>
                  <a:pt x="165044" y="42052"/>
                  <a:pt x="165044" y="55947"/>
                </a:cubicBezTo>
                <a:cubicBezTo>
                  <a:pt x="165044" y="69842"/>
                  <a:pt x="176325" y="81123"/>
                  <a:pt x="190220" y="81123"/>
                </a:cubicBezTo>
                <a:cubicBezTo>
                  <a:pt x="204115" y="81123"/>
                  <a:pt x="215396" y="69842"/>
                  <a:pt x="215396" y="55947"/>
                </a:cubicBezTo>
                <a:close/>
                <a:moveTo>
                  <a:pt x="55947" y="151057"/>
                </a:moveTo>
                <a:lnTo>
                  <a:pt x="55947" y="156652"/>
                </a:lnTo>
                <a:cubicBezTo>
                  <a:pt x="55947" y="162841"/>
                  <a:pt x="60947" y="167841"/>
                  <a:pt x="67137" y="167841"/>
                </a:cubicBezTo>
                <a:lnTo>
                  <a:pt x="121965" y="167841"/>
                </a:lnTo>
                <a:cubicBezTo>
                  <a:pt x="119482" y="160289"/>
                  <a:pt x="119762" y="152316"/>
                  <a:pt x="125706" y="145463"/>
                </a:cubicBezTo>
                <a:cubicBezTo>
                  <a:pt x="120811" y="139798"/>
                  <a:pt x="118538" y="131581"/>
                  <a:pt x="121720" y="123328"/>
                </a:cubicBezTo>
                <a:cubicBezTo>
                  <a:pt x="124028" y="117349"/>
                  <a:pt x="127280" y="111754"/>
                  <a:pt x="131301" y="106789"/>
                </a:cubicBezTo>
                <a:cubicBezTo>
                  <a:pt x="133189" y="104481"/>
                  <a:pt x="135357" y="102698"/>
                  <a:pt x="137700" y="101404"/>
                </a:cubicBezTo>
                <a:cubicBezTo>
                  <a:pt x="129972" y="97383"/>
                  <a:pt x="121195" y="95110"/>
                  <a:pt x="111894" y="95110"/>
                </a:cubicBezTo>
                <a:cubicBezTo>
                  <a:pt x="80983" y="95110"/>
                  <a:pt x="55947" y="120146"/>
                  <a:pt x="55947" y="151057"/>
                </a:cubicBezTo>
                <a:close/>
                <a:moveTo>
                  <a:pt x="218404" y="135637"/>
                </a:moveTo>
                <a:cubicBezTo>
                  <a:pt x="220607" y="134378"/>
                  <a:pt x="221725" y="131756"/>
                  <a:pt x="220781" y="129343"/>
                </a:cubicBezTo>
                <a:cubicBezTo>
                  <a:pt x="219103" y="125007"/>
                  <a:pt x="216760" y="120916"/>
                  <a:pt x="213823" y="117314"/>
                </a:cubicBezTo>
                <a:cubicBezTo>
                  <a:pt x="212214" y="115321"/>
                  <a:pt x="209382" y="114971"/>
                  <a:pt x="207179" y="116265"/>
                </a:cubicBezTo>
                <a:cubicBezTo>
                  <a:pt x="199556" y="120671"/>
                  <a:pt x="190185" y="115286"/>
                  <a:pt x="190185" y="106439"/>
                </a:cubicBezTo>
                <a:cubicBezTo>
                  <a:pt x="190185" y="103887"/>
                  <a:pt x="188472" y="101614"/>
                  <a:pt x="185954" y="101229"/>
                </a:cubicBezTo>
                <a:cubicBezTo>
                  <a:pt x="181444" y="100530"/>
                  <a:pt x="176583" y="100530"/>
                  <a:pt x="172072" y="101229"/>
                </a:cubicBezTo>
                <a:cubicBezTo>
                  <a:pt x="169555" y="101614"/>
                  <a:pt x="167841" y="103887"/>
                  <a:pt x="167841" y="106439"/>
                </a:cubicBezTo>
                <a:cubicBezTo>
                  <a:pt x="167841" y="115251"/>
                  <a:pt x="158470" y="120671"/>
                  <a:pt x="150847" y="116265"/>
                </a:cubicBezTo>
                <a:cubicBezTo>
                  <a:pt x="148645" y="115006"/>
                  <a:pt x="145812" y="115356"/>
                  <a:pt x="144204" y="117314"/>
                </a:cubicBezTo>
                <a:cubicBezTo>
                  <a:pt x="141267" y="120916"/>
                  <a:pt x="138924" y="125007"/>
                  <a:pt x="137245" y="129343"/>
                </a:cubicBezTo>
                <a:cubicBezTo>
                  <a:pt x="136336" y="131721"/>
                  <a:pt x="137420" y="134343"/>
                  <a:pt x="139623" y="135602"/>
                </a:cubicBezTo>
                <a:cubicBezTo>
                  <a:pt x="147281" y="140008"/>
                  <a:pt x="147281" y="150812"/>
                  <a:pt x="139623" y="155253"/>
                </a:cubicBezTo>
                <a:cubicBezTo>
                  <a:pt x="137420" y="156512"/>
                  <a:pt x="136301" y="159135"/>
                  <a:pt x="137245" y="161512"/>
                </a:cubicBezTo>
                <a:cubicBezTo>
                  <a:pt x="138924" y="165848"/>
                  <a:pt x="141267" y="169939"/>
                  <a:pt x="144204" y="173541"/>
                </a:cubicBezTo>
                <a:cubicBezTo>
                  <a:pt x="145812" y="175534"/>
                  <a:pt x="148645" y="175884"/>
                  <a:pt x="150847" y="174590"/>
                </a:cubicBezTo>
                <a:cubicBezTo>
                  <a:pt x="158470" y="170184"/>
                  <a:pt x="167841" y="175604"/>
                  <a:pt x="167841" y="184416"/>
                </a:cubicBezTo>
                <a:cubicBezTo>
                  <a:pt x="167841" y="186968"/>
                  <a:pt x="169555" y="189241"/>
                  <a:pt x="172072" y="189626"/>
                </a:cubicBezTo>
                <a:cubicBezTo>
                  <a:pt x="176583" y="190325"/>
                  <a:pt x="181444" y="190325"/>
                  <a:pt x="185954" y="189626"/>
                </a:cubicBezTo>
                <a:cubicBezTo>
                  <a:pt x="188472" y="189241"/>
                  <a:pt x="190185" y="186968"/>
                  <a:pt x="190185" y="184416"/>
                </a:cubicBezTo>
                <a:cubicBezTo>
                  <a:pt x="190185" y="175604"/>
                  <a:pt x="199556" y="170184"/>
                  <a:pt x="207179" y="174590"/>
                </a:cubicBezTo>
                <a:cubicBezTo>
                  <a:pt x="209382" y="175849"/>
                  <a:pt x="212214" y="175499"/>
                  <a:pt x="213823" y="173541"/>
                </a:cubicBezTo>
                <a:cubicBezTo>
                  <a:pt x="216760" y="169939"/>
                  <a:pt x="219103" y="165848"/>
                  <a:pt x="220781" y="161512"/>
                </a:cubicBezTo>
                <a:cubicBezTo>
                  <a:pt x="221691" y="159135"/>
                  <a:pt x="220607" y="156512"/>
                  <a:pt x="218404" y="155253"/>
                </a:cubicBezTo>
                <a:cubicBezTo>
                  <a:pt x="210746" y="150847"/>
                  <a:pt x="210746" y="140043"/>
                  <a:pt x="218404" y="135602"/>
                </a:cubicBezTo>
                <a:close/>
                <a:moveTo>
                  <a:pt x="165044" y="145463"/>
                </a:moveTo>
                <a:cubicBezTo>
                  <a:pt x="165044" y="137743"/>
                  <a:pt x="171311" y="131476"/>
                  <a:pt x="179031" y="131476"/>
                </a:cubicBezTo>
                <a:cubicBezTo>
                  <a:pt x="186750" y="131476"/>
                  <a:pt x="193018" y="137743"/>
                  <a:pt x="193018" y="145463"/>
                </a:cubicBezTo>
                <a:cubicBezTo>
                  <a:pt x="193018" y="153182"/>
                  <a:pt x="186750" y="159449"/>
                  <a:pt x="179031" y="159449"/>
                </a:cubicBezTo>
                <a:cubicBezTo>
                  <a:pt x="171311" y="159449"/>
                  <a:pt x="165044" y="153182"/>
                  <a:pt x="165044" y="145463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8" name="Text 6"/>
          <p:cNvSpPr/>
          <p:nvPr/>
        </p:nvSpPr>
        <p:spPr>
          <a:xfrm>
            <a:off x="1020476" y="1450150"/>
            <a:ext cx="1342731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多角色协同设计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3383" y="1861921"/>
            <a:ext cx="5487295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128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特点</a:t>
            </a:r>
            <a:r>
              <a:rPr lang="en-US" sz="1128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112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支持学员、教师、校方、管理员四类角色，形成完整训练教学闭环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3383" y="2148370"/>
            <a:ext cx="2685463" cy="250643"/>
          </a:xfrm>
          <a:custGeom>
            <a:avLst/>
            <a:gdLst/>
            <a:ahLst/>
            <a:cxnLst/>
            <a:rect l="l" t="t" r="r" b="b"/>
            <a:pathLst>
              <a:path w="2685463" h="250643">
                <a:moveTo>
                  <a:pt x="35807" y="0"/>
                </a:moveTo>
                <a:lnTo>
                  <a:pt x="2649656" y="0"/>
                </a:lnTo>
                <a:cubicBezTo>
                  <a:pt x="2669431" y="0"/>
                  <a:pt x="2685463" y="16031"/>
                  <a:pt x="2685463" y="35807"/>
                </a:cubicBezTo>
                <a:lnTo>
                  <a:pt x="2685463" y="214836"/>
                </a:lnTo>
                <a:cubicBezTo>
                  <a:pt x="2685463" y="234612"/>
                  <a:pt x="2669431" y="250643"/>
                  <a:pt x="2649656" y="250643"/>
                </a:cubicBezTo>
                <a:lnTo>
                  <a:pt x="35807" y="250643"/>
                </a:lnTo>
                <a:cubicBezTo>
                  <a:pt x="16045" y="250643"/>
                  <a:pt x="0" y="234599"/>
                  <a:pt x="0" y="214836"/>
                </a:cubicBezTo>
                <a:lnTo>
                  <a:pt x="0" y="35807"/>
                </a:lnTo>
                <a:cubicBezTo>
                  <a:pt x="0" y="16031"/>
                  <a:pt x="16031" y="0"/>
                  <a:pt x="3580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19189" y="2184176"/>
            <a:ext cx="2676511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学员：刷题训练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08568" y="2148370"/>
            <a:ext cx="2685463" cy="250643"/>
          </a:xfrm>
          <a:custGeom>
            <a:avLst/>
            <a:gdLst/>
            <a:ahLst/>
            <a:cxnLst/>
            <a:rect l="l" t="t" r="r" b="b"/>
            <a:pathLst>
              <a:path w="2685463" h="250643">
                <a:moveTo>
                  <a:pt x="35807" y="0"/>
                </a:moveTo>
                <a:lnTo>
                  <a:pt x="2649656" y="0"/>
                </a:lnTo>
                <a:cubicBezTo>
                  <a:pt x="2669431" y="0"/>
                  <a:pt x="2685463" y="16031"/>
                  <a:pt x="2685463" y="35807"/>
                </a:cubicBezTo>
                <a:lnTo>
                  <a:pt x="2685463" y="214836"/>
                </a:lnTo>
                <a:cubicBezTo>
                  <a:pt x="2685463" y="234612"/>
                  <a:pt x="2669431" y="250643"/>
                  <a:pt x="2649656" y="250643"/>
                </a:cubicBezTo>
                <a:lnTo>
                  <a:pt x="35807" y="250643"/>
                </a:lnTo>
                <a:cubicBezTo>
                  <a:pt x="16045" y="250643"/>
                  <a:pt x="0" y="234599"/>
                  <a:pt x="0" y="214836"/>
                </a:cubicBezTo>
                <a:lnTo>
                  <a:pt x="0" y="35807"/>
                </a:lnTo>
                <a:cubicBezTo>
                  <a:pt x="0" y="16031"/>
                  <a:pt x="16031" y="0"/>
                  <a:pt x="3580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44374" y="2184176"/>
            <a:ext cx="2676511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教师：教学管理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3383" y="2434819"/>
            <a:ext cx="2685463" cy="250643"/>
          </a:xfrm>
          <a:custGeom>
            <a:avLst/>
            <a:gdLst/>
            <a:ahLst/>
            <a:cxnLst/>
            <a:rect l="l" t="t" r="r" b="b"/>
            <a:pathLst>
              <a:path w="2685463" h="250643">
                <a:moveTo>
                  <a:pt x="35807" y="0"/>
                </a:moveTo>
                <a:lnTo>
                  <a:pt x="2649656" y="0"/>
                </a:lnTo>
                <a:cubicBezTo>
                  <a:pt x="2669431" y="0"/>
                  <a:pt x="2685463" y="16031"/>
                  <a:pt x="2685463" y="35807"/>
                </a:cubicBezTo>
                <a:lnTo>
                  <a:pt x="2685463" y="214836"/>
                </a:lnTo>
                <a:cubicBezTo>
                  <a:pt x="2685463" y="234612"/>
                  <a:pt x="2669431" y="250643"/>
                  <a:pt x="2649656" y="250643"/>
                </a:cubicBezTo>
                <a:lnTo>
                  <a:pt x="35807" y="250643"/>
                </a:lnTo>
                <a:cubicBezTo>
                  <a:pt x="16045" y="250643"/>
                  <a:pt x="0" y="234599"/>
                  <a:pt x="0" y="214836"/>
                </a:cubicBezTo>
                <a:lnTo>
                  <a:pt x="0" y="35807"/>
                </a:lnTo>
                <a:cubicBezTo>
                  <a:pt x="0" y="16031"/>
                  <a:pt x="16031" y="0"/>
                  <a:pt x="3580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19189" y="2470626"/>
            <a:ext cx="2676511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校方：数据看板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08568" y="2434819"/>
            <a:ext cx="2685463" cy="250643"/>
          </a:xfrm>
          <a:custGeom>
            <a:avLst/>
            <a:gdLst/>
            <a:ahLst/>
            <a:cxnLst/>
            <a:rect l="l" t="t" r="r" b="b"/>
            <a:pathLst>
              <a:path w="2685463" h="250643">
                <a:moveTo>
                  <a:pt x="35807" y="0"/>
                </a:moveTo>
                <a:lnTo>
                  <a:pt x="2649656" y="0"/>
                </a:lnTo>
                <a:cubicBezTo>
                  <a:pt x="2669431" y="0"/>
                  <a:pt x="2685463" y="16031"/>
                  <a:pt x="2685463" y="35807"/>
                </a:cubicBezTo>
                <a:lnTo>
                  <a:pt x="2685463" y="214836"/>
                </a:lnTo>
                <a:cubicBezTo>
                  <a:pt x="2685463" y="234612"/>
                  <a:pt x="2669431" y="250643"/>
                  <a:pt x="2649656" y="250643"/>
                </a:cubicBezTo>
                <a:lnTo>
                  <a:pt x="35807" y="250643"/>
                </a:lnTo>
                <a:cubicBezTo>
                  <a:pt x="16045" y="250643"/>
                  <a:pt x="0" y="234599"/>
                  <a:pt x="0" y="214836"/>
                </a:cubicBezTo>
                <a:lnTo>
                  <a:pt x="0" y="35807"/>
                </a:lnTo>
                <a:cubicBezTo>
                  <a:pt x="0" y="16031"/>
                  <a:pt x="16031" y="0"/>
                  <a:pt x="3580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244374" y="2470626"/>
            <a:ext cx="2676511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管理员：系统运维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7013" y="2927154"/>
            <a:ext cx="5648423" cy="1414344"/>
          </a:xfrm>
          <a:custGeom>
            <a:avLst/>
            <a:gdLst/>
            <a:ahLst/>
            <a:cxnLst/>
            <a:rect l="l" t="t" r="r" b="b"/>
            <a:pathLst>
              <a:path w="5648423" h="1414344">
                <a:moveTo>
                  <a:pt x="71608" y="0"/>
                </a:moveTo>
                <a:lnTo>
                  <a:pt x="5576815" y="0"/>
                </a:lnTo>
                <a:cubicBezTo>
                  <a:pt x="5616363" y="0"/>
                  <a:pt x="5648423" y="32060"/>
                  <a:pt x="5648423" y="71608"/>
                </a:cubicBezTo>
                <a:lnTo>
                  <a:pt x="5648423" y="1342735"/>
                </a:lnTo>
                <a:cubicBezTo>
                  <a:pt x="5648423" y="1382284"/>
                  <a:pt x="5616363" y="1414344"/>
                  <a:pt x="5576815" y="1414344"/>
                </a:cubicBezTo>
                <a:lnTo>
                  <a:pt x="71608" y="1414344"/>
                </a:lnTo>
                <a:cubicBezTo>
                  <a:pt x="32087" y="1414344"/>
                  <a:pt x="0" y="1382257"/>
                  <a:pt x="0" y="1342735"/>
                </a:cubicBezTo>
                <a:lnTo>
                  <a:pt x="0" y="71608"/>
                </a:lnTo>
                <a:cubicBezTo>
                  <a:pt x="0" y="32087"/>
                  <a:pt x="32087" y="0"/>
                  <a:pt x="71608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F6AD55">
                  <a:alpha val="5000"/>
                </a:srgbClr>
              </a:gs>
            </a:gsLst>
            <a:lin ang="2700000" scaled="1"/>
          </a:gradFill>
          <a:ln w="25400">
            <a:solidFill>
              <a:srgbClr val="F6AD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3383" y="3043524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214837" y="0"/>
                </a:moveTo>
                <a:lnTo>
                  <a:pt x="214837" y="0"/>
                </a:lnTo>
                <a:cubicBezTo>
                  <a:pt x="333409" y="0"/>
                  <a:pt x="429674" y="96265"/>
                  <a:pt x="429674" y="214837"/>
                </a:cubicBezTo>
                <a:lnTo>
                  <a:pt x="429674" y="214837"/>
                </a:lnTo>
                <a:cubicBezTo>
                  <a:pt x="429674" y="333409"/>
                  <a:pt x="333409" y="429674"/>
                  <a:pt x="214837" y="429674"/>
                </a:cubicBezTo>
                <a:lnTo>
                  <a:pt x="214837" y="429674"/>
                </a:lnTo>
                <a:cubicBezTo>
                  <a:pt x="96265" y="429674"/>
                  <a:pt x="0" y="333409"/>
                  <a:pt x="0" y="214837"/>
                </a:cubicBezTo>
                <a:lnTo>
                  <a:pt x="0" y="214837"/>
                </a:lnTo>
                <a:cubicBezTo>
                  <a:pt x="0" y="96265"/>
                  <a:pt x="96265" y="0"/>
                  <a:pt x="214837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0" name="Shape 18"/>
          <p:cNvSpPr/>
          <p:nvPr/>
        </p:nvSpPr>
        <p:spPr>
          <a:xfrm>
            <a:off x="608705" y="3168846"/>
            <a:ext cx="179031" cy="179031"/>
          </a:xfrm>
          <a:custGeom>
            <a:avLst/>
            <a:gdLst/>
            <a:ahLst/>
            <a:cxnLst/>
            <a:rect l="l" t="t" r="r" b="b"/>
            <a:pathLst>
              <a:path w="179031" h="179031">
                <a:moveTo>
                  <a:pt x="67137" y="22379"/>
                </a:moveTo>
                <a:cubicBezTo>
                  <a:pt x="67137" y="16190"/>
                  <a:pt x="72137" y="11189"/>
                  <a:pt x="78326" y="11189"/>
                </a:cubicBezTo>
                <a:lnTo>
                  <a:pt x="100705" y="11189"/>
                </a:lnTo>
                <a:cubicBezTo>
                  <a:pt x="106894" y="11189"/>
                  <a:pt x="111894" y="16190"/>
                  <a:pt x="111894" y="22379"/>
                </a:cubicBezTo>
                <a:lnTo>
                  <a:pt x="111894" y="44758"/>
                </a:lnTo>
                <a:cubicBezTo>
                  <a:pt x="111894" y="50947"/>
                  <a:pt x="106894" y="55947"/>
                  <a:pt x="100705" y="55947"/>
                </a:cubicBezTo>
                <a:lnTo>
                  <a:pt x="97907" y="55947"/>
                </a:lnTo>
                <a:lnTo>
                  <a:pt x="97907" y="78326"/>
                </a:lnTo>
                <a:lnTo>
                  <a:pt x="139868" y="78326"/>
                </a:lnTo>
                <a:cubicBezTo>
                  <a:pt x="153785" y="78326"/>
                  <a:pt x="165044" y="89585"/>
                  <a:pt x="165044" y="103502"/>
                </a:cubicBezTo>
                <a:lnTo>
                  <a:pt x="165044" y="123084"/>
                </a:lnTo>
                <a:lnTo>
                  <a:pt x="167841" y="123084"/>
                </a:lnTo>
                <a:cubicBezTo>
                  <a:pt x="174031" y="123084"/>
                  <a:pt x="179031" y="128084"/>
                  <a:pt x="179031" y="134273"/>
                </a:cubicBezTo>
                <a:lnTo>
                  <a:pt x="179031" y="156652"/>
                </a:lnTo>
                <a:cubicBezTo>
                  <a:pt x="179031" y="162841"/>
                  <a:pt x="174031" y="167841"/>
                  <a:pt x="167841" y="167841"/>
                </a:cubicBezTo>
                <a:lnTo>
                  <a:pt x="145463" y="167841"/>
                </a:lnTo>
                <a:cubicBezTo>
                  <a:pt x="139273" y="167841"/>
                  <a:pt x="134273" y="162841"/>
                  <a:pt x="134273" y="156652"/>
                </a:cubicBezTo>
                <a:lnTo>
                  <a:pt x="134273" y="134273"/>
                </a:lnTo>
                <a:cubicBezTo>
                  <a:pt x="134273" y="128084"/>
                  <a:pt x="139273" y="123084"/>
                  <a:pt x="145463" y="123084"/>
                </a:cubicBezTo>
                <a:lnTo>
                  <a:pt x="148260" y="123084"/>
                </a:lnTo>
                <a:lnTo>
                  <a:pt x="148260" y="103502"/>
                </a:lnTo>
                <a:cubicBezTo>
                  <a:pt x="148260" y="98852"/>
                  <a:pt x="144518" y="95110"/>
                  <a:pt x="139868" y="95110"/>
                </a:cubicBezTo>
                <a:lnTo>
                  <a:pt x="97907" y="95110"/>
                </a:lnTo>
                <a:lnTo>
                  <a:pt x="97907" y="123084"/>
                </a:lnTo>
                <a:lnTo>
                  <a:pt x="100705" y="123084"/>
                </a:lnTo>
                <a:cubicBezTo>
                  <a:pt x="106894" y="123084"/>
                  <a:pt x="111894" y="128084"/>
                  <a:pt x="111894" y="134273"/>
                </a:cubicBezTo>
                <a:lnTo>
                  <a:pt x="111894" y="156652"/>
                </a:lnTo>
                <a:cubicBezTo>
                  <a:pt x="111894" y="162841"/>
                  <a:pt x="106894" y="167841"/>
                  <a:pt x="100705" y="167841"/>
                </a:cubicBezTo>
                <a:lnTo>
                  <a:pt x="78326" y="167841"/>
                </a:lnTo>
                <a:cubicBezTo>
                  <a:pt x="72137" y="167841"/>
                  <a:pt x="67137" y="162841"/>
                  <a:pt x="67137" y="156652"/>
                </a:cubicBezTo>
                <a:lnTo>
                  <a:pt x="67137" y="134273"/>
                </a:lnTo>
                <a:cubicBezTo>
                  <a:pt x="67137" y="128084"/>
                  <a:pt x="72137" y="123084"/>
                  <a:pt x="78326" y="123084"/>
                </a:cubicBezTo>
                <a:lnTo>
                  <a:pt x="81123" y="123084"/>
                </a:lnTo>
                <a:lnTo>
                  <a:pt x="81123" y="95110"/>
                </a:lnTo>
                <a:lnTo>
                  <a:pt x="39163" y="95110"/>
                </a:lnTo>
                <a:cubicBezTo>
                  <a:pt x="34512" y="95110"/>
                  <a:pt x="30771" y="98852"/>
                  <a:pt x="30771" y="103502"/>
                </a:cubicBezTo>
                <a:lnTo>
                  <a:pt x="30771" y="123084"/>
                </a:lnTo>
                <a:lnTo>
                  <a:pt x="33568" y="123084"/>
                </a:lnTo>
                <a:cubicBezTo>
                  <a:pt x="39757" y="123084"/>
                  <a:pt x="44758" y="128084"/>
                  <a:pt x="44758" y="134273"/>
                </a:cubicBezTo>
                <a:lnTo>
                  <a:pt x="44758" y="156652"/>
                </a:lnTo>
                <a:cubicBezTo>
                  <a:pt x="44758" y="162841"/>
                  <a:pt x="39757" y="167841"/>
                  <a:pt x="33568" y="167841"/>
                </a:cubicBezTo>
                <a:lnTo>
                  <a:pt x="11189" y="167841"/>
                </a:lnTo>
                <a:cubicBezTo>
                  <a:pt x="5000" y="167841"/>
                  <a:pt x="0" y="162841"/>
                  <a:pt x="0" y="156652"/>
                </a:cubicBezTo>
                <a:lnTo>
                  <a:pt x="0" y="134273"/>
                </a:lnTo>
                <a:cubicBezTo>
                  <a:pt x="0" y="128084"/>
                  <a:pt x="5000" y="123084"/>
                  <a:pt x="11189" y="123084"/>
                </a:cubicBezTo>
                <a:lnTo>
                  <a:pt x="13987" y="123084"/>
                </a:lnTo>
                <a:lnTo>
                  <a:pt x="13987" y="103502"/>
                </a:lnTo>
                <a:cubicBezTo>
                  <a:pt x="13987" y="89585"/>
                  <a:pt x="25246" y="78326"/>
                  <a:pt x="39163" y="78326"/>
                </a:cubicBezTo>
                <a:lnTo>
                  <a:pt x="81123" y="78326"/>
                </a:lnTo>
                <a:lnTo>
                  <a:pt x="81123" y="55947"/>
                </a:lnTo>
                <a:lnTo>
                  <a:pt x="78326" y="55947"/>
                </a:lnTo>
                <a:cubicBezTo>
                  <a:pt x="72137" y="55947"/>
                  <a:pt x="67137" y="50947"/>
                  <a:pt x="67137" y="44758"/>
                </a:cubicBezTo>
                <a:lnTo>
                  <a:pt x="67137" y="22379"/>
                </a:ln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21" name="Text 19"/>
          <p:cNvSpPr/>
          <p:nvPr/>
        </p:nvSpPr>
        <p:spPr>
          <a:xfrm>
            <a:off x="1020476" y="3133040"/>
            <a:ext cx="1163700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组织架构管理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3383" y="3544811"/>
            <a:ext cx="5487295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128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特点</a:t>
            </a:r>
            <a:r>
              <a:rPr lang="en-US" sz="1128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112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提供学校</a:t>
            </a:r>
            <a:r>
              <a:rPr lang="en-US" altLang="zh-CN" sz="112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–</a:t>
            </a:r>
            <a:r>
              <a:rPr lang="zh-CN" altLang="en-US" sz="112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院系</a:t>
            </a:r>
            <a:r>
              <a:rPr lang="en-US" altLang="zh-CN" sz="112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–</a:t>
            </a:r>
            <a:r>
              <a:rPr lang="zh-CN" altLang="en-US" sz="112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班级三级组织结构，适配高校教学场景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9189" y="3831260"/>
            <a:ext cx="179031" cy="179031"/>
          </a:xfrm>
          <a:custGeom>
            <a:avLst/>
            <a:gdLst/>
            <a:ahLst/>
            <a:cxnLst/>
            <a:rect l="l" t="t" r="r" b="b"/>
            <a:pathLst>
              <a:path w="179031" h="179031">
                <a:moveTo>
                  <a:pt x="95075" y="7063"/>
                </a:moveTo>
                <a:cubicBezTo>
                  <a:pt x="91648" y="5105"/>
                  <a:pt x="87417" y="5105"/>
                  <a:pt x="83956" y="7063"/>
                </a:cubicBezTo>
                <a:lnTo>
                  <a:pt x="5630" y="51821"/>
                </a:lnTo>
                <a:cubicBezTo>
                  <a:pt x="1224" y="54339"/>
                  <a:pt x="-944" y="59514"/>
                  <a:pt x="350" y="64409"/>
                </a:cubicBezTo>
                <a:cubicBezTo>
                  <a:pt x="1643" y="69305"/>
                  <a:pt x="6119" y="72731"/>
                  <a:pt x="11189" y="72731"/>
                </a:cubicBezTo>
                <a:lnTo>
                  <a:pt x="22379" y="72731"/>
                </a:lnTo>
                <a:lnTo>
                  <a:pt x="22379" y="145463"/>
                </a:lnTo>
                <a:lnTo>
                  <a:pt x="22379" y="145463"/>
                </a:lnTo>
                <a:lnTo>
                  <a:pt x="4476" y="158890"/>
                </a:lnTo>
                <a:cubicBezTo>
                  <a:pt x="1643" y="160988"/>
                  <a:pt x="0" y="164310"/>
                  <a:pt x="0" y="167841"/>
                </a:cubicBezTo>
                <a:cubicBezTo>
                  <a:pt x="0" y="174031"/>
                  <a:pt x="5000" y="179031"/>
                  <a:pt x="11189" y="179031"/>
                </a:cubicBezTo>
                <a:lnTo>
                  <a:pt x="167841" y="179031"/>
                </a:lnTo>
                <a:cubicBezTo>
                  <a:pt x="174031" y="179031"/>
                  <a:pt x="179031" y="174031"/>
                  <a:pt x="179031" y="167841"/>
                </a:cubicBezTo>
                <a:cubicBezTo>
                  <a:pt x="179031" y="164310"/>
                  <a:pt x="177387" y="160988"/>
                  <a:pt x="174555" y="158890"/>
                </a:cubicBezTo>
                <a:lnTo>
                  <a:pt x="156652" y="145463"/>
                </a:lnTo>
                <a:lnTo>
                  <a:pt x="156652" y="72731"/>
                </a:lnTo>
                <a:lnTo>
                  <a:pt x="167841" y="72731"/>
                </a:lnTo>
                <a:cubicBezTo>
                  <a:pt x="172912" y="72731"/>
                  <a:pt x="177352" y="69305"/>
                  <a:pt x="178646" y="64409"/>
                </a:cubicBezTo>
                <a:cubicBezTo>
                  <a:pt x="179940" y="59514"/>
                  <a:pt x="177772" y="54339"/>
                  <a:pt x="173366" y="51821"/>
                </a:cubicBezTo>
                <a:lnTo>
                  <a:pt x="95040" y="7063"/>
                </a:lnTo>
                <a:close/>
                <a:moveTo>
                  <a:pt x="139868" y="72731"/>
                </a:moveTo>
                <a:lnTo>
                  <a:pt x="139868" y="145463"/>
                </a:lnTo>
                <a:lnTo>
                  <a:pt x="117489" y="145463"/>
                </a:lnTo>
                <a:lnTo>
                  <a:pt x="117489" y="72731"/>
                </a:lnTo>
                <a:lnTo>
                  <a:pt x="139868" y="72731"/>
                </a:lnTo>
                <a:close/>
                <a:moveTo>
                  <a:pt x="100705" y="72731"/>
                </a:moveTo>
                <a:lnTo>
                  <a:pt x="100705" y="145463"/>
                </a:lnTo>
                <a:lnTo>
                  <a:pt x="78326" y="145463"/>
                </a:lnTo>
                <a:lnTo>
                  <a:pt x="78326" y="72731"/>
                </a:lnTo>
                <a:lnTo>
                  <a:pt x="100705" y="72731"/>
                </a:lnTo>
                <a:close/>
                <a:moveTo>
                  <a:pt x="61542" y="72731"/>
                </a:moveTo>
                <a:lnTo>
                  <a:pt x="61542" y="145463"/>
                </a:lnTo>
                <a:lnTo>
                  <a:pt x="39163" y="145463"/>
                </a:lnTo>
                <a:lnTo>
                  <a:pt x="39163" y="72731"/>
                </a:lnTo>
                <a:lnTo>
                  <a:pt x="61542" y="72731"/>
                </a:lnTo>
                <a:close/>
                <a:moveTo>
                  <a:pt x="89515" y="33568"/>
                </a:moveTo>
                <a:cubicBezTo>
                  <a:pt x="95691" y="33568"/>
                  <a:pt x="100705" y="38582"/>
                  <a:pt x="100705" y="44758"/>
                </a:cubicBezTo>
                <a:cubicBezTo>
                  <a:pt x="100705" y="50933"/>
                  <a:pt x="95691" y="55947"/>
                  <a:pt x="89515" y="55947"/>
                </a:cubicBezTo>
                <a:cubicBezTo>
                  <a:pt x="83340" y="55947"/>
                  <a:pt x="78326" y="50933"/>
                  <a:pt x="78326" y="44758"/>
                </a:cubicBezTo>
                <a:cubicBezTo>
                  <a:pt x="78326" y="38582"/>
                  <a:pt x="83340" y="33568"/>
                  <a:pt x="89515" y="33568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4" name="Text 22"/>
          <p:cNvSpPr/>
          <p:nvPr/>
        </p:nvSpPr>
        <p:spPr>
          <a:xfrm>
            <a:off x="452053" y="4046097"/>
            <a:ext cx="313304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7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学校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839262" y="3965533"/>
            <a:ext cx="125322" cy="125322"/>
          </a:xfrm>
          <a:custGeom>
            <a:avLst/>
            <a:gdLst/>
            <a:ahLst/>
            <a:cxnLst/>
            <a:rect l="l" t="t" r="r" b="b"/>
            <a:pathLst>
              <a:path w="125322" h="125322">
                <a:moveTo>
                  <a:pt x="123021" y="68193"/>
                </a:moveTo>
                <a:cubicBezTo>
                  <a:pt x="126080" y="65133"/>
                  <a:pt x="126080" y="60164"/>
                  <a:pt x="123021" y="57105"/>
                </a:cubicBezTo>
                <a:lnTo>
                  <a:pt x="83858" y="17942"/>
                </a:lnTo>
                <a:cubicBezTo>
                  <a:pt x="80798" y="14882"/>
                  <a:pt x="75829" y="14882"/>
                  <a:pt x="72770" y="17942"/>
                </a:cubicBezTo>
                <a:cubicBezTo>
                  <a:pt x="69710" y="21001"/>
                  <a:pt x="69710" y="25970"/>
                  <a:pt x="72770" y="29030"/>
                </a:cubicBezTo>
                <a:lnTo>
                  <a:pt x="98568" y="54828"/>
                </a:lnTo>
                <a:lnTo>
                  <a:pt x="7833" y="54828"/>
                </a:lnTo>
                <a:cubicBezTo>
                  <a:pt x="3500" y="54828"/>
                  <a:pt x="0" y="58328"/>
                  <a:pt x="0" y="62661"/>
                </a:cubicBezTo>
                <a:cubicBezTo>
                  <a:pt x="0" y="66993"/>
                  <a:pt x="3500" y="70493"/>
                  <a:pt x="7833" y="70493"/>
                </a:cubicBezTo>
                <a:lnTo>
                  <a:pt x="98568" y="70493"/>
                </a:lnTo>
                <a:lnTo>
                  <a:pt x="72770" y="96292"/>
                </a:lnTo>
                <a:cubicBezTo>
                  <a:pt x="69710" y="99352"/>
                  <a:pt x="69710" y="104320"/>
                  <a:pt x="72770" y="107380"/>
                </a:cubicBezTo>
                <a:cubicBezTo>
                  <a:pt x="75829" y="110440"/>
                  <a:pt x="80798" y="110440"/>
                  <a:pt x="83858" y="107380"/>
                </a:cubicBezTo>
                <a:lnTo>
                  <a:pt x="123021" y="68217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6" name="Shape 24"/>
          <p:cNvSpPr/>
          <p:nvPr/>
        </p:nvSpPr>
        <p:spPr>
          <a:xfrm>
            <a:off x="3123529" y="3831260"/>
            <a:ext cx="134273" cy="179031"/>
          </a:xfrm>
          <a:custGeom>
            <a:avLst/>
            <a:gdLst/>
            <a:ahLst/>
            <a:cxnLst/>
            <a:rect l="l" t="t" r="r" b="b"/>
            <a:pathLst>
              <a:path w="134273" h="179031">
                <a:moveTo>
                  <a:pt x="22379" y="0"/>
                </a:moveTo>
                <a:cubicBezTo>
                  <a:pt x="10036" y="0"/>
                  <a:pt x="0" y="10036"/>
                  <a:pt x="0" y="22379"/>
                </a:cubicBezTo>
                <a:lnTo>
                  <a:pt x="0" y="156652"/>
                </a:lnTo>
                <a:cubicBezTo>
                  <a:pt x="0" y="168995"/>
                  <a:pt x="10036" y="179031"/>
                  <a:pt x="22379" y="179031"/>
                </a:cubicBezTo>
                <a:lnTo>
                  <a:pt x="111894" y="179031"/>
                </a:lnTo>
                <a:cubicBezTo>
                  <a:pt x="124238" y="179031"/>
                  <a:pt x="134273" y="168995"/>
                  <a:pt x="134273" y="156652"/>
                </a:cubicBezTo>
                <a:lnTo>
                  <a:pt x="134273" y="22379"/>
                </a:lnTo>
                <a:cubicBezTo>
                  <a:pt x="134273" y="10036"/>
                  <a:pt x="124238" y="0"/>
                  <a:pt x="111894" y="0"/>
                </a:cubicBezTo>
                <a:lnTo>
                  <a:pt x="22379" y="0"/>
                </a:lnTo>
                <a:close/>
                <a:moveTo>
                  <a:pt x="61542" y="123084"/>
                </a:moveTo>
                <a:lnTo>
                  <a:pt x="72731" y="123084"/>
                </a:lnTo>
                <a:cubicBezTo>
                  <a:pt x="78920" y="123084"/>
                  <a:pt x="83921" y="128084"/>
                  <a:pt x="83921" y="134273"/>
                </a:cubicBezTo>
                <a:lnTo>
                  <a:pt x="83921" y="162247"/>
                </a:lnTo>
                <a:lnTo>
                  <a:pt x="50352" y="162247"/>
                </a:lnTo>
                <a:lnTo>
                  <a:pt x="50352" y="134273"/>
                </a:lnTo>
                <a:cubicBezTo>
                  <a:pt x="50352" y="128084"/>
                  <a:pt x="55353" y="123084"/>
                  <a:pt x="61542" y="123084"/>
                </a:cubicBezTo>
                <a:close/>
                <a:moveTo>
                  <a:pt x="33568" y="39163"/>
                </a:moveTo>
                <a:cubicBezTo>
                  <a:pt x="33568" y="36086"/>
                  <a:pt x="36086" y="33568"/>
                  <a:pt x="39163" y="33568"/>
                </a:cubicBezTo>
                <a:lnTo>
                  <a:pt x="50352" y="33568"/>
                </a:lnTo>
                <a:cubicBezTo>
                  <a:pt x="53430" y="33568"/>
                  <a:pt x="55947" y="36086"/>
                  <a:pt x="55947" y="39163"/>
                </a:cubicBezTo>
                <a:lnTo>
                  <a:pt x="55947" y="50352"/>
                </a:lnTo>
                <a:cubicBezTo>
                  <a:pt x="55947" y="53430"/>
                  <a:pt x="53430" y="55947"/>
                  <a:pt x="50352" y="55947"/>
                </a:cubicBezTo>
                <a:lnTo>
                  <a:pt x="39163" y="55947"/>
                </a:lnTo>
                <a:cubicBezTo>
                  <a:pt x="36086" y="55947"/>
                  <a:pt x="33568" y="53430"/>
                  <a:pt x="33568" y="50352"/>
                </a:cubicBezTo>
                <a:lnTo>
                  <a:pt x="33568" y="39163"/>
                </a:lnTo>
                <a:close/>
                <a:moveTo>
                  <a:pt x="83921" y="33568"/>
                </a:moveTo>
                <a:lnTo>
                  <a:pt x="95110" y="33568"/>
                </a:lnTo>
                <a:cubicBezTo>
                  <a:pt x="98187" y="33568"/>
                  <a:pt x="100705" y="36086"/>
                  <a:pt x="100705" y="39163"/>
                </a:cubicBezTo>
                <a:lnTo>
                  <a:pt x="100705" y="50352"/>
                </a:lnTo>
                <a:cubicBezTo>
                  <a:pt x="100705" y="53430"/>
                  <a:pt x="98187" y="55947"/>
                  <a:pt x="95110" y="55947"/>
                </a:cubicBezTo>
                <a:lnTo>
                  <a:pt x="83921" y="55947"/>
                </a:lnTo>
                <a:cubicBezTo>
                  <a:pt x="80844" y="55947"/>
                  <a:pt x="78326" y="53430"/>
                  <a:pt x="78326" y="50352"/>
                </a:cubicBezTo>
                <a:lnTo>
                  <a:pt x="78326" y="39163"/>
                </a:lnTo>
                <a:cubicBezTo>
                  <a:pt x="78326" y="36086"/>
                  <a:pt x="80844" y="33568"/>
                  <a:pt x="83921" y="33568"/>
                </a:cubicBezTo>
                <a:close/>
                <a:moveTo>
                  <a:pt x="33568" y="83921"/>
                </a:moveTo>
                <a:cubicBezTo>
                  <a:pt x="33568" y="80844"/>
                  <a:pt x="36086" y="78326"/>
                  <a:pt x="39163" y="78326"/>
                </a:cubicBezTo>
                <a:lnTo>
                  <a:pt x="50352" y="78326"/>
                </a:lnTo>
                <a:cubicBezTo>
                  <a:pt x="53430" y="78326"/>
                  <a:pt x="55947" y="80844"/>
                  <a:pt x="55947" y="83921"/>
                </a:cubicBezTo>
                <a:lnTo>
                  <a:pt x="55947" y="95110"/>
                </a:lnTo>
                <a:cubicBezTo>
                  <a:pt x="55947" y="98187"/>
                  <a:pt x="53430" y="100705"/>
                  <a:pt x="50352" y="100705"/>
                </a:cubicBezTo>
                <a:lnTo>
                  <a:pt x="39163" y="100705"/>
                </a:lnTo>
                <a:cubicBezTo>
                  <a:pt x="36086" y="100705"/>
                  <a:pt x="33568" y="98187"/>
                  <a:pt x="33568" y="95110"/>
                </a:cubicBezTo>
                <a:lnTo>
                  <a:pt x="33568" y="83921"/>
                </a:lnTo>
                <a:close/>
                <a:moveTo>
                  <a:pt x="83921" y="78326"/>
                </a:moveTo>
                <a:lnTo>
                  <a:pt x="95110" y="78326"/>
                </a:lnTo>
                <a:cubicBezTo>
                  <a:pt x="98187" y="78326"/>
                  <a:pt x="100705" y="80844"/>
                  <a:pt x="100705" y="83921"/>
                </a:cubicBezTo>
                <a:lnTo>
                  <a:pt x="100705" y="95110"/>
                </a:lnTo>
                <a:cubicBezTo>
                  <a:pt x="100705" y="98187"/>
                  <a:pt x="98187" y="100705"/>
                  <a:pt x="95110" y="100705"/>
                </a:cubicBezTo>
                <a:lnTo>
                  <a:pt x="83921" y="100705"/>
                </a:lnTo>
                <a:cubicBezTo>
                  <a:pt x="80844" y="100705"/>
                  <a:pt x="78326" y="98187"/>
                  <a:pt x="78326" y="95110"/>
                </a:cubicBezTo>
                <a:lnTo>
                  <a:pt x="78326" y="83921"/>
                </a:lnTo>
                <a:cubicBezTo>
                  <a:pt x="78326" y="80844"/>
                  <a:pt x="80844" y="78326"/>
                  <a:pt x="83921" y="78326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7" name="Text 25"/>
          <p:cNvSpPr/>
          <p:nvPr/>
        </p:nvSpPr>
        <p:spPr>
          <a:xfrm>
            <a:off x="3034013" y="4046097"/>
            <a:ext cx="313304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7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院系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21222" y="3965533"/>
            <a:ext cx="125322" cy="125322"/>
          </a:xfrm>
          <a:custGeom>
            <a:avLst/>
            <a:gdLst/>
            <a:ahLst/>
            <a:cxnLst/>
            <a:rect l="l" t="t" r="r" b="b"/>
            <a:pathLst>
              <a:path w="125322" h="125322">
                <a:moveTo>
                  <a:pt x="123021" y="68193"/>
                </a:moveTo>
                <a:cubicBezTo>
                  <a:pt x="126080" y="65133"/>
                  <a:pt x="126080" y="60164"/>
                  <a:pt x="123021" y="57105"/>
                </a:cubicBezTo>
                <a:lnTo>
                  <a:pt x="83858" y="17942"/>
                </a:lnTo>
                <a:cubicBezTo>
                  <a:pt x="80798" y="14882"/>
                  <a:pt x="75829" y="14882"/>
                  <a:pt x="72770" y="17942"/>
                </a:cubicBezTo>
                <a:cubicBezTo>
                  <a:pt x="69710" y="21001"/>
                  <a:pt x="69710" y="25970"/>
                  <a:pt x="72770" y="29030"/>
                </a:cubicBezTo>
                <a:lnTo>
                  <a:pt x="98568" y="54828"/>
                </a:lnTo>
                <a:lnTo>
                  <a:pt x="7833" y="54828"/>
                </a:lnTo>
                <a:cubicBezTo>
                  <a:pt x="3500" y="54828"/>
                  <a:pt x="0" y="58328"/>
                  <a:pt x="0" y="62661"/>
                </a:cubicBezTo>
                <a:cubicBezTo>
                  <a:pt x="0" y="66993"/>
                  <a:pt x="3500" y="70493"/>
                  <a:pt x="7833" y="70493"/>
                </a:cubicBezTo>
                <a:lnTo>
                  <a:pt x="98568" y="70493"/>
                </a:lnTo>
                <a:lnTo>
                  <a:pt x="72770" y="96292"/>
                </a:lnTo>
                <a:cubicBezTo>
                  <a:pt x="69710" y="99352"/>
                  <a:pt x="69710" y="104320"/>
                  <a:pt x="72770" y="107380"/>
                </a:cubicBezTo>
                <a:cubicBezTo>
                  <a:pt x="75829" y="110440"/>
                  <a:pt x="80798" y="110440"/>
                  <a:pt x="83858" y="107380"/>
                </a:cubicBezTo>
                <a:lnTo>
                  <a:pt x="123021" y="68217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0731" y="3831260"/>
            <a:ext cx="223789" cy="179031"/>
          </a:xfrm>
          <a:custGeom>
            <a:avLst/>
            <a:gdLst/>
            <a:ahLst/>
            <a:cxnLst/>
            <a:rect l="l" t="t" r="r" b="b"/>
            <a:pathLst>
              <a:path w="223789" h="179031">
                <a:moveTo>
                  <a:pt x="111894" y="5595"/>
                </a:moveTo>
                <a:cubicBezTo>
                  <a:pt x="131965" y="5595"/>
                  <a:pt x="148260" y="21890"/>
                  <a:pt x="148260" y="41960"/>
                </a:cubicBezTo>
                <a:cubicBezTo>
                  <a:pt x="148260" y="62031"/>
                  <a:pt x="131965" y="78326"/>
                  <a:pt x="111894" y="78326"/>
                </a:cubicBezTo>
                <a:cubicBezTo>
                  <a:pt x="91824" y="78326"/>
                  <a:pt x="75529" y="62031"/>
                  <a:pt x="75529" y="41960"/>
                </a:cubicBezTo>
                <a:cubicBezTo>
                  <a:pt x="75529" y="21890"/>
                  <a:pt x="91824" y="5595"/>
                  <a:pt x="111894" y="5595"/>
                </a:cubicBezTo>
                <a:close/>
                <a:moveTo>
                  <a:pt x="33568" y="30771"/>
                </a:moveTo>
                <a:cubicBezTo>
                  <a:pt x="47463" y="30771"/>
                  <a:pt x="58744" y="42052"/>
                  <a:pt x="58744" y="55947"/>
                </a:cubicBezTo>
                <a:cubicBezTo>
                  <a:pt x="58744" y="69842"/>
                  <a:pt x="47463" y="81123"/>
                  <a:pt x="33568" y="81123"/>
                </a:cubicBezTo>
                <a:cubicBezTo>
                  <a:pt x="19673" y="81123"/>
                  <a:pt x="8392" y="69842"/>
                  <a:pt x="8392" y="55947"/>
                </a:cubicBezTo>
                <a:cubicBezTo>
                  <a:pt x="8392" y="42052"/>
                  <a:pt x="19673" y="30771"/>
                  <a:pt x="33568" y="30771"/>
                </a:cubicBezTo>
                <a:close/>
                <a:moveTo>
                  <a:pt x="0" y="145463"/>
                </a:moveTo>
                <a:cubicBezTo>
                  <a:pt x="0" y="120741"/>
                  <a:pt x="20036" y="100705"/>
                  <a:pt x="44758" y="100705"/>
                </a:cubicBezTo>
                <a:cubicBezTo>
                  <a:pt x="49233" y="100705"/>
                  <a:pt x="53569" y="101369"/>
                  <a:pt x="57661" y="102593"/>
                </a:cubicBezTo>
                <a:cubicBezTo>
                  <a:pt x="46156" y="115461"/>
                  <a:pt x="39163" y="132455"/>
                  <a:pt x="39163" y="151057"/>
                </a:cubicBezTo>
                <a:lnTo>
                  <a:pt x="39163" y="156652"/>
                </a:lnTo>
                <a:cubicBezTo>
                  <a:pt x="39163" y="160638"/>
                  <a:pt x="40002" y="164415"/>
                  <a:pt x="41506" y="167841"/>
                </a:cubicBezTo>
                <a:lnTo>
                  <a:pt x="11189" y="167841"/>
                </a:lnTo>
                <a:cubicBezTo>
                  <a:pt x="5000" y="167841"/>
                  <a:pt x="0" y="162841"/>
                  <a:pt x="0" y="156652"/>
                </a:cubicBezTo>
                <a:lnTo>
                  <a:pt x="0" y="145463"/>
                </a:lnTo>
                <a:close/>
                <a:moveTo>
                  <a:pt x="182283" y="167841"/>
                </a:moveTo>
                <a:cubicBezTo>
                  <a:pt x="183786" y="164415"/>
                  <a:pt x="184626" y="160638"/>
                  <a:pt x="184626" y="156652"/>
                </a:cubicBezTo>
                <a:lnTo>
                  <a:pt x="184626" y="151057"/>
                </a:lnTo>
                <a:cubicBezTo>
                  <a:pt x="184626" y="132455"/>
                  <a:pt x="177632" y="115461"/>
                  <a:pt x="166128" y="102593"/>
                </a:cubicBezTo>
                <a:cubicBezTo>
                  <a:pt x="170219" y="101369"/>
                  <a:pt x="174555" y="100705"/>
                  <a:pt x="179031" y="100705"/>
                </a:cubicBezTo>
                <a:cubicBezTo>
                  <a:pt x="203752" y="100705"/>
                  <a:pt x="223789" y="120741"/>
                  <a:pt x="223789" y="145463"/>
                </a:cubicBezTo>
                <a:lnTo>
                  <a:pt x="223789" y="156652"/>
                </a:lnTo>
                <a:cubicBezTo>
                  <a:pt x="223789" y="162841"/>
                  <a:pt x="218788" y="167841"/>
                  <a:pt x="212599" y="167841"/>
                </a:cubicBezTo>
                <a:lnTo>
                  <a:pt x="182283" y="167841"/>
                </a:lnTo>
                <a:close/>
                <a:moveTo>
                  <a:pt x="165044" y="55947"/>
                </a:moveTo>
                <a:cubicBezTo>
                  <a:pt x="165044" y="42052"/>
                  <a:pt x="176325" y="30771"/>
                  <a:pt x="190220" y="30771"/>
                </a:cubicBezTo>
                <a:cubicBezTo>
                  <a:pt x="204115" y="30771"/>
                  <a:pt x="215396" y="42052"/>
                  <a:pt x="215396" y="55947"/>
                </a:cubicBezTo>
                <a:cubicBezTo>
                  <a:pt x="215396" y="69842"/>
                  <a:pt x="204115" y="81123"/>
                  <a:pt x="190220" y="81123"/>
                </a:cubicBezTo>
                <a:cubicBezTo>
                  <a:pt x="176325" y="81123"/>
                  <a:pt x="165044" y="69842"/>
                  <a:pt x="165044" y="55947"/>
                </a:cubicBezTo>
                <a:close/>
                <a:moveTo>
                  <a:pt x="55947" y="151057"/>
                </a:moveTo>
                <a:cubicBezTo>
                  <a:pt x="55947" y="120146"/>
                  <a:pt x="80983" y="95110"/>
                  <a:pt x="111894" y="95110"/>
                </a:cubicBezTo>
                <a:cubicBezTo>
                  <a:pt x="142805" y="95110"/>
                  <a:pt x="167841" y="120146"/>
                  <a:pt x="167841" y="151057"/>
                </a:cubicBezTo>
                <a:lnTo>
                  <a:pt x="167841" y="156652"/>
                </a:lnTo>
                <a:cubicBezTo>
                  <a:pt x="167841" y="162841"/>
                  <a:pt x="162841" y="167841"/>
                  <a:pt x="156652" y="167841"/>
                </a:cubicBezTo>
                <a:lnTo>
                  <a:pt x="67137" y="167841"/>
                </a:lnTo>
                <a:cubicBezTo>
                  <a:pt x="60947" y="167841"/>
                  <a:pt x="55947" y="162841"/>
                  <a:pt x="55947" y="156652"/>
                </a:cubicBezTo>
                <a:lnTo>
                  <a:pt x="55947" y="151057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15974" y="4046097"/>
            <a:ext cx="313304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7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班级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5445" y="1244264"/>
            <a:ext cx="5648423" cy="1844018"/>
          </a:xfrm>
          <a:custGeom>
            <a:avLst/>
            <a:gdLst/>
            <a:ahLst/>
            <a:cxnLst/>
            <a:rect l="l" t="t" r="r" b="b"/>
            <a:pathLst>
              <a:path w="5648423" h="1844018">
                <a:moveTo>
                  <a:pt x="71603" y="0"/>
                </a:moveTo>
                <a:lnTo>
                  <a:pt x="5576820" y="0"/>
                </a:lnTo>
                <a:cubicBezTo>
                  <a:pt x="5616365" y="0"/>
                  <a:pt x="5648423" y="32058"/>
                  <a:pt x="5648423" y="71603"/>
                </a:cubicBezTo>
                <a:lnTo>
                  <a:pt x="5648423" y="1772414"/>
                </a:lnTo>
                <a:cubicBezTo>
                  <a:pt x="5648423" y="1811960"/>
                  <a:pt x="5616365" y="1844018"/>
                  <a:pt x="5576820" y="1844018"/>
                </a:cubicBezTo>
                <a:lnTo>
                  <a:pt x="71603" y="1844018"/>
                </a:lnTo>
                <a:cubicBezTo>
                  <a:pt x="32058" y="1844018"/>
                  <a:pt x="0" y="1811960"/>
                  <a:pt x="0" y="1772414"/>
                </a:cubicBezTo>
                <a:lnTo>
                  <a:pt x="0" y="71603"/>
                </a:lnTo>
                <a:cubicBezTo>
                  <a:pt x="0" y="32084"/>
                  <a:pt x="32084" y="0"/>
                  <a:pt x="716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4FD1C5">
                  <a:alpha val="500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91815" y="1360634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214837" y="0"/>
                </a:moveTo>
                <a:lnTo>
                  <a:pt x="214837" y="0"/>
                </a:lnTo>
                <a:cubicBezTo>
                  <a:pt x="333409" y="0"/>
                  <a:pt x="429674" y="96265"/>
                  <a:pt x="429674" y="214837"/>
                </a:cubicBezTo>
                <a:lnTo>
                  <a:pt x="429674" y="214837"/>
                </a:lnTo>
                <a:cubicBezTo>
                  <a:pt x="429674" y="333409"/>
                  <a:pt x="333409" y="429674"/>
                  <a:pt x="214837" y="429674"/>
                </a:cubicBezTo>
                <a:lnTo>
                  <a:pt x="214837" y="429674"/>
                </a:lnTo>
                <a:cubicBezTo>
                  <a:pt x="96265" y="429674"/>
                  <a:pt x="0" y="333409"/>
                  <a:pt x="0" y="214837"/>
                </a:cubicBezTo>
                <a:lnTo>
                  <a:pt x="0" y="214837"/>
                </a:lnTo>
                <a:cubicBezTo>
                  <a:pt x="0" y="96265"/>
                  <a:pt x="96265" y="0"/>
                  <a:pt x="214837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3" name="Shape 31"/>
          <p:cNvSpPr/>
          <p:nvPr/>
        </p:nvSpPr>
        <p:spPr>
          <a:xfrm>
            <a:off x="6417137" y="1485956"/>
            <a:ext cx="179031" cy="179031"/>
          </a:xfrm>
          <a:custGeom>
            <a:avLst/>
            <a:gdLst/>
            <a:ahLst/>
            <a:cxnLst/>
            <a:rect l="l" t="t" r="r" b="b"/>
            <a:pathLst>
              <a:path w="179031" h="179031">
                <a:moveTo>
                  <a:pt x="46786" y="12693"/>
                </a:moveTo>
                <a:cubicBezTo>
                  <a:pt x="50597" y="15350"/>
                  <a:pt x="51506" y="20596"/>
                  <a:pt x="48849" y="24372"/>
                </a:cubicBezTo>
                <a:lnTo>
                  <a:pt x="29267" y="52346"/>
                </a:lnTo>
                <a:cubicBezTo>
                  <a:pt x="27834" y="54374"/>
                  <a:pt x="25596" y="55667"/>
                  <a:pt x="23113" y="55877"/>
                </a:cubicBezTo>
                <a:cubicBezTo>
                  <a:pt x="20631" y="56087"/>
                  <a:pt x="18183" y="55248"/>
                  <a:pt x="16434" y="53499"/>
                </a:cubicBezTo>
                <a:lnTo>
                  <a:pt x="2448" y="39513"/>
                </a:lnTo>
                <a:cubicBezTo>
                  <a:pt x="-804" y="36226"/>
                  <a:pt x="-804" y="30911"/>
                  <a:pt x="2448" y="27624"/>
                </a:cubicBezTo>
                <a:cubicBezTo>
                  <a:pt x="5700" y="24337"/>
                  <a:pt x="11050" y="24372"/>
                  <a:pt x="14336" y="27624"/>
                </a:cubicBezTo>
                <a:lnTo>
                  <a:pt x="21260" y="34547"/>
                </a:lnTo>
                <a:lnTo>
                  <a:pt x="35107" y="14756"/>
                </a:lnTo>
                <a:cubicBezTo>
                  <a:pt x="37764" y="10945"/>
                  <a:pt x="43009" y="10036"/>
                  <a:pt x="46786" y="12693"/>
                </a:cubicBezTo>
                <a:close/>
                <a:moveTo>
                  <a:pt x="46786" y="68640"/>
                </a:moveTo>
                <a:cubicBezTo>
                  <a:pt x="50597" y="71298"/>
                  <a:pt x="51506" y="76543"/>
                  <a:pt x="48849" y="80319"/>
                </a:cubicBezTo>
                <a:lnTo>
                  <a:pt x="29267" y="108293"/>
                </a:lnTo>
                <a:cubicBezTo>
                  <a:pt x="27834" y="110321"/>
                  <a:pt x="25596" y="111615"/>
                  <a:pt x="23113" y="111824"/>
                </a:cubicBezTo>
                <a:cubicBezTo>
                  <a:pt x="20631" y="112034"/>
                  <a:pt x="18183" y="111195"/>
                  <a:pt x="16434" y="109447"/>
                </a:cubicBezTo>
                <a:lnTo>
                  <a:pt x="2448" y="95460"/>
                </a:lnTo>
                <a:cubicBezTo>
                  <a:pt x="-839" y="92173"/>
                  <a:pt x="-839" y="86858"/>
                  <a:pt x="2448" y="83606"/>
                </a:cubicBezTo>
                <a:cubicBezTo>
                  <a:pt x="5735" y="80354"/>
                  <a:pt x="11050" y="80319"/>
                  <a:pt x="14301" y="83606"/>
                </a:cubicBezTo>
                <a:lnTo>
                  <a:pt x="21225" y="90529"/>
                </a:lnTo>
                <a:lnTo>
                  <a:pt x="35072" y="70738"/>
                </a:lnTo>
                <a:cubicBezTo>
                  <a:pt x="37729" y="66927"/>
                  <a:pt x="42974" y="66018"/>
                  <a:pt x="46751" y="68675"/>
                </a:cubicBezTo>
                <a:close/>
                <a:moveTo>
                  <a:pt x="78326" y="33568"/>
                </a:moveTo>
                <a:cubicBezTo>
                  <a:pt x="78326" y="27379"/>
                  <a:pt x="83326" y="22379"/>
                  <a:pt x="89515" y="22379"/>
                </a:cubicBezTo>
                <a:lnTo>
                  <a:pt x="167841" y="22379"/>
                </a:lnTo>
                <a:cubicBezTo>
                  <a:pt x="174031" y="22379"/>
                  <a:pt x="179031" y="27379"/>
                  <a:pt x="179031" y="33568"/>
                </a:cubicBezTo>
                <a:cubicBezTo>
                  <a:pt x="179031" y="39757"/>
                  <a:pt x="174031" y="44758"/>
                  <a:pt x="167841" y="44758"/>
                </a:cubicBezTo>
                <a:lnTo>
                  <a:pt x="89515" y="44758"/>
                </a:lnTo>
                <a:cubicBezTo>
                  <a:pt x="83326" y="44758"/>
                  <a:pt x="78326" y="39757"/>
                  <a:pt x="78326" y="33568"/>
                </a:cubicBezTo>
                <a:close/>
                <a:moveTo>
                  <a:pt x="78326" y="89515"/>
                </a:moveTo>
                <a:cubicBezTo>
                  <a:pt x="78326" y="83326"/>
                  <a:pt x="83326" y="78326"/>
                  <a:pt x="89515" y="78326"/>
                </a:cubicBezTo>
                <a:lnTo>
                  <a:pt x="167841" y="78326"/>
                </a:lnTo>
                <a:cubicBezTo>
                  <a:pt x="174031" y="78326"/>
                  <a:pt x="179031" y="83326"/>
                  <a:pt x="179031" y="89515"/>
                </a:cubicBezTo>
                <a:cubicBezTo>
                  <a:pt x="179031" y="95705"/>
                  <a:pt x="174031" y="100705"/>
                  <a:pt x="167841" y="100705"/>
                </a:cubicBezTo>
                <a:lnTo>
                  <a:pt x="89515" y="100705"/>
                </a:lnTo>
                <a:cubicBezTo>
                  <a:pt x="83326" y="100705"/>
                  <a:pt x="78326" y="95705"/>
                  <a:pt x="78326" y="89515"/>
                </a:cubicBezTo>
                <a:close/>
                <a:moveTo>
                  <a:pt x="55947" y="145463"/>
                </a:moveTo>
                <a:cubicBezTo>
                  <a:pt x="55947" y="139273"/>
                  <a:pt x="60947" y="134273"/>
                  <a:pt x="67137" y="134273"/>
                </a:cubicBezTo>
                <a:lnTo>
                  <a:pt x="167841" y="134273"/>
                </a:lnTo>
                <a:cubicBezTo>
                  <a:pt x="174031" y="134273"/>
                  <a:pt x="179031" y="139273"/>
                  <a:pt x="179031" y="145463"/>
                </a:cubicBezTo>
                <a:cubicBezTo>
                  <a:pt x="179031" y="151652"/>
                  <a:pt x="174031" y="156652"/>
                  <a:pt x="167841" y="156652"/>
                </a:cubicBezTo>
                <a:lnTo>
                  <a:pt x="67137" y="156652"/>
                </a:lnTo>
                <a:cubicBezTo>
                  <a:pt x="60947" y="156652"/>
                  <a:pt x="55947" y="151652"/>
                  <a:pt x="55947" y="145463"/>
                </a:cubicBezTo>
                <a:close/>
                <a:moveTo>
                  <a:pt x="22379" y="131476"/>
                </a:moveTo>
                <a:cubicBezTo>
                  <a:pt x="30098" y="131476"/>
                  <a:pt x="36366" y="137743"/>
                  <a:pt x="36366" y="145463"/>
                </a:cubicBezTo>
                <a:cubicBezTo>
                  <a:pt x="36366" y="153182"/>
                  <a:pt x="30098" y="159449"/>
                  <a:pt x="22379" y="159449"/>
                </a:cubicBezTo>
                <a:cubicBezTo>
                  <a:pt x="14659" y="159449"/>
                  <a:pt x="8392" y="153182"/>
                  <a:pt x="8392" y="145463"/>
                </a:cubicBezTo>
                <a:cubicBezTo>
                  <a:pt x="8392" y="137743"/>
                  <a:pt x="14659" y="131476"/>
                  <a:pt x="22379" y="131476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4" name="Text 32"/>
          <p:cNvSpPr/>
          <p:nvPr/>
        </p:nvSpPr>
        <p:spPr>
          <a:xfrm>
            <a:off x="6828907" y="1450150"/>
            <a:ext cx="1163700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训练计划系统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91815" y="1861921"/>
            <a:ext cx="5487295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128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特点</a:t>
            </a:r>
            <a:r>
              <a:rPr lang="en-US" sz="1128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112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教师可发布训练计划和作业，管理完成情况与排名</a:t>
            </a:r>
          </a:p>
        </p:txBody>
      </p:sp>
      <p:sp>
        <p:nvSpPr>
          <p:cNvPr id="36" name="Shape 34"/>
          <p:cNvSpPr/>
          <p:nvPr/>
        </p:nvSpPr>
        <p:spPr>
          <a:xfrm>
            <a:off x="6291815" y="2148370"/>
            <a:ext cx="5415683" cy="250643"/>
          </a:xfrm>
          <a:custGeom>
            <a:avLst/>
            <a:gdLst/>
            <a:ahLst/>
            <a:cxnLst/>
            <a:rect l="l" t="t" r="r" b="b"/>
            <a:pathLst>
              <a:path w="5415683" h="250643">
                <a:moveTo>
                  <a:pt x="35807" y="0"/>
                </a:moveTo>
                <a:lnTo>
                  <a:pt x="5379876" y="0"/>
                </a:lnTo>
                <a:cubicBezTo>
                  <a:pt x="5399652" y="0"/>
                  <a:pt x="5415683" y="16031"/>
                  <a:pt x="5415683" y="35807"/>
                </a:cubicBezTo>
                <a:lnTo>
                  <a:pt x="5415683" y="214836"/>
                </a:lnTo>
                <a:cubicBezTo>
                  <a:pt x="5415683" y="234612"/>
                  <a:pt x="5399652" y="250643"/>
                  <a:pt x="5379876" y="250643"/>
                </a:cubicBezTo>
                <a:lnTo>
                  <a:pt x="35807" y="250643"/>
                </a:lnTo>
                <a:cubicBezTo>
                  <a:pt x="16045" y="250643"/>
                  <a:pt x="0" y="234599"/>
                  <a:pt x="0" y="214836"/>
                </a:cubicBezTo>
                <a:lnTo>
                  <a:pt x="0" y="35807"/>
                </a:lnTo>
                <a:cubicBezTo>
                  <a:pt x="0" y="16031"/>
                  <a:pt x="16031" y="0"/>
                  <a:pt x="3580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327621" y="2184176"/>
            <a:ext cx="5406731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训练管理：</a:t>
            </a:r>
            <a:r>
              <a:rPr lang="en-US" sz="987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创建、配置、发布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91815" y="2434819"/>
            <a:ext cx="5415683" cy="250643"/>
          </a:xfrm>
          <a:custGeom>
            <a:avLst/>
            <a:gdLst/>
            <a:ahLst/>
            <a:cxnLst/>
            <a:rect l="l" t="t" r="r" b="b"/>
            <a:pathLst>
              <a:path w="5415683" h="250643">
                <a:moveTo>
                  <a:pt x="35807" y="0"/>
                </a:moveTo>
                <a:lnTo>
                  <a:pt x="5379876" y="0"/>
                </a:lnTo>
                <a:cubicBezTo>
                  <a:pt x="5399652" y="0"/>
                  <a:pt x="5415683" y="16031"/>
                  <a:pt x="5415683" y="35807"/>
                </a:cubicBezTo>
                <a:lnTo>
                  <a:pt x="5415683" y="214836"/>
                </a:lnTo>
                <a:cubicBezTo>
                  <a:pt x="5415683" y="234612"/>
                  <a:pt x="5399652" y="250643"/>
                  <a:pt x="5379876" y="250643"/>
                </a:cubicBezTo>
                <a:lnTo>
                  <a:pt x="35807" y="250643"/>
                </a:lnTo>
                <a:cubicBezTo>
                  <a:pt x="16045" y="250643"/>
                  <a:pt x="0" y="234599"/>
                  <a:pt x="0" y="214836"/>
                </a:cubicBezTo>
                <a:lnTo>
                  <a:pt x="0" y="35807"/>
                </a:lnTo>
                <a:cubicBezTo>
                  <a:pt x="0" y="16031"/>
                  <a:pt x="16031" y="0"/>
                  <a:pt x="3580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327621" y="2470626"/>
            <a:ext cx="5406731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作业系统：</a:t>
            </a:r>
            <a:r>
              <a:rPr lang="en-US" sz="987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发布、提交、批改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91815" y="2721269"/>
            <a:ext cx="5415683" cy="250643"/>
          </a:xfrm>
          <a:custGeom>
            <a:avLst/>
            <a:gdLst/>
            <a:ahLst/>
            <a:cxnLst/>
            <a:rect l="l" t="t" r="r" b="b"/>
            <a:pathLst>
              <a:path w="5415683" h="250643">
                <a:moveTo>
                  <a:pt x="35807" y="0"/>
                </a:moveTo>
                <a:lnTo>
                  <a:pt x="5379876" y="0"/>
                </a:lnTo>
                <a:cubicBezTo>
                  <a:pt x="5399652" y="0"/>
                  <a:pt x="5415683" y="16031"/>
                  <a:pt x="5415683" y="35807"/>
                </a:cubicBezTo>
                <a:lnTo>
                  <a:pt x="5415683" y="214836"/>
                </a:lnTo>
                <a:cubicBezTo>
                  <a:pt x="5415683" y="234612"/>
                  <a:pt x="5399652" y="250643"/>
                  <a:pt x="5379876" y="250643"/>
                </a:cubicBezTo>
                <a:lnTo>
                  <a:pt x="35807" y="250643"/>
                </a:lnTo>
                <a:cubicBezTo>
                  <a:pt x="16045" y="250643"/>
                  <a:pt x="0" y="234599"/>
                  <a:pt x="0" y="214836"/>
                </a:cubicBezTo>
                <a:lnTo>
                  <a:pt x="0" y="35807"/>
                </a:lnTo>
                <a:cubicBezTo>
                  <a:pt x="0" y="16031"/>
                  <a:pt x="16031" y="0"/>
                  <a:pt x="3580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327621" y="2757075"/>
            <a:ext cx="5406731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进度跟踪：</a:t>
            </a:r>
            <a:r>
              <a:rPr lang="en-US" sz="987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查看完成度、排行榜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75445" y="3213604"/>
            <a:ext cx="5648423" cy="1844018"/>
          </a:xfrm>
          <a:custGeom>
            <a:avLst/>
            <a:gdLst/>
            <a:ahLst/>
            <a:cxnLst/>
            <a:rect l="l" t="t" r="r" b="b"/>
            <a:pathLst>
              <a:path w="5648423" h="1844018">
                <a:moveTo>
                  <a:pt x="71603" y="0"/>
                </a:moveTo>
                <a:lnTo>
                  <a:pt x="5576820" y="0"/>
                </a:lnTo>
                <a:cubicBezTo>
                  <a:pt x="5616365" y="0"/>
                  <a:pt x="5648423" y="32058"/>
                  <a:pt x="5648423" y="71603"/>
                </a:cubicBezTo>
                <a:lnTo>
                  <a:pt x="5648423" y="1772414"/>
                </a:lnTo>
                <a:cubicBezTo>
                  <a:pt x="5648423" y="1811960"/>
                  <a:pt x="5616365" y="1844018"/>
                  <a:pt x="5576820" y="1844018"/>
                </a:cubicBezTo>
                <a:lnTo>
                  <a:pt x="71603" y="1844018"/>
                </a:lnTo>
                <a:cubicBezTo>
                  <a:pt x="32058" y="1844018"/>
                  <a:pt x="0" y="1811960"/>
                  <a:pt x="0" y="1772414"/>
                </a:cubicBezTo>
                <a:lnTo>
                  <a:pt x="0" y="71603"/>
                </a:lnTo>
                <a:cubicBezTo>
                  <a:pt x="0" y="32084"/>
                  <a:pt x="32084" y="0"/>
                  <a:pt x="71603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F6AD55">
                  <a:alpha val="5000"/>
                </a:srgbClr>
              </a:gs>
            </a:gsLst>
            <a:lin ang="2700000" scaled="1"/>
          </a:gradFill>
          <a:ln w="25400">
            <a:solidFill>
              <a:srgbClr val="F6AD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91815" y="3329974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214837" y="0"/>
                </a:moveTo>
                <a:lnTo>
                  <a:pt x="214837" y="0"/>
                </a:lnTo>
                <a:cubicBezTo>
                  <a:pt x="333409" y="0"/>
                  <a:pt x="429674" y="96265"/>
                  <a:pt x="429674" y="214837"/>
                </a:cubicBezTo>
                <a:lnTo>
                  <a:pt x="429674" y="214837"/>
                </a:lnTo>
                <a:cubicBezTo>
                  <a:pt x="429674" y="333409"/>
                  <a:pt x="333409" y="429674"/>
                  <a:pt x="214837" y="429674"/>
                </a:cubicBezTo>
                <a:lnTo>
                  <a:pt x="214837" y="429674"/>
                </a:lnTo>
                <a:cubicBezTo>
                  <a:pt x="96265" y="429674"/>
                  <a:pt x="0" y="333409"/>
                  <a:pt x="0" y="214837"/>
                </a:cubicBezTo>
                <a:lnTo>
                  <a:pt x="0" y="214837"/>
                </a:lnTo>
                <a:cubicBezTo>
                  <a:pt x="0" y="96265"/>
                  <a:pt x="96265" y="0"/>
                  <a:pt x="214837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4" name="Shape 42"/>
          <p:cNvSpPr/>
          <p:nvPr/>
        </p:nvSpPr>
        <p:spPr>
          <a:xfrm>
            <a:off x="6417137" y="3455295"/>
            <a:ext cx="179031" cy="179031"/>
          </a:xfrm>
          <a:custGeom>
            <a:avLst/>
            <a:gdLst/>
            <a:ahLst/>
            <a:cxnLst/>
            <a:rect l="l" t="t" r="r" b="b"/>
            <a:pathLst>
              <a:path w="179031" h="179031">
                <a:moveTo>
                  <a:pt x="22379" y="22379"/>
                </a:moveTo>
                <a:cubicBezTo>
                  <a:pt x="22379" y="16190"/>
                  <a:pt x="17379" y="11189"/>
                  <a:pt x="11189" y="11189"/>
                </a:cubicBezTo>
                <a:cubicBezTo>
                  <a:pt x="5000" y="11189"/>
                  <a:pt x="0" y="16190"/>
                  <a:pt x="0" y="22379"/>
                </a:cubicBezTo>
                <a:lnTo>
                  <a:pt x="0" y="139868"/>
                </a:lnTo>
                <a:cubicBezTo>
                  <a:pt x="0" y="155323"/>
                  <a:pt x="12518" y="167841"/>
                  <a:pt x="27974" y="167841"/>
                </a:cubicBezTo>
                <a:lnTo>
                  <a:pt x="167841" y="167841"/>
                </a:lnTo>
                <a:cubicBezTo>
                  <a:pt x="174031" y="167841"/>
                  <a:pt x="179031" y="162841"/>
                  <a:pt x="179031" y="156652"/>
                </a:cubicBezTo>
                <a:cubicBezTo>
                  <a:pt x="179031" y="150463"/>
                  <a:pt x="174031" y="145463"/>
                  <a:pt x="167841" y="145463"/>
                </a:cubicBezTo>
                <a:lnTo>
                  <a:pt x="27974" y="145463"/>
                </a:lnTo>
                <a:cubicBezTo>
                  <a:pt x="24896" y="145463"/>
                  <a:pt x="22379" y="142945"/>
                  <a:pt x="22379" y="139868"/>
                </a:cubicBezTo>
                <a:lnTo>
                  <a:pt x="22379" y="22379"/>
                </a:lnTo>
                <a:close/>
                <a:moveTo>
                  <a:pt x="164555" y="52660"/>
                </a:moveTo>
                <a:cubicBezTo>
                  <a:pt x="168925" y="48289"/>
                  <a:pt x="168925" y="41191"/>
                  <a:pt x="164555" y="36820"/>
                </a:cubicBezTo>
                <a:cubicBezTo>
                  <a:pt x="160184" y="32449"/>
                  <a:pt x="153085" y="32449"/>
                  <a:pt x="148714" y="36820"/>
                </a:cubicBezTo>
                <a:lnTo>
                  <a:pt x="111894" y="73675"/>
                </a:lnTo>
                <a:lnTo>
                  <a:pt x="91823" y="53639"/>
                </a:lnTo>
                <a:cubicBezTo>
                  <a:pt x="87452" y="49268"/>
                  <a:pt x="80354" y="49268"/>
                  <a:pt x="75983" y="53639"/>
                </a:cubicBezTo>
                <a:lnTo>
                  <a:pt x="42415" y="87208"/>
                </a:lnTo>
                <a:cubicBezTo>
                  <a:pt x="38044" y="91578"/>
                  <a:pt x="38044" y="98677"/>
                  <a:pt x="42415" y="103048"/>
                </a:cubicBezTo>
                <a:cubicBezTo>
                  <a:pt x="46786" y="107419"/>
                  <a:pt x="53884" y="107419"/>
                  <a:pt x="58255" y="103048"/>
                </a:cubicBezTo>
                <a:lnTo>
                  <a:pt x="83921" y="77382"/>
                </a:lnTo>
                <a:lnTo>
                  <a:pt x="103992" y="97453"/>
                </a:lnTo>
                <a:cubicBezTo>
                  <a:pt x="108363" y="101824"/>
                  <a:pt x="115461" y="101824"/>
                  <a:pt x="119832" y="97453"/>
                </a:cubicBezTo>
                <a:lnTo>
                  <a:pt x="164589" y="52695"/>
                </a:ln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45" name="Text 43"/>
          <p:cNvSpPr/>
          <p:nvPr/>
        </p:nvSpPr>
        <p:spPr>
          <a:xfrm>
            <a:off x="6828907" y="3419489"/>
            <a:ext cx="1163700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学习数据分析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291815" y="3831260"/>
            <a:ext cx="5487295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128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特点</a:t>
            </a:r>
            <a:r>
              <a:rPr lang="en-US" sz="1128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112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根据提交记录生成基础统计，用于查看学习进度和薄弱点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91815" y="4117709"/>
            <a:ext cx="5415683" cy="250643"/>
          </a:xfrm>
          <a:custGeom>
            <a:avLst/>
            <a:gdLst/>
            <a:ahLst/>
            <a:cxnLst/>
            <a:rect l="l" t="t" r="r" b="b"/>
            <a:pathLst>
              <a:path w="5415683" h="250643">
                <a:moveTo>
                  <a:pt x="35807" y="0"/>
                </a:moveTo>
                <a:lnTo>
                  <a:pt x="5379876" y="0"/>
                </a:lnTo>
                <a:cubicBezTo>
                  <a:pt x="5399652" y="0"/>
                  <a:pt x="5415683" y="16031"/>
                  <a:pt x="5415683" y="35807"/>
                </a:cubicBezTo>
                <a:lnTo>
                  <a:pt x="5415683" y="214836"/>
                </a:lnTo>
                <a:cubicBezTo>
                  <a:pt x="5415683" y="234612"/>
                  <a:pt x="5399652" y="250643"/>
                  <a:pt x="5379876" y="250643"/>
                </a:cubicBezTo>
                <a:lnTo>
                  <a:pt x="35807" y="250643"/>
                </a:lnTo>
                <a:cubicBezTo>
                  <a:pt x="16045" y="250643"/>
                  <a:pt x="0" y="234599"/>
                  <a:pt x="0" y="214836"/>
                </a:cubicBezTo>
                <a:lnTo>
                  <a:pt x="0" y="35807"/>
                </a:lnTo>
                <a:cubicBezTo>
                  <a:pt x="0" y="16031"/>
                  <a:pt x="16031" y="0"/>
                  <a:pt x="3580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327621" y="4153515"/>
            <a:ext cx="5406731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能力画像：</a:t>
            </a:r>
            <a:r>
              <a:rPr lang="en-US" sz="987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雷达图展示能力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91815" y="4404159"/>
            <a:ext cx="5415683" cy="250643"/>
          </a:xfrm>
          <a:custGeom>
            <a:avLst/>
            <a:gdLst/>
            <a:ahLst/>
            <a:cxnLst/>
            <a:rect l="l" t="t" r="r" b="b"/>
            <a:pathLst>
              <a:path w="5415683" h="250643">
                <a:moveTo>
                  <a:pt x="35807" y="0"/>
                </a:moveTo>
                <a:lnTo>
                  <a:pt x="5379876" y="0"/>
                </a:lnTo>
                <a:cubicBezTo>
                  <a:pt x="5399652" y="0"/>
                  <a:pt x="5415683" y="16031"/>
                  <a:pt x="5415683" y="35807"/>
                </a:cubicBezTo>
                <a:lnTo>
                  <a:pt x="5415683" y="214836"/>
                </a:lnTo>
                <a:cubicBezTo>
                  <a:pt x="5415683" y="234612"/>
                  <a:pt x="5399652" y="250643"/>
                  <a:pt x="5379876" y="250643"/>
                </a:cubicBezTo>
                <a:lnTo>
                  <a:pt x="35807" y="250643"/>
                </a:lnTo>
                <a:cubicBezTo>
                  <a:pt x="16045" y="250643"/>
                  <a:pt x="0" y="234599"/>
                  <a:pt x="0" y="214836"/>
                </a:cubicBezTo>
                <a:lnTo>
                  <a:pt x="0" y="35807"/>
                </a:lnTo>
                <a:cubicBezTo>
                  <a:pt x="0" y="16031"/>
                  <a:pt x="16031" y="0"/>
                  <a:pt x="3580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327621" y="4439965"/>
            <a:ext cx="5406731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薄弱点分析：</a:t>
            </a:r>
            <a:r>
              <a:rPr lang="en-US" sz="987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识别算法薄弱点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91815" y="4690608"/>
            <a:ext cx="5415683" cy="250643"/>
          </a:xfrm>
          <a:custGeom>
            <a:avLst/>
            <a:gdLst/>
            <a:ahLst/>
            <a:cxnLst/>
            <a:rect l="l" t="t" r="r" b="b"/>
            <a:pathLst>
              <a:path w="5415683" h="250643">
                <a:moveTo>
                  <a:pt x="35807" y="0"/>
                </a:moveTo>
                <a:lnTo>
                  <a:pt x="5379876" y="0"/>
                </a:lnTo>
                <a:cubicBezTo>
                  <a:pt x="5399652" y="0"/>
                  <a:pt x="5415683" y="16031"/>
                  <a:pt x="5415683" y="35807"/>
                </a:cubicBezTo>
                <a:lnTo>
                  <a:pt x="5415683" y="214836"/>
                </a:lnTo>
                <a:cubicBezTo>
                  <a:pt x="5415683" y="234612"/>
                  <a:pt x="5399652" y="250643"/>
                  <a:pt x="5379876" y="250643"/>
                </a:cubicBezTo>
                <a:lnTo>
                  <a:pt x="35807" y="250643"/>
                </a:lnTo>
                <a:cubicBezTo>
                  <a:pt x="16045" y="250643"/>
                  <a:pt x="0" y="234599"/>
                  <a:pt x="0" y="214836"/>
                </a:cubicBezTo>
                <a:lnTo>
                  <a:pt x="0" y="35807"/>
                </a:lnTo>
                <a:cubicBezTo>
                  <a:pt x="0" y="16031"/>
                  <a:pt x="16031" y="0"/>
                  <a:pt x="3580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327621" y="4726414"/>
            <a:ext cx="5406731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学习报告：</a:t>
            </a:r>
            <a:r>
              <a:rPr lang="en-US" sz="987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生成周/月报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67013" y="5182943"/>
            <a:ext cx="11457974" cy="1306925"/>
          </a:xfrm>
          <a:custGeom>
            <a:avLst/>
            <a:gdLst/>
            <a:ahLst/>
            <a:cxnLst/>
            <a:rect l="l" t="t" r="r" b="b"/>
            <a:pathLst>
              <a:path w="11457974" h="1306925">
                <a:moveTo>
                  <a:pt x="71606" y="0"/>
                </a:moveTo>
                <a:lnTo>
                  <a:pt x="11386367" y="0"/>
                </a:lnTo>
                <a:cubicBezTo>
                  <a:pt x="11425914" y="0"/>
                  <a:pt x="11457974" y="32059"/>
                  <a:pt x="11457974" y="71606"/>
                </a:cubicBezTo>
                <a:lnTo>
                  <a:pt x="11457974" y="1235319"/>
                </a:lnTo>
                <a:cubicBezTo>
                  <a:pt x="11457974" y="1274866"/>
                  <a:pt x="11425914" y="1306925"/>
                  <a:pt x="11386367" y="1306925"/>
                </a:cubicBezTo>
                <a:lnTo>
                  <a:pt x="71606" y="1306925"/>
                </a:lnTo>
                <a:cubicBezTo>
                  <a:pt x="32059" y="1306925"/>
                  <a:pt x="0" y="1274866"/>
                  <a:pt x="0" y="1235319"/>
                </a:cubicBezTo>
                <a:lnTo>
                  <a:pt x="0" y="71606"/>
                </a:lnTo>
                <a:cubicBezTo>
                  <a:pt x="0" y="32086"/>
                  <a:pt x="32086" y="0"/>
                  <a:pt x="71606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30000"/>
                </a:srgbClr>
              </a:gs>
              <a:gs pos="100000">
                <a:srgbClr val="F6AD55">
                  <a:alpha val="30000"/>
                </a:srgbClr>
              </a:gs>
            </a:gsLst>
            <a:lin ang="0" scaled="1"/>
          </a:gradFill>
          <a:ln w="25400">
            <a:solidFill>
              <a:srgbClr val="4FD1C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3383" y="5299313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214837" y="0"/>
                </a:moveTo>
                <a:lnTo>
                  <a:pt x="214837" y="0"/>
                </a:lnTo>
                <a:cubicBezTo>
                  <a:pt x="333409" y="0"/>
                  <a:pt x="429674" y="96265"/>
                  <a:pt x="429674" y="214837"/>
                </a:cubicBezTo>
                <a:lnTo>
                  <a:pt x="429674" y="214837"/>
                </a:lnTo>
                <a:cubicBezTo>
                  <a:pt x="429674" y="333409"/>
                  <a:pt x="333409" y="429674"/>
                  <a:pt x="214837" y="429674"/>
                </a:cubicBezTo>
                <a:lnTo>
                  <a:pt x="214837" y="429674"/>
                </a:lnTo>
                <a:cubicBezTo>
                  <a:pt x="96265" y="429674"/>
                  <a:pt x="0" y="333409"/>
                  <a:pt x="0" y="214837"/>
                </a:cubicBezTo>
                <a:lnTo>
                  <a:pt x="0" y="214837"/>
                </a:lnTo>
                <a:cubicBezTo>
                  <a:pt x="0" y="96265"/>
                  <a:pt x="96265" y="0"/>
                  <a:pt x="214837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5" name="Shape 53"/>
          <p:cNvSpPr/>
          <p:nvPr/>
        </p:nvSpPr>
        <p:spPr>
          <a:xfrm>
            <a:off x="597515" y="5424634"/>
            <a:ext cx="201410" cy="179031"/>
          </a:xfrm>
          <a:custGeom>
            <a:avLst/>
            <a:gdLst/>
            <a:ahLst/>
            <a:cxnLst/>
            <a:rect l="l" t="t" r="r" b="b"/>
            <a:pathLst>
              <a:path w="201410" h="179031">
                <a:moveTo>
                  <a:pt x="59304" y="53639"/>
                </a:moveTo>
                <a:lnTo>
                  <a:pt x="52765" y="47100"/>
                </a:lnTo>
                <a:cubicBezTo>
                  <a:pt x="48394" y="42730"/>
                  <a:pt x="48394" y="35631"/>
                  <a:pt x="52765" y="31260"/>
                </a:cubicBezTo>
                <a:lnTo>
                  <a:pt x="92872" y="-8882"/>
                </a:lnTo>
                <a:cubicBezTo>
                  <a:pt x="97243" y="-13252"/>
                  <a:pt x="104341" y="-13252"/>
                  <a:pt x="108712" y="-8882"/>
                </a:cubicBezTo>
                <a:lnTo>
                  <a:pt x="115251" y="-2308"/>
                </a:lnTo>
                <a:cubicBezTo>
                  <a:pt x="119622" y="2063"/>
                  <a:pt x="119622" y="9161"/>
                  <a:pt x="115251" y="13532"/>
                </a:cubicBezTo>
                <a:lnTo>
                  <a:pt x="75144" y="53639"/>
                </a:lnTo>
                <a:cubicBezTo>
                  <a:pt x="70773" y="58010"/>
                  <a:pt x="63675" y="58010"/>
                  <a:pt x="59304" y="53639"/>
                </a:cubicBezTo>
                <a:close/>
                <a:moveTo>
                  <a:pt x="96509" y="74025"/>
                </a:moveTo>
                <a:lnTo>
                  <a:pt x="85529" y="63045"/>
                </a:lnTo>
                <a:lnTo>
                  <a:pt x="124692" y="23882"/>
                </a:lnTo>
                <a:lnTo>
                  <a:pt x="166443" y="65633"/>
                </a:lnTo>
                <a:lnTo>
                  <a:pt x="127280" y="104796"/>
                </a:lnTo>
                <a:lnTo>
                  <a:pt x="116300" y="93816"/>
                </a:lnTo>
                <a:lnTo>
                  <a:pt x="35177" y="174940"/>
                </a:lnTo>
                <a:cubicBezTo>
                  <a:pt x="29722" y="180395"/>
                  <a:pt x="20875" y="180395"/>
                  <a:pt x="15385" y="174940"/>
                </a:cubicBezTo>
                <a:cubicBezTo>
                  <a:pt x="9896" y="169485"/>
                  <a:pt x="9931" y="160638"/>
                  <a:pt x="15385" y="155148"/>
                </a:cubicBezTo>
                <a:lnTo>
                  <a:pt x="96509" y="74025"/>
                </a:lnTo>
                <a:close/>
                <a:moveTo>
                  <a:pt x="136686" y="130986"/>
                </a:moveTo>
                <a:cubicBezTo>
                  <a:pt x="132315" y="126615"/>
                  <a:pt x="132315" y="119517"/>
                  <a:pt x="136686" y="115146"/>
                </a:cubicBezTo>
                <a:lnTo>
                  <a:pt x="176793" y="75039"/>
                </a:lnTo>
                <a:cubicBezTo>
                  <a:pt x="181164" y="70668"/>
                  <a:pt x="188262" y="70668"/>
                  <a:pt x="192633" y="75039"/>
                </a:cubicBezTo>
                <a:lnTo>
                  <a:pt x="199172" y="81578"/>
                </a:lnTo>
                <a:cubicBezTo>
                  <a:pt x="203543" y="85949"/>
                  <a:pt x="203543" y="93047"/>
                  <a:pt x="199172" y="97418"/>
                </a:cubicBezTo>
                <a:lnTo>
                  <a:pt x="159065" y="137560"/>
                </a:lnTo>
                <a:cubicBezTo>
                  <a:pt x="154694" y="141931"/>
                  <a:pt x="147596" y="141931"/>
                  <a:pt x="143225" y="137560"/>
                </a:cubicBezTo>
                <a:lnTo>
                  <a:pt x="136686" y="131021"/>
                </a:ln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56" name="Text 54"/>
          <p:cNvSpPr/>
          <p:nvPr/>
        </p:nvSpPr>
        <p:spPr>
          <a:xfrm>
            <a:off x="1020476" y="5388828"/>
            <a:ext cx="1163700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评测系统设计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83383" y="5800599"/>
            <a:ext cx="3670132" cy="572899"/>
          </a:xfrm>
          <a:custGeom>
            <a:avLst/>
            <a:gdLst/>
            <a:ahLst/>
            <a:cxnLst/>
            <a:rect l="l" t="t" r="r" b="b"/>
            <a:pathLst>
              <a:path w="3670132" h="572899">
                <a:moveTo>
                  <a:pt x="35806" y="0"/>
                </a:moveTo>
                <a:lnTo>
                  <a:pt x="3634326" y="0"/>
                </a:lnTo>
                <a:cubicBezTo>
                  <a:pt x="3654101" y="0"/>
                  <a:pt x="3670132" y="16031"/>
                  <a:pt x="3670132" y="35806"/>
                </a:cubicBezTo>
                <a:lnTo>
                  <a:pt x="3670132" y="537093"/>
                </a:lnTo>
                <a:cubicBezTo>
                  <a:pt x="3670132" y="556868"/>
                  <a:pt x="3654101" y="572899"/>
                  <a:pt x="3634326" y="572899"/>
                </a:cubicBezTo>
                <a:lnTo>
                  <a:pt x="35806" y="572899"/>
                </a:lnTo>
                <a:cubicBezTo>
                  <a:pt x="16031" y="572899"/>
                  <a:pt x="0" y="556868"/>
                  <a:pt x="0" y="537093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2217325" y="5872211"/>
            <a:ext cx="201410" cy="179031"/>
          </a:xfrm>
          <a:custGeom>
            <a:avLst/>
            <a:gdLst/>
            <a:ahLst/>
            <a:cxnLst/>
            <a:rect l="l" t="t" r="r" b="b"/>
            <a:pathLst>
              <a:path w="201410" h="179031">
                <a:moveTo>
                  <a:pt x="126161" y="420"/>
                </a:moveTo>
                <a:cubicBezTo>
                  <a:pt x="120216" y="-1294"/>
                  <a:pt x="114027" y="2168"/>
                  <a:pt x="112314" y="8112"/>
                </a:cubicBezTo>
                <a:lnTo>
                  <a:pt x="67556" y="164764"/>
                </a:lnTo>
                <a:cubicBezTo>
                  <a:pt x="65843" y="170709"/>
                  <a:pt x="69305" y="176898"/>
                  <a:pt x="75249" y="178611"/>
                </a:cubicBezTo>
                <a:cubicBezTo>
                  <a:pt x="81193" y="180325"/>
                  <a:pt x="87382" y="176863"/>
                  <a:pt x="89096" y="170919"/>
                </a:cubicBezTo>
                <a:lnTo>
                  <a:pt x="133854" y="14267"/>
                </a:lnTo>
                <a:cubicBezTo>
                  <a:pt x="135567" y="8322"/>
                  <a:pt x="132105" y="2133"/>
                  <a:pt x="126161" y="420"/>
                </a:cubicBezTo>
                <a:close/>
                <a:moveTo>
                  <a:pt x="148749" y="48010"/>
                </a:moveTo>
                <a:cubicBezTo>
                  <a:pt x="144379" y="52381"/>
                  <a:pt x="144379" y="59479"/>
                  <a:pt x="148749" y="63850"/>
                </a:cubicBezTo>
                <a:lnTo>
                  <a:pt x="174415" y="89515"/>
                </a:lnTo>
                <a:lnTo>
                  <a:pt x="148749" y="115181"/>
                </a:lnTo>
                <a:cubicBezTo>
                  <a:pt x="144379" y="119552"/>
                  <a:pt x="144379" y="126650"/>
                  <a:pt x="148749" y="131021"/>
                </a:cubicBezTo>
                <a:cubicBezTo>
                  <a:pt x="153120" y="135392"/>
                  <a:pt x="160219" y="135392"/>
                  <a:pt x="164589" y="131021"/>
                </a:cubicBezTo>
                <a:lnTo>
                  <a:pt x="198158" y="97453"/>
                </a:lnTo>
                <a:cubicBezTo>
                  <a:pt x="202529" y="93082"/>
                  <a:pt x="202529" y="85984"/>
                  <a:pt x="198158" y="81613"/>
                </a:cubicBezTo>
                <a:lnTo>
                  <a:pt x="164589" y="48045"/>
                </a:lnTo>
                <a:cubicBezTo>
                  <a:pt x="160219" y="43674"/>
                  <a:pt x="153120" y="43674"/>
                  <a:pt x="148749" y="48045"/>
                </a:cubicBezTo>
                <a:close/>
                <a:moveTo>
                  <a:pt x="52695" y="48010"/>
                </a:moveTo>
                <a:cubicBezTo>
                  <a:pt x="48324" y="43639"/>
                  <a:pt x="41226" y="43639"/>
                  <a:pt x="36855" y="48010"/>
                </a:cubicBezTo>
                <a:lnTo>
                  <a:pt x="3287" y="81578"/>
                </a:lnTo>
                <a:cubicBezTo>
                  <a:pt x="-1084" y="85949"/>
                  <a:pt x="-1084" y="93047"/>
                  <a:pt x="3287" y="97418"/>
                </a:cubicBezTo>
                <a:lnTo>
                  <a:pt x="36855" y="130986"/>
                </a:lnTo>
                <a:cubicBezTo>
                  <a:pt x="41226" y="135357"/>
                  <a:pt x="48324" y="135357"/>
                  <a:pt x="52695" y="130986"/>
                </a:cubicBezTo>
                <a:cubicBezTo>
                  <a:pt x="57066" y="126615"/>
                  <a:pt x="57066" y="119517"/>
                  <a:pt x="52695" y="115146"/>
                </a:cubicBezTo>
                <a:lnTo>
                  <a:pt x="27029" y="89515"/>
                </a:lnTo>
                <a:lnTo>
                  <a:pt x="52660" y="63850"/>
                </a:lnTo>
                <a:cubicBezTo>
                  <a:pt x="57031" y="59479"/>
                  <a:pt x="57031" y="52381"/>
                  <a:pt x="52660" y="4801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9" name="Text 57"/>
          <p:cNvSpPr/>
          <p:nvPr/>
        </p:nvSpPr>
        <p:spPr>
          <a:xfrm>
            <a:off x="519189" y="6087048"/>
            <a:ext cx="3598520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多语言支持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260235" y="5800599"/>
            <a:ext cx="3670132" cy="572899"/>
          </a:xfrm>
          <a:custGeom>
            <a:avLst/>
            <a:gdLst/>
            <a:ahLst/>
            <a:cxnLst/>
            <a:rect l="l" t="t" r="r" b="b"/>
            <a:pathLst>
              <a:path w="3670132" h="572899">
                <a:moveTo>
                  <a:pt x="35806" y="0"/>
                </a:moveTo>
                <a:lnTo>
                  <a:pt x="3634326" y="0"/>
                </a:lnTo>
                <a:cubicBezTo>
                  <a:pt x="3654101" y="0"/>
                  <a:pt x="3670132" y="16031"/>
                  <a:pt x="3670132" y="35806"/>
                </a:cubicBezTo>
                <a:lnTo>
                  <a:pt x="3670132" y="537093"/>
                </a:lnTo>
                <a:cubicBezTo>
                  <a:pt x="3670132" y="556868"/>
                  <a:pt x="3654101" y="572899"/>
                  <a:pt x="3634326" y="572899"/>
                </a:cubicBezTo>
                <a:lnTo>
                  <a:pt x="35806" y="572899"/>
                </a:lnTo>
                <a:cubicBezTo>
                  <a:pt x="16031" y="572899"/>
                  <a:pt x="0" y="556868"/>
                  <a:pt x="0" y="537093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005366" y="5872211"/>
            <a:ext cx="179031" cy="179031"/>
          </a:xfrm>
          <a:custGeom>
            <a:avLst/>
            <a:gdLst/>
            <a:ahLst/>
            <a:cxnLst/>
            <a:rect l="l" t="t" r="r" b="b"/>
            <a:pathLst>
              <a:path w="179031" h="179031">
                <a:moveTo>
                  <a:pt x="23043" y="79900"/>
                </a:moveTo>
                <a:cubicBezTo>
                  <a:pt x="27694" y="47380"/>
                  <a:pt x="55702" y="22379"/>
                  <a:pt x="89515" y="22379"/>
                </a:cubicBezTo>
                <a:cubicBezTo>
                  <a:pt x="108048" y="22379"/>
                  <a:pt x="124832" y="29897"/>
                  <a:pt x="137001" y="42030"/>
                </a:cubicBezTo>
                <a:cubicBezTo>
                  <a:pt x="137070" y="42100"/>
                  <a:pt x="137140" y="42170"/>
                  <a:pt x="137210" y="42240"/>
                </a:cubicBezTo>
                <a:lnTo>
                  <a:pt x="139868" y="44758"/>
                </a:lnTo>
                <a:lnTo>
                  <a:pt x="123119" y="44758"/>
                </a:lnTo>
                <a:cubicBezTo>
                  <a:pt x="116930" y="44758"/>
                  <a:pt x="111929" y="49758"/>
                  <a:pt x="111929" y="55947"/>
                </a:cubicBezTo>
                <a:cubicBezTo>
                  <a:pt x="111929" y="62136"/>
                  <a:pt x="116930" y="67137"/>
                  <a:pt x="123119" y="67137"/>
                </a:cubicBezTo>
                <a:lnTo>
                  <a:pt x="167876" y="67137"/>
                </a:lnTo>
                <a:cubicBezTo>
                  <a:pt x="174066" y="67137"/>
                  <a:pt x="179066" y="62136"/>
                  <a:pt x="179066" y="55947"/>
                </a:cubicBezTo>
                <a:lnTo>
                  <a:pt x="179066" y="11189"/>
                </a:lnTo>
                <a:cubicBezTo>
                  <a:pt x="179066" y="5000"/>
                  <a:pt x="174066" y="0"/>
                  <a:pt x="167876" y="0"/>
                </a:cubicBezTo>
                <a:cubicBezTo>
                  <a:pt x="161687" y="0"/>
                  <a:pt x="156687" y="5000"/>
                  <a:pt x="156687" y="11189"/>
                </a:cubicBezTo>
                <a:lnTo>
                  <a:pt x="156687" y="29862"/>
                </a:lnTo>
                <a:lnTo>
                  <a:pt x="152736" y="26120"/>
                </a:lnTo>
                <a:cubicBezTo>
                  <a:pt x="136546" y="10001"/>
                  <a:pt x="114167" y="0"/>
                  <a:pt x="89515" y="0"/>
                </a:cubicBezTo>
                <a:cubicBezTo>
                  <a:pt x="44408" y="0"/>
                  <a:pt x="7098" y="33358"/>
                  <a:pt x="909" y="76752"/>
                </a:cubicBezTo>
                <a:cubicBezTo>
                  <a:pt x="35" y="82872"/>
                  <a:pt x="4266" y="88536"/>
                  <a:pt x="10385" y="89411"/>
                </a:cubicBezTo>
                <a:cubicBezTo>
                  <a:pt x="16504" y="90285"/>
                  <a:pt x="22169" y="86019"/>
                  <a:pt x="23043" y="79934"/>
                </a:cubicBezTo>
                <a:close/>
                <a:moveTo>
                  <a:pt x="178122" y="102278"/>
                </a:moveTo>
                <a:cubicBezTo>
                  <a:pt x="178996" y="96159"/>
                  <a:pt x="174730" y="90494"/>
                  <a:pt x="168646" y="89620"/>
                </a:cubicBezTo>
                <a:cubicBezTo>
                  <a:pt x="162561" y="88746"/>
                  <a:pt x="156862" y="93012"/>
                  <a:pt x="155988" y="99096"/>
                </a:cubicBezTo>
                <a:cubicBezTo>
                  <a:pt x="151337" y="131616"/>
                  <a:pt x="123328" y="156617"/>
                  <a:pt x="89515" y="156617"/>
                </a:cubicBezTo>
                <a:cubicBezTo>
                  <a:pt x="70983" y="156617"/>
                  <a:pt x="54199" y="149099"/>
                  <a:pt x="42030" y="136966"/>
                </a:cubicBezTo>
                <a:cubicBezTo>
                  <a:pt x="41960" y="136896"/>
                  <a:pt x="41890" y="136826"/>
                  <a:pt x="41820" y="136756"/>
                </a:cubicBezTo>
                <a:lnTo>
                  <a:pt x="39163" y="134238"/>
                </a:lnTo>
                <a:lnTo>
                  <a:pt x="55912" y="134238"/>
                </a:lnTo>
                <a:cubicBezTo>
                  <a:pt x="62101" y="134238"/>
                  <a:pt x="67102" y="129238"/>
                  <a:pt x="67102" y="123049"/>
                </a:cubicBezTo>
                <a:cubicBezTo>
                  <a:pt x="67102" y="116860"/>
                  <a:pt x="62101" y="111859"/>
                  <a:pt x="55912" y="111859"/>
                </a:cubicBezTo>
                <a:lnTo>
                  <a:pt x="11189" y="111894"/>
                </a:lnTo>
                <a:cubicBezTo>
                  <a:pt x="8217" y="111894"/>
                  <a:pt x="5350" y="113083"/>
                  <a:pt x="3252" y="115216"/>
                </a:cubicBezTo>
                <a:cubicBezTo>
                  <a:pt x="1154" y="117349"/>
                  <a:pt x="-35" y="120181"/>
                  <a:pt x="0" y="123189"/>
                </a:cubicBezTo>
                <a:lnTo>
                  <a:pt x="350" y="167597"/>
                </a:lnTo>
                <a:cubicBezTo>
                  <a:pt x="385" y="173786"/>
                  <a:pt x="5455" y="178751"/>
                  <a:pt x="11644" y="178681"/>
                </a:cubicBezTo>
                <a:cubicBezTo>
                  <a:pt x="17833" y="178611"/>
                  <a:pt x="22798" y="173576"/>
                  <a:pt x="22729" y="167387"/>
                </a:cubicBezTo>
                <a:lnTo>
                  <a:pt x="22589" y="149379"/>
                </a:lnTo>
                <a:lnTo>
                  <a:pt x="26330" y="152911"/>
                </a:lnTo>
                <a:cubicBezTo>
                  <a:pt x="42520" y="169030"/>
                  <a:pt x="64864" y="179031"/>
                  <a:pt x="89515" y="179031"/>
                </a:cubicBezTo>
                <a:cubicBezTo>
                  <a:pt x="134623" y="179031"/>
                  <a:pt x="171933" y="145672"/>
                  <a:pt x="178122" y="102278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62" name="Text 60"/>
          <p:cNvSpPr/>
          <p:nvPr/>
        </p:nvSpPr>
        <p:spPr>
          <a:xfrm>
            <a:off x="4296041" y="6087048"/>
            <a:ext cx="3598520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沙箱隔离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037086" y="5800599"/>
            <a:ext cx="3670132" cy="572899"/>
          </a:xfrm>
          <a:custGeom>
            <a:avLst/>
            <a:gdLst/>
            <a:ahLst/>
            <a:cxnLst/>
            <a:rect l="l" t="t" r="r" b="b"/>
            <a:pathLst>
              <a:path w="3670132" h="572899">
                <a:moveTo>
                  <a:pt x="35806" y="0"/>
                </a:moveTo>
                <a:lnTo>
                  <a:pt x="3634326" y="0"/>
                </a:lnTo>
                <a:cubicBezTo>
                  <a:pt x="3654101" y="0"/>
                  <a:pt x="3670132" y="16031"/>
                  <a:pt x="3670132" y="35806"/>
                </a:cubicBezTo>
                <a:lnTo>
                  <a:pt x="3670132" y="537093"/>
                </a:lnTo>
                <a:cubicBezTo>
                  <a:pt x="3670132" y="556868"/>
                  <a:pt x="3654101" y="572899"/>
                  <a:pt x="3634326" y="572899"/>
                </a:cubicBezTo>
                <a:lnTo>
                  <a:pt x="35806" y="572899"/>
                </a:lnTo>
                <a:cubicBezTo>
                  <a:pt x="16031" y="572899"/>
                  <a:pt x="0" y="556868"/>
                  <a:pt x="0" y="537093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93406" y="5872211"/>
            <a:ext cx="156652" cy="179031"/>
          </a:xfrm>
          <a:custGeom>
            <a:avLst/>
            <a:gdLst/>
            <a:ahLst/>
            <a:cxnLst/>
            <a:rect l="l" t="t" r="r" b="b"/>
            <a:pathLst>
              <a:path w="156652" h="179031">
                <a:moveTo>
                  <a:pt x="118468" y="-3462"/>
                </a:moveTo>
                <a:cubicBezTo>
                  <a:pt x="122629" y="-455"/>
                  <a:pt x="124168" y="5000"/>
                  <a:pt x="122279" y="9756"/>
                </a:cubicBezTo>
                <a:lnTo>
                  <a:pt x="94865" y="78326"/>
                </a:lnTo>
                <a:lnTo>
                  <a:pt x="145463" y="78326"/>
                </a:lnTo>
                <a:cubicBezTo>
                  <a:pt x="150183" y="78326"/>
                  <a:pt x="154379" y="81263"/>
                  <a:pt x="155988" y="85704"/>
                </a:cubicBezTo>
                <a:cubicBezTo>
                  <a:pt x="157596" y="90145"/>
                  <a:pt x="156232" y="95110"/>
                  <a:pt x="152631" y="98117"/>
                </a:cubicBezTo>
                <a:lnTo>
                  <a:pt x="51926" y="182038"/>
                </a:lnTo>
                <a:cubicBezTo>
                  <a:pt x="47975" y="185325"/>
                  <a:pt x="42345" y="185500"/>
                  <a:pt x="38184" y="182493"/>
                </a:cubicBezTo>
                <a:cubicBezTo>
                  <a:pt x="34023" y="179485"/>
                  <a:pt x="32484" y="174031"/>
                  <a:pt x="34373" y="169275"/>
                </a:cubicBezTo>
                <a:lnTo>
                  <a:pt x="61787" y="100705"/>
                </a:lnTo>
                <a:lnTo>
                  <a:pt x="11189" y="100705"/>
                </a:lnTo>
                <a:cubicBezTo>
                  <a:pt x="6469" y="100705"/>
                  <a:pt x="2273" y="97768"/>
                  <a:pt x="664" y="93327"/>
                </a:cubicBezTo>
                <a:cubicBezTo>
                  <a:pt x="-944" y="88886"/>
                  <a:pt x="420" y="83921"/>
                  <a:pt x="4021" y="80914"/>
                </a:cubicBezTo>
                <a:lnTo>
                  <a:pt x="104726" y="-3007"/>
                </a:lnTo>
                <a:cubicBezTo>
                  <a:pt x="108677" y="-6294"/>
                  <a:pt x="114307" y="-6469"/>
                  <a:pt x="118468" y="-3462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5" name="Text 63"/>
          <p:cNvSpPr/>
          <p:nvPr/>
        </p:nvSpPr>
        <p:spPr>
          <a:xfrm>
            <a:off x="8072892" y="6087048"/>
            <a:ext cx="3598520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实时反馈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260" y="371260"/>
            <a:ext cx="999194" cy="302508"/>
          </a:xfrm>
          <a:custGeom>
            <a:avLst/>
            <a:gdLst/>
            <a:ahLst/>
            <a:cxnLst/>
            <a:rect l="l" t="t" r="r" b="b"/>
            <a:pathLst>
              <a:path w="999194" h="302508">
                <a:moveTo>
                  <a:pt x="36667" y="0"/>
                </a:moveTo>
                <a:lnTo>
                  <a:pt x="962527" y="0"/>
                </a:lnTo>
                <a:cubicBezTo>
                  <a:pt x="982778" y="0"/>
                  <a:pt x="999194" y="16416"/>
                  <a:pt x="999194" y="36667"/>
                </a:cubicBezTo>
                <a:lnTo>
                  <a:pt x="999194" y="265841"/>
                </a:lnTo>
                <a:cubicBezTo>
                  <a:pt x="999194" y="286092"/>
                  <a:pt x="982778" y="302508"/>
                  <a:pt x="962527" y="302508"/>
                </a:cubicBezTo>
                <a:lnTo>
                  <a:pt x="36667" y="302508"/>
                </a:lnTo>
                <a:cubicBezTo>
                  <a:pt x="16416" y="302508"/>
                  <a:pt x="0" y="286092"/>
                  <a:pt x="0" y="265841"/>
                </a:cubicBezTo>
                <a:lnTo>
                  <a:pt x="0" y="36667"/>
                </a:lnTo>
                <a:cubicBezTo>
                  <a:pt x="0" y="16430"/>
                  <a:pt x="16430" y="0"/>
                  <a:pt x="36667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847" y="449179"/>
            <a:ext cx="830179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6677" y="751687"/>
            <a:ext cx="11623651" cy="36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9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研究进度安排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6677" y="1265035"/>
            <a:ext cx="11458647" cy="3685101"/>
          </a:xfrm>
          <a:custGeom>
            <a:avLst/>
            <a:gdLst/>
            <a:ahLst/>
            <a:cxnLst/>
            <a:rect l="l" t="t" r="r" b="b"/>
            <a:pathLst>
              <a:path w="11458647" h="3685101">
                <a:moveTo>
                  <a:pt x="73334" y="0"/>
                </a:moveTo>
                <a:lnTo>
                  <a:pt x="11385313" y="0"/>
                </a:lnTo>
                <a:cubicBezTo>
                  <a:pt x="11425814" y="0"/>
                  <a:pt x="11458647" y="32833"/>
                  <a:pt x="11458647" y="73334"/>
                </a:cubicBezTo>
                <a:lnTo>
                  <a:pt x="11458647" y="3611767"/>
                </a:lnTo>
                <a:cubicBezTo>
                  <a:pt x="11458647" y="3652268"/>
                  <a:pt x="11425814" y="3685101"/>
                  <a:pt x="11385313" y="3685101"/>
                </a:cubicBezTo>
                <a:lnTo>
                  <a:pt x="73334" y="3685101"/>
                </a:lnTo>
                <a:cubicBezTo>
                  <a:pt x="32833" y="3685101"/>
                  <a:pt x="0" y="3652268"/>
                  <a:pt x="0" y="3611767"/>
                </a:cubicBezTo>
                <a:lnTo>
                  <a:pt x="0" y="73334"/>
                </a:lnTo>
                <a:cubicBezTo>
                  <a:pt x="0" y="32860"/>
                  <a:pt x="32860" y="0"/>
                  <a:pt x="73334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3347" y="1411705"/>
          <a:ext cx="11165306" cy="3391760"/>
        </p:xfrm>
        <a:graphic>
          <a:graphicData uri="http://schemas.openxmlformats.org/drawingml/2006/table">
            <a:tbl>
              <a:tblPr/>
              <a:tblGrid>
                <a:gridCol w="1602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3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6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9176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4FD1C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阶段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4FD1C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时间范围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4FD1C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主要任务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4FD1C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持续时间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17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第一阶段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2025.12.26 - 2026.01.04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任务书填写，了解论文要求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7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第二阶段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2026.01.05 - 2026.01.10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查阅文献，完成开题报告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17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第三阶段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2026.01.11 - 2026.01.14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确定技术方案，准备构建项目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17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第四阶段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2026.01.15 - 2026.01.25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完成基础功能（用户认证、权限管理）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17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第五阶段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2026.01.26 - 2026.03.31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完善核心功能（题库、评测、训练）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65天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17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第六阶段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2026.04.01 - 2026.04.10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实现拓展功能（数据分析、竞赛）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17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第七阶段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2026.04.11 - 2026.04.15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全面软件测试，修复问题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17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第八阶段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2026.04.16 - 2026.04.30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外观调整，用户体验优化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17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第九阶段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2026.05.01 - 2026.05.15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论文修改完善，准备答辩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0003" marR="110003" marT="73335" marB="733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71260" y="5101389"/>
            <a:ext cx="3712602" cy="1384205"/>
          </a:xfrm>
          <a:custGeom>
            <a:avLst/>
            <a:gdLst/>
            <a:ahLst/>
            <a:cxnLst/>
            <a:rect l="l" t="t" r="r" b="b"/>
            <a:pathLst>
              <a:path w="3712602" h="1384205">
                <a:moveTo>
                  <a:pt x="73335" y="0"/>
                </a:moveTo>
                <a:lnTo>
                  <a:pt x="3639266" y="0"/>
                </a:lnTo>
                <a:cubicBezTo>
                  <a:pt x="3679768" y="0"/>
                  <a:pt x="3712602" y="32833"/>
                  <a:pt x="3712602" y="73335"/>
                </a:cubicBezTo>
                <a:lnTo>
                  <a:pt x="3712602" y="1310869"/>
                </a:lnTo>
                <a:cubicBezTo>
                  <a:pt x="3712602" y="1351371"/>
                  <a:pt x="3679768" y="1384205"/>
                  <a:pt x="3639266" y="1384205"/>
                </a:cubicBezTo>
                <a:lnTo>
                  <a:pt x="73335" y="1384205"/>
                </a:lnTo>
                <a:cubicBezTo>
                  <a:pt x="32833" y="1384205"/>
                  <a:pt x="0" y="1351371"/>
                  <a:pt x="0" y="1310869"/>
                </a:cubicBezTo>
                <a:lnTo>
                  <a:pt x="0" y="73335"/>
                </a:lnTo>
                <a:cubicBezTo>
                  <a:pt x="0" y="32833"/>
                  <a:pt x="32833" y="0"/>
                  <a:pt x="73335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4FD1C5">
                  <a:alpha val="5000"/>
                </a:srgbClr>
              </a:gs>
            </a:gsLst>
            <a:lin ang="2700000" scaled="1"/>
          </a:gradFill>
          <a:ln w="12700">
            <a:solidFill>
              <a:srgbClr val="4FD1C5">
                <a:alpha val="5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109107" y="5215976"/>
            <a:ext cx="240632" cy="275008"/>
          </a:xfrm>
          <a:custGeom>
            <a:avLst/>
            <a:gdLst/>
            <a:ahLst/>
            <a:cxnLst/>
            <a:rect l="l" t="t" r="r" b="b"/>
            <a:pathLst>
              <a:path w="240632" h="275008">
                <a:moveTo>
                  <a:pt x="68752" y="0"/>
                </a:moveTo>
                <a:cubicBezTo>
                  <a:pt x="78259" y="0"/>
                  <a:pt x="85940" y="7681"/>
                  <a:pt x="85940" y="17188"/>
                </a:cubicBezTo>
                <a:lnTo>
                  <a:pt x="85940" y="34376"/>
                </a:lnTo>
                <a:lnTo>
                  <a:pt x="154692" y="34376"/>
                </a:lnTo>
                <a:lnTo>
                  <a:pt x="154692" y="17188"/>
                </a:lnTo>
                <a:cubicBezTo>
                  <a:pt x="154692" y="7681"/>
                  <a:pt x="162373" y="0"/>
                  <a:pt x="171880" y="0"/>
                </a:cubicBezTo>
                <a:cubicBezTo>
                  <a:pt x="181387" y="0"/>
                  <a:pt x="189068" y="7681"/>
                  <a:pt x="189068" y="17188"/>
                </a:cubicBezTo>
                <a:lnTo>
                  <a:pt x="189068" y="34376"/>
                </a:lnTo>
                <a:lnTo>
                  <a:pt x="206256" y="34376"/>
                </a:lnTo>
                <a:cubicBezTo>
                  <a:pt x="225216" y="34376"/>
                  <a:pt x="240632" y="49791"/>
                  <a:pt x="240632" y="68752"/>
                </a:cubicBezTo>
                <a:lnTo>
                  <a:pt x="240632" y="223444"/>
                </a:lnTo>
                <a:cubicBezTo>
                  <a:pt x="240632" y="242404"/>
                  <a:pt x="225216" y="257820"/>
                  <a:pt x="206256" y="257820"/>
                </a:cubicBezTo>
                <a:lnTo>
                  <a:pt x="34376" y="257820"/>
                </a:lnTo>
                <a:cubicBezTo>
                  <a:pt x="15415" y="257820"/>
                  <a:pt x="0" y="242404"/>
                  <a:pt x="0" y="223444"/>
                </a:cubicBezTo>
                <a:lnTo>
                  <a:pt x="0" y="68752"/>
                </a:lnTo>
                <a:cubicBezTo>
                  <a:pt x="0" y="49791"/>
                  <a:pt x="15415" y="34376"/>
                  <a:pt x="34376" y="34376"/>
                </a:cubicBezTo>
                <a:lnTo>
                  <a:pt x="51564" y="34376"/>
                </a:lnTo>
                <a:lnTo>
                  <a:pt x="51564" y="17188"/>
                </a:lnTo>
                <a:cubicBezTo>
                  <a:pt x="51564" y="7681"/>
                  <a:pt x="59245" y="0"/>
                  <a:pt x="68752" y="0"/>
                </a:cubicBezTo>
                <a:close/>
                <a:moveTo>
                  <a:pt x="34376" y="128910"/>
                </a:moveTo>
                <a:lnTo>
                  <a:pt x="34376" y="146098"/>
                </a:lnTo>
                <a:cubicBezTo>
                  <a:pt x="34376" y="150824"/>
                  <a:pt x="38243" y="154692"/>
                  <a:pt x="42970" y="154692"/>
                </a:cubicBezTo>
                <a:lnTo>
                  <a:pt x="60158" y="154692"/>
                </a:lnTo>
                <a:cubicBezTo>
                  <a:pt x="64885" y="154692"/>
                  <a:pt x="68752" y="150824"/>
                  <a:pt x="68752" y="146098"/>
                </a:cubicBezTo>
                <a:lnTo>
                  <a:pt x="68752" y="128910"/>
                </a:lnTo>
                <a:cubicBezTo>
                  <a:pt x="68752" y="124183"/>
                  <a:pt x="64885" y="120316"/>
                  <a:pt x="60158" y="120316"/>
                </a:cubicBezTo>
                <a:lnTo>
                  <a:pt x="42970" y="120316"/>
                </a:lnTo>
                <a:cubicBezTo>
                  <a:pt x="38243" y="120316"/>
                  <a:pt x="34376" y="124183"/>
                  <a:pt x="34376" y="128910"/>
                </a:cubicBezTo>
                <a:close/>
                <a:moveTo>
                  <a:pt x="103128" y="128910"/>
                </a:moveTo>
                <a:lnTo>
                  <a:pt x="103128" y="146098"/>
                </a:lnTo>
                <a:cubicBezTo>
                  <a:pt x="103128" y="150824"/>
                  <a:pt x="106995" y="154692"/>
                  <a:pt x="111722" y="154692"/>
                </a:cubicBezTo>
                <a:lnTo>
                  <a:pt x="128910" y="154692"/>
                </a:lnTo>
                <a:cubicBezTo>
                  <a:pt x="133636" y="154692"/>
                  <a:pt x="137504" y="150824"/>
                  <a:pt x="137504" y="146098"/>
                </a:cubicBezTo>
                <a:lnTo>
                  <a:pt x="137504" y="128910"/>
                </a:lnTo>
                <a:cubicBezTo>
                  <a:pt x="137504" y="124183"/>
                  <a:pt x="133636" y="120316"/>
                  <a:pt x="128910" y="120316"/>
                </a:cubicBezTo>
                <a:lnTo>
                  <a:pt x="111722" y="120316"/>
                </a:lnTo>
                <a:cubicBezTo>
                  <a:pt x="106995" y="120316"/>
                  <a:pt x="103128" y="124183"/>
                  <a:pt x="103128" y="128910"/>
                </a:cubicBezTo>
                <a:close/>
                <a:moveTo>
                  <a:pt x="180474" y="120316"/>
                </a:moveTo>
                <a:cubicBezTo>
                  <a:pt x="175747" y="120316"/>
                  <a:pt x="171880" y="124183"/>
                  <a:pt x="171880" y="128910"/>
                </a:cubicBezTo>
                <a:lnTo>
                  <a:pt x="171880" y="146098"/>
                </a:lnTo>
                <a:cubicBezTo>
                  <a:pt x="171880" y="150824"/>
                  <a:pt x="175747" y="154692"/>
                  <a:pt x="180474" y="154692"/>
                </a:cubicBezTo>
                <a:lnTo>
                  <a:pt x="197662" y="154692"/>
                </a:lnTo>
                <a:cubicBezTo>
                  <a:pt x="202388" y="154692"/>
                  <a:pt x="206256" y="150824"/>
                  <a:pt x="206256" y="146098"/>
                </a:cubicBezTo>
                <a:lnTo>
                  <a:pt x="206256" y="128910"/>
                </a:lnTo>
                <a:cubicBezTo>
                  <a:pt x="206256" y="124183"/>
                  <a:pt x="202388" y="120316"/>
                  <a:pt x="197662" y="120316"/>
                </a:cubicBezTo>
                <a:lnTo>
                  <a:pt x="180474" y="120316"/>
                </a:lnTo>
                <a:close/>
                <a:moveTo>
                  <a:pt x="34376" y="197662"/>
                </a:moveTo>
                <a:lnTo>
                  <a:pt x="34376" y="214850"/>
                </a:lnTo>
                <a:cubicBezTo>
                  <a:pt x="34376" y="219576"/>
                  <a:pt x="38243" y="223444"/>
                  <a:pt x="42970" y="223444"/>
                </a:cubicBezTo>
                <a:lnTo>
                  <a:pt x="60158" y="223444"/>
                </a:lnTo>
                <a:cubicBezTo>
                  <a:pt x="64885" y="223444"/>
                  <a:pt x="68752" y="219576"/>
                  <a:pt x="68752" y="214850"/>
                </a:cubicBezTo>
                <a:lnTo>
                  <a:pt x="68752" y="197662"/>
                </a:lnTo>
                <a:cubicBezTo>
                  <a:pt x="68752" y="192935"/>
                  <a:pt x="64885" y="189068"/>
                  <a:pt x="60158" y="189068"/>
                </a:cubicBezTo>
                <a:lnTo>
                  <a:pt x="42970" y="189068"/>
                </a:lnTo>
                <a:cubicBezTo>
                  <a:pt x="38243" y="189068"/>
                  <a:pt x="34376" y="192935"/>
                  <a:pt x="34376" y="197662"/>
                </a:cubicBezTo>
                <a:close/>
                <a:moveTo>
                  <a:pt x="111722" y="189068"/>
                </a:moveTo>
                <a:cubicBezTo>
                  <a:pt x="106995" y="189068"/>
                  <a:pt x="103128" y="192935"/>
                  <a:pt x="103128" y="197662"/>
                </a:cubicBezTo>
                <a:lnTo>
                  <a:pt x="103128" y="214850"/>
                </a:lnTo>
                <a:cubicBezTo>
                  <a:pt x="103128" y="219576"/>
                  <a:pt x="106995" y="223444"/>
                  <a:pt x="111722" y="223444"/>
                </a:cubicBezTo>
                <a:lnTo>
                  <a:pt x="128910" y="223444"/>
                </a:lnTo>
                <a:cubicBezTo>
                  <a:pt x="133636" y="223444"/>
                  <a:pt x="137504" y="219576"/>
                  <a:pt x="137504" y="214850"/>
                </a:cubicBezTo>
                <a:lnTo>
                  <a:pt x="137504" y="197662"/>
                </a:lnTo>
                <a:cubicBezTo>
                  <a:pt x="137504" y="192935"/>
                  <a:pt x="133636" y="189068"/>
                  <a:pt x="128910" y="189068"/>
                </a:cubicBezTo>
                <a:lnTo>
                  <a:pt x="111722" y="189068"/>
                </a:lnTo>
                <a:close/>
                <a:moveTo>
                  <a:pt x="171880" y="197662"/>
                </a:moveTo>
                <a:lnTo>
                  <a:pt x="171880" y="214850"/>
                </a:lnTo>
                <a:cubicBezTo>
                  <a:pt x="171880" y="219576"/>
                  <a:pt x="175747" y="223444"/>
                  <a:pt x="180474" y="223444"/>
                </a:cubicBezTo>
                <a:lnTo>
                  <a:pt x="197662" y="223444"/>
                </a:lnTo>
                <a:cubicBezTo>
                  <a:pt x="202388" y="223444"/>
                  <a:pt x="206256" y="219576"/>
                  <a:pt x="206256" y="214850"/>
                </a:cubicBezTo>
                <a:lnTo>
                  <a:pt x="206256" y="197662"/>
                </a:lnTo>
                <a:cubicBezTo>
                  <a:pt x="206256" y="192935"/>
                  <a:pt x="202388" y="189068"/>
                  <a:pt x="197662" y="189068"/>
                </a:cubicBezTo>
                <a:lnTo>
                  <a:pt x="180474" y="189068"/>
                </a:lnTo>
                <a:cubicBezTo>
                  <a:pt x="175747" y="189068"/>
                  <a:pt x="171880" y="192935"/>
                  <a:pt x="171880" y="197662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9" name="Text 6"/>
          <p:cNvSpPr/>
          <p:nvPr/>
        </p:nvSpPr>
        <p:spPr>
          <a:xfrm>
            <a:off x="444595" y="5564319"/>
            <a:ext cx="3565931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9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项目周期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7095" y="5857660"/>
            <a:ext cx="3620932" cy="330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5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144天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3762" y="6187669"/>
            <a:ext cx="3547597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1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2025.12.23 - 2026.05.15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38983" y="5101389"/>
            <a:ext cx="3712602" cy="1384205"/>
          </a:xfrm>
          <a:custGeom>
            <a:avLst/>
            <a:gdLst/>
            <a:ahLst/>
            <a:cxnLst/>
            <a:rect l="l" t="t" r="r" b="b"/>
            <a:pathLst>
              <a:path w="3712602" h="1384205">
                <a:moveTo>
                  <a:pt x="73335" y="0"/>
                </a:moveTo>
                <a:lnTo>
                  <a:pt x="3639266" y="0"/>
                </a:lnTo>
                <a:cubicBezTo>
                  <a:pt x="3679768" y="0"/>
                  <a:pt x="3712602" y="32833"/>
                  <a:pt x="3712602" y="73335"/>
                </a:cubicBezTo>
                <a:lnTo>
                  <a:pt x="3712602" y="1310869"/>
                </a:lnTo>
                <a:cubicBezTo>
                  <a:pt x="3712602" y="1351371"/>
                  <a:pt x="3679768" y="1384205"/>
                  <a:pt x="3639266" y="1384205"/>
                </a:cubicBezTo>
                <a:lnTo>
                  <a:pt x="73335" y="1384205"/>
                </a:lnTo>
                <a:cubicBezTo>
                  <a:pt x="32833" y="1384205"/>
                  <a:pt x="0" y="1351371"/>
                  <a:pt x="0" y="1310869"/>
                </a:cubicBezTo>
                <a:lnTo>
                  <a:pt x="0" y="73335"/>
                </a:lnTo>
                <a:cubicBezTo>
                  <a:pt x="0" y="32833"/>
                  <a:pt x="32833" y="0"/>
                  <a:pt x="73335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F6AD55">
                  <a:alpha val="5000"/>
                </a:srgbClr>
              </a:gs>
            </a:gsLst>
            <a:lin ang="2700000" scaled="1"/>
          </a:gradFill>
          <a:ln w="12700">
            <a:solidFill>
              <a:srgbClr val="F6AD55">
                <a:alpha val="5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2454" y="5215976"/>
            <a:ext cx="309383" cy="275008"/>
          </a:xfrm>
          <a:custGeom>
            <a:avLst/>
            <a:gdLst/>
            <a:ahLst/>
            <a:cxnLst/>
            <a:rect l="l" t="t" r="r" b="b"/>
            <a:pathLst>
              <a:path w="309383" h="275008">
                <a:moveTo>
                  <a:pt x="193794" y="645"/>
                </a:moveTo>
                <a:cubicBezTo>
                  <a:pt x="184663" y="-1987"/>
                  <a:pt x="175156" y="3330"/>
                  <a:pt x="172524" y="12461"/>
                </a:cubicBezTo>
                <a:lnTo>
                  <a:pt x="103772" y="253093"/>
                </a:lnTo>
                <a:cubicBezTo>
                  <a:pt x="101140" y="262224"/>
                  <a:pt x="106458" y="271731"/>
                  <a:pt x="115589" y="274363"/>
                </a:cubicBezTo>
                <a:cubicBezTo>
                  <a:pt x="124720" y="276995"/>
                  <a:pt x="134227" y="271677"/>
                  <a:pt x="136859" y="262546"/>
                </a:cubicBezTo>
                <a:lnTo>
                  <a:pt x="205611" y="21915"/>
                </a:lnTo>
                <a:cubicBezTo>
                  <a:pt x="208243" y="12784"/>
                  <a:pt x="202925" y="3276"/>
                  <a:pt x="193794" y="645"/>
                </a:cubicBezTo>
                <a:close/>
                <a:moveTo>
                  <a:pt x="228493" y="73747"/>
                </a:moveTo>
                <a:cubicBezTo>
                  <a:pt x="221779" y="80461"/>
                  <a:pt x="221779" y="91365"/>
                  <a:pt x="228493" y="98079"/>
                </a:cubicBezTo>
                <a:lnTo>
                  <a:pt x="267917" y="137504"/>
                </a:lnTo>
                <a:lnTo>
                  <a:pt x="228493" y="176929"/>
                </a:lnTo>
                <a:cubicBezTo>
                  <a:pt x="221779" y="183643"/>
                  <a:pt x="221779" y="194546"/>
                  <a:pt x="228493" y="201260"/>
                </a:cubicBezTo>
                <a:cubicBezTo>
                  <a:pt x="235207" y="207974"/>
                  <a:pt x="246110" y="207974"/>
                  <a:pt x="252824" y="201260"/>
                </a:cubicBezTo>
                <a:lnTo>
                  <a:pt x="304388" y="149696"/>
                </a:lnTo>
                <a:cubicBezTo>
                  <a:pt x="311102" y="142982"/>
                  <a:pt x="311102" y="132079"/>
                  <a:pt x="304388" y="125365"/>
                </a:cubicBezTo>
                <a:lnTo>
                  <a:pt x="252824" y="73801"/>
                </a:lnTo>
                <a:cubicBezTo>
                  <a:pt x="246110" y="67087"/>
                  <a:pt x="235207" y="67087"/>
                  <a:pt x="228493" y="73801"/>
                </a:cubicBezTo>
                <a:close/>
                <a:moveTo>
                  <a:pt x="80945" y="73747"/>
                </a:moveTo>
                <a:cubicBezTo>
                  <a:pt x="74231" y="67033"/>
                  <a:pt x="63327" y="67033"/>
                  <a:pt x="56613" y="73747"/>
                </a:cubicBezTo>
                <a:lnTo>
                  <a:pt x="5049" y="125311"/>
                </a:lnTo>
                <a:cubicBezTo>
                  <a:pt x="-1665" y="132025"/>
                  <a:pt x="-1665" y="142929"/>
                  <a:pt x="5049" y="149643"/>
                </a:cubicBezTo>
                <a:lnTo>
                  <a:pt x="56613" y="201207"/>
                </a:lnTo>
                <a:cubicBezTo>
                  <a:pt x="63327" y="207921"/>
                  <a:pt x="74231" y="207921"/>
                  <a:pt x="80945" y="201207"/>
                </a:cubicBezTo>
                <a:cubicBezTo>
                  <a:pt x="87659" y="194493"/>
                  <a:pt x="87659" y="183589"/>
                  <a:pt x="80945" y="176875"/>
                </a:cubicBezTo>
                <a:lnTo>
                  <a:pt x="41520" y="137504"/>
                </a:lnTo>
                <a:lnTo>
                  <a:pt x="80891" y="98079"/>
                </a:lnTo>
                <a:cubicBezTo>
                  <a:pt x="87605" y="91365"/>
                  <a:pt x="87605" y="80461"/>
                  <a:pt x="80891" y="73747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14" name="Text 11"/>
          <p:cNvSpPr/>
          <p:nvPr/>
        </p:nvSpPr>
        <p:spPr>
          <a:xfrm>
            <a:off x="4312318" y="5564319"/>
            <a:ext cx="3565931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9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开发周期</a:t>
            </a:r>
            <a:endParaRPr lang="en-US" sz="1600" dirty="0"/>
          </a:p>
        </p:txBody>
      </p:sp>
      <p:sp>
        <p:nvSpPr>
          <p:cNvPr id="6" name="Text 12"/>
          <p:cNvSpPr/>
          <p:nvPr/>
        </p:nvSpPr>
        <p:spPr>
          <a:xfrm>
            <a:off x="4284818" y="5857660"/>
            <a:ext cx="3620932" cy="330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101天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21485" y="6187669"/>
            <a:ext cx="3547597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1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2026.01.15 - 2026.04.15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106706" y="5101389"/>
            <a:ext cx="3712602" cy="1384205"/>
          </a:xfrm>
          <a:custGeom>
            <a:avLst/>
            <a:gdLst/>
            <a:ahLst/>
            <a:cxnLst/>
            <a:rect l="l" t="t" r="r" b="b"/>
            <a:pathLst>
              <a:path w="3712602" h="1384205">
                <a:moveTo>
                  <a:pt x="73335" y="0"/>
                </a:moveTo>
                <a:lnTo>
                  <a:pt x="3639266" y="0"/>
                </a:lnTo>
                <a:cubicBezTo>
                  <a:pt x="3679768" y="0"/>
                  <a:pt x="3712602" y="32833"/>
                  <a:pt x="3712602" y="73335"/>
                </a:cubicBezTo>
                <a:lnTo>
                  <a:pt x="3712602" y="1310869"/>
                </a:lnTo>
                <a:cubicBezTo>
                  <a:pt x="3712602" y="1351371"/>
                  <a:pt x="3679768" y="1384205"/>
                  <a:pt x="3639266" y="1384205"/>
                </a:cubicBezTo>
                <a:lnTo>
                  <a:pt x="73335" y="1384205"/>
                </a:lnTo>
                <a:cubicBezTo>
                  <a:pt x="32833" y="1384205"/>
                  <a:pt x="0" y="1351371"/>
                  <a:pt x="0" y="1310869"/>
                </a:cubicBezTo>
                <a:lnTo>
                  <a:pt x="0" y="73335"/>
                </a:lnTo>
                <a:cubicBezTo>
                  <a:pt x="0" y="32833"/>
                  <a:pt x="32833" y="0"/>
                  <a:pt x="73335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4FD1C5">
                  <a:alpha val="5000"/>
                </a:srgbClr>
              </a:gs>
            </a:gsLst>
            <a:lin ang="2700000" scaled="1"/>
          </a:gradFill>
          <a:ln w="12700">
            <a:solidFill>
              <a:srgbClr val="4FD1C5">
                <a:alpha val="5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861741" y="5215976"/>
            <a:ext cx="206256" cy="275008"/>
          </a:xfrm>
          <a:custGeom>
            <a:avLst/>
            <a:gdLst/>
            <a:ahLst/>
            <a:cxnLst/>
            <a:rect l="l" t="t" r="r" b="b"/>
            <a:pathLst>
              <a:path w="206256" h="275008">
                <a:moveTo>
                  <a:pt x="0" y="34376"/>
                </a:moveTo>
                <a:cubicBezTo>
                  <a:pt x="0" y="15415"/>
                  <a:pt x="15415" y="0"/>
                  <a:pt x="34376" y="0"/>
                </a:cubicBezTo>
                <a:lnTo>
                  <a:pt x="114676" y="0"/>
                </a:lnTo>
                <a:cubicBezTo>
                  <a:pt x="123807" y="0"/>
                  <a:pt x="132562" y="3599"/>
                  <a:pt x="139008" y="10044"/>
                </a:cubicBezTo>
                <a:lnTo>
                  <a:pt x="196211" y="67302"/>
                </a:lnTo>
                <a:cubicBezTo>
                  <a:pt x="202657" y="73747"/>
                  <a:pt x="206256" y="82502"/>
                  <a:pt x="206256" y="91633"/>
                </a:cubicBezTo>
                <a:lnTo>
                  <a:pt x="206256" y="240632"/>
                </a:lnTo>
                <a:cubicBezTo>
                  <a:pt x="206256" y="259592"/>
                  <a:pt x="190840" y="275008"/>
                  <a:pt x="171880" y="275008"/>
                </a:cubicBezTo>
                <a:lnTo>
                  <a:pt x="34376" y="275008"/>
                </a:lnTo>
                <a:cubicBezTo>
                  <a:pt x="15415" y="275008"/>
                  <a:pt x="0" y="259592"/>
                  <a:pt x="0" y="240632"/>
                </a:cubicBezTo>
                <a:lnTo>
                  <a:pt x="0" y="34376"/>
                </a:lnTo>
                <a:close/>
                <a:moveTo>
                  <a:pt x="111722" y="31422"/>
                </a:moveTo>
                <a:lnTo>
                  <a:pt x="111722" y="81643"/>
                </a:lnTo>
                <a:cubicBezTo>
                  <a:pt x="111722" y="88787"/>
                  <a:pt x="117469" y="94534"/>
                  <a:pt x="124613" y="94534"/>
                </a:cubicBezTo>
                <a:lnTo>
                  <a:pt x="174834" y="94534"/>
                </a:lnTo>
                <a:lnTo>
                  <a:pt x="111722" y="31422"/>
                </a:lnTo>
                <a:close/>
                <a:moveTo>
                  <a:pt x="64455" y="137504"/>
                </a:moveTo>
                <a:cubicBezTo>
                  <a:pt x="57311" y="137504"/>
                  <a:pt x="51564" y="143251"/>
                  <a:pt x="51564" y="150395"/>
                </a:cubicBezTo>
                <a:cubicBezTo>
                  <a:pt x="51564" y="157538"/>
                  <a:pt x="57311" y="163286"/>
                  <a:pt x="64455" y="163286"/>
                </a:cubicBezTo>
                <a:lnTo>
                  <a:pt x="141801" y="163286"/>
                </a:lnTo>
                <a:cubicBezTo>
                  <a:pt x="148945" y="163286"/>
                  <a:pt x="154692" y="157538"/>
                  <a:pt x="154692" y="150395"/>
                </a:cubicBezTo>
                <a:cubicBezTo>
                  <a:pt x="154692" y="143251"/>
                  <a:pt x="148945" y="137504"/>
                  <a:pt x="141801" y="137504"/>
                </a:cubicBezTo>
                <a:lnTo>
                  <a:pt x="64455" y="137504"/>
                </a:lnTo>
                <a:close/>
                <a:moveTo>
                  <a:pt x="64455" y="189068"/>
                </a:moveTo>
                <a:cubicBezTo>
                  <a:pt x="57311" y="189068"/>
                  <a:pt x="51564" y="194815"/>
                  <a:pt x="51564" y="201959"/>
                </a:cubicBezTo>
                <a:cubicBezTo>
                  <a:pt x="51564" y="209102"/>
                  <a:pt x="57311" y="214850"/>
                  <a:pt x="64455" y="214850"/>
                </a:cubicBezTo>
                <a:lnTo>
                  <a:pt x="141801" y="214850"/>
                </a:lnTo>
                <a:cubicBezTo>
                  <a:pt x="148945" y="214850"/>
                  <a:pt x="154692" y="209102"/>
                  <a:pt x="154692" y="201959"/>
                </a:cubicBezTo>
                <a:cubicBezTo>
                  <a:pt x="154692" y="194815"/>
                  <a:pt x="148945" y="189068"/>
                  <a:pt x="141801" y="189068"/>
                </a:cubicBezTo>
                <a:lnTo>
                  <a:pt x="64455" y="189068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9" name="Text 16"/>
          <p:cNvSpPr/>
          <p:nvPr/>
        </p:nvSpPr>
        <p:spPr>
          <a:xfrm>
            <a:off x="8180041" y="5564319"/>
            <a:ext cx="3565931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9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论文撰写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152541" y="5857660"/>
            <a:ext cx="3620932" cy="330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5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30天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189208" y="6187669"/>
            <a:ext cx="3547597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1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2026.04.16 - 2026.05.15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1028700" cy="314325"/>
          </a:xfrm>
          <a:custGeom>
            <a:avLst/>
            <a:gdLst/>
            <a:ahLst/>
            <a:cxnLst/>
            <a:rect l="l" t="t" r="r" b="b"/>
            <a:pathLst>
              <a:path w="1028700" h="314325">
                <a:moveTo>
                  <a:pt x="38099" y="0"/>
                </a:moveTo>
                <a:lnTo>
                  <a:pt x="990601" y="0"/>
                </a:lnTo>
                <a:cubicBezTo>
                  <a:pt x="1011642" y="0"/>
                  <a:pt x="1028700" y="17058"/>
                  <a:pt x="1028700" y="38099"/>
                </a:cubicBezTo>
                <a:lnTo>
                  <a:pt x="1028700" y="276226"/>
                </a:lnTo>
                <a:cubicBezTo>
                  <a:pt x="1028700" y="297267"/>
                  <a:pt x="1011642" y="314325"/>
                  <a:pt x="990601" y="314325"/>
                </a:cubicBezTo>
                <a:lnTo>
                  <a:pt x="38099" y="314325"/>
                </a:lnTo>
                <a:cubicBezTo>
                  <a:pt x="17058" y="314325"/>
                  <a:pt x="0" y="297267"/>
                  <a:pt x="0" y="2762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4825" y="466725"/>
            <a:ext cx="86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810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预期成果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0525" y="1323975"/>
            <a:ext cx="3686175" cy="4610100"/>
          </a:xfrm>
          <a:custGeom>
            <a:avLst/>
            <a:gdLst/>
            <a:ahLst/>
            <a:cxnLst/>
            <a:rect l="l" t="t" r="r" b="b"/>
            <a:pathLst>
              <a:path w="3686175" h="4610100">
                <a:moveTo>
                  <a:pt x="76193" y="0"/>
                </a:moveTo>
                <a:lnTo>
                  <a:pt x="3609982" y="0"/>
                </a:lnTo>
                <a:cubicBezTo>
                  <a:pt x="3652062" y="0"/>
                  <a:pt x="3686175" y="34113"/>
                  <a:pt x="3686175" y="76193"/>
                </a:cubicBezTo>
                <a:lnTo>
                  <a:pt x="3686175" y="4533907"/>
                </a:lnTo>
                <a:cubicBezTo>
                  <a:pt x="3686175" y="4575987"/>
                  <a:pt x="3652062" y="4610100"/>
                  <a:pt x="3609982" y="4610100"/>
                </a:cubicBezTo>
                <a:lnTo>
                  <a:pt x="76193" y="4610100"/>
                </a:lnTo>
                <a:cubicBezTo>
                  <a:pt x="34113" y="4610100"/>
                  <a:pt x="0" y="4575987"/>
                  <a:pt x="0" y="453390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4FD1C5">
                  <a:alpha val="500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2450" y="149542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系统成果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63094" y="1485900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32116" y="117481"/>
                </a:moveTo>
                <a:cubicBezTo>
                  <a:pt x="238925" y="115639"/>
                  <a:pt x="246069" y="118876"/>
                  <a:pt x="249138" y="125183"/>
                </a:cubicBezTo>
                <a:lnTo>
                  <a:pt x="259519" y="146168"/>
                </a:lnTo>
                <a:cubicBezTo>
                  <a:pt x="265268" y="146949"/>
                  <a:pt x="270904" y="148512"/>
                  <a:pt x="276206" y="150688"/>
                </a:cubicBezTo>
                <a:lnTo>
                  <a:pt x="295740" y="137685"/>
                </a:lnTo>
                <a:cubicBezTo>
                  <a:pt x="301600" y="133778"/>
                  <a:pt x="309358" y="134559"/>
                  <a:pt x="314325" y="139526"/>
                </a:cubicBezTo>
                <a:lnTo>
                  <a:pt x="325041" y="150242"/>
                </a:lnTo>
                <a:cubicBezTo>
                  <a:pt x="330008" y="155209"/>
                  <a:pt x="330789" y="163023"/>
                  <a:pt x="326882" y="168827"/>
                </a:cubicBezTo>
                <a:lnTo>
                  <a:pt x="313879" y="188305"/>
                </a:lnTo>
                <a:cubicBezTo>
                  <a:pt x="314939" y="190928"/>
                  <a:pt x="315888" y="193663"/>
                  <a:pt x="316669" y="196509"/>
                </a:cubicBezTo>
                <a:cubicBezTo>
                  <a:pt x="317450" y="199355"/>
                  <a:pt x="317953" y="202146"/>
                  <a:pt x="318343" y="204992"/>
                </a:cubicBezTo>
                <a:lnTo>
                  <a:pt x="339384" y="215373"/>
                </a:lnTo>
                <a:cubicBezTo>
                  <a:pt x="345691" y="218498"/>
                  <a:pt x="348928" y="225642"/>
                  <a:pt x="347086" y="232395"/>
                </a:cubicBezTo>
                <a:lnTo>
                  <a:pt x="343179" y="247017"/>
                </a:lnTo>
                <a:cubicBezTo>
                  <a:pt x="341337" y="253771"/>
                  <a:pt x="335031" y="258347"/>
                  <a:pt x="327999" y="257901"/>
                </a:cubicBezTo>
                <a:lnTo>
                  <a:pt x="304558" y="256394"/>
                </a:lnTo>
                <a:cubicBezTo>
                  <a:pt x="301042" y="260914"/>
                  <a:pt x="296968" y="265100"/>
                  <a:pt x="292336" y="268672"/>
                </a:cubicBezTo>
                <a:lnTo>
                  <a:pt x="293843" y="292057"/>
                </a:lnTo>
                <a:cubicBezTo>
                  <a:pt x="294289" y="299089"/>
                  <a:pt x="289713" y="305451"/>
                  <a:pt x="282959" y="307237"/>
                </a:cubicBezTo>
                <a:lnTo>
                  <a:pt x="268337" y="311144"/>
                </a:lnTo>
                <a:cubicBezTo>
                  <a:pt x="261528" y="312986"/>
                  <a:pt x="254440" y="309749"/>
                  <a:pt x="251315" y="303442"/>
                </a:cubicBezTo>
                <a:lnTo>
                  <a:pt x="240934" y="282457"/>
                </a:lnTo>
                <a:cubicBezTo>
                  <a:pt x="235186" y="281676"/>
                  <a:pt x="229549" y="280113"/>
                  <a:pt x="224247" y="277937"/>
                </a:cubicBezTo>
                <a:lnTo>
                  <a:pt x="204713" y="290940"/>
                </a:lnTo>
                <a:cubicBezTo>
                  <a:pt x="198853" y="294847"/>
                  <a:pt x="191095" y="294066"/>
                  <a:pt x="186128" y="289099"/>
                </a:cubicBezTo>
                <a:lnTo>
                  <a:pt x="175413" y="278383"/>
                </a:lnTo>
                <a:cubicBezTo>
                  <a:pt x="170445" y="273416"/>
                  <a:pt x="169664" y="265658"/>
                  <a:pt x="173571" y="259798"/>
                </a:cubicBezTo>
                <a:lnTo>
                  <a:pt x="186575" y="240264"/>
                </a:lnTo>
                <a:cubicBezTo>
                  <a:pt x="185514" y="237641"/>
                  <a:pt x="184565" y="234907"/>
                  <a:pt x="183784" y="232060"/>
                </a:cubicBezTo>
                <a:cubicBezTo>
                  <a:pt x="183003" y="229214"/>
                  <a:pt x="182500" y="226368"/>
                  <a:pt x="182110" y="223577"/>
                </a:cubicBezTo>
                <a:lnTo>
                  <a:pt x="161069" y="213196"/>
                </a:lnTo>
                <a:cubicBezTo>
                  <a:pt x="154763" y="210071"/>
                  <a:pt x="151581" y="202927"/>
                  <a:pt x="153367" y="196174"/>
                </a:cubicBezTo>
                <a:lnTo>
                  <a:pt x="157274" y="181552"/>
                </a:lnTo>
                <a:cubicBezTo>
                  <a:pt x="159116" y="174799"/>
                  <a:pt x="165422" y="170222"/>
                  <a:pt x="172455" y="170669"/>
                </a:cubicBezTo>
                <a:lnTo>
                  <a:pt x="195839" y="172176"/>
                </a:lnTo>
                <a:cubicBezTo>
                  <a:pt x="199355" y="167655"/>
                  <a:pt x="203429" y="163469"/>
                  <a:pt x="208062" y="159897"/>
                </a:cubicBezTo>
                <a:lnTo>
                  <a:pt x="206555" y="136568"/>
                </a:lnTo>
                <a:cubicBezTo>
                  <a:pt x="206108" y="129536"/>
                  <a:pt x="210685" y="123174"/>
                  <a:pt x="217438" y="121388"/>
                </a:cubicBezTo>
                <a:lnTo>
                  <a:pt x="232060" y="117481"/>
                </a:lnTo>
                <a:close/>
                <a:moveTo>
                  <a:pt x="250254" y="189756"/>
                </a:moveTo>
                <a:cubicBezTo>
                  <a:pt x="236701" y="189771"/>
                  <a:pt x="225710" y="200787"/>
                  <a:pt x="225726" y="214340"/>
                </a:cubicBezTo>
                <a:cubicBezTo>
                  <a:pt x="225741" y="227894"/>
                  <a:pt x="236757" y="238885"/>
                  <a:pt x="250310" y="238869"/>
                </a:cubicBezTo>
                <a:cubicBezTo>
                  <a:pt x="263863" y="238854"/>
                  <a:pt x="274854" y="227838"/>
                  <a:pt x="274839" y="214285"/>
                </a:cubicBezTo>
                <a:cubicBezTo>
                  <a:pt x="274824" y="200731"/>
                  <a:pt x="263808" y="189740"/>
                  <a:pt x="250254" y="189756"/>
                </a:cubicBezTo>
                <a:close/>
                <a:moveTo>
                  <a:pt x="125518" y="-25394"/>
                </a:moveTo>
                <a:lnTo>
                  <a:pt x="140140" y="-21487"/>
                </a:lnTo>
                <a:cubicBezTo>
                  <a:pt x="146893" y="-19645"/>
                  <a:pt x="151470" y="-13283"/>
                  <a:pt x="151023" y="-6307"/>
                </a:cubicBezTo>
                <a:lnTo>
                  <a:pt x="149516" y="17022"/>
                </a:lnTo>
                <a:cubicBezTo>
                  <a:pt x="154149" y="20594"/>
                  <a:pt x="158223" y="24724"/>
                  <a:pt x="161739" y="29301"/>
                </a:cubicBezTo>
                <a:lnTo>
                  <a:pt x="185179" y="27794"/>
                </a:lnTo>
                <a:cubicBezTo>
                  <a:pt x="192156" y="27347"/>
                  <a:pt x="198518" y="31924"/>
                  <a:pt x="200360" y="38677"/>
                </a:cubicBezTo>
                <a:lnTo>
                  <a:pt x="204267" y="53299"/>
                </a:lnTo>
                <a:cubicBezTo>
                  <a:pt x="206053" y="60052"/>
                  <a:pt x="202871" y="67196"/>
                  <a:pt x="196565" y="70321"/>
                </a:cubicBezTo>
                <a:lnTo>
                  <a:pt x="175524" y="80702"/>
                </a:lnTo>
                <a:cubicBezTo>
                  <a:pt x="175133" y="83548"/>
                  <a:pt x="174575" y="86395"/>
                  <a:pt x="173850" y="89185"/>
                </a:cubicBezTo>
                <a:cubicBezTo>
                  <a:pt x="173124" y="91976"/>
                  <a:pt x="172120" y="94766"/>
                  <a:pt x="171059" y="97389"/>
                </a:cubicBezTo>
                <a:lnTo>
                  <a:pt x="184063" y="116923"/>
                </a:lnTo>
                <a:cubicBezTo>
                  <a:pt x="187970" y="122783"/>
                  <a:pt x="187189" y="130541"/>
                  <a:pt x="182221" y="135508"/>
                </a:cubicBezTo>
                <a:lnTo>
                  <a:pt x="171506" y="146224"/>
                </a:lnTo>
                <a:cubicBezTo>
                  <a:pt x="166539" y="151191"/>
                  <a:pt x="158781" y="151972"/>
                  <a:pt x="152921" y="148065"/>
                </a:cubicBezTo>
                <a:lnTo>
                  <a:pt x="133387" y="135062"/>
                </a:lnTo>
                <a:cubicBezTo>
                  <a:pt x="128085" y="137238"/>
                  <a:pt x="122448" y="138801"/>
                  <a:pt x="116700" y="139582"/>
                </a:cubicBezTo>
                <a:lnTo>
                  <a:pt x="106319" y="160567"/>
                </a:lnTo>
                <a:cubicBezTo>
                  <a:pt x="103194" y="166874"/>
                  <a:pt x="96050" y="170055"/>
                  <a:pt x="89297" y="168269"/>
                </a:cubicBezTo>
                <a:lnTo>
                  <a:pt x="74675" y="164362"/>
                </a:lnTo>
                <a:cubicBezTo>
                  <a:pt x="67866" y="162520"/>
                  <a:pt x="63345" y="156158"/>
                  <a:pt x="63791" y="149182"/>
                </a:cubicBezTo>
                <a:lnTo>
                  <a:pt x="65298" y="125797"/>
                </a:lnTo>
                <a:cubicBezTo>
                  <a:pt x="60666" y="122225"/>
                  <a:pt x="56592" y="118095"/>
                  <a:pt x="53076" y="113519"/>
                </a:cubicBezTo>
                <a:lnTo>
                  <a:pt x="29635" y="115026"/>
                </a:lnTo>
                <a:cubicBezTo>
                  <a:pt x="22659" y="115472"/>
                  <a:pt x="16297" y="110896"/>
                  <a:pt x="14455" y="104142"/>
                </a:cubicBezTo>
                <a:lnTo>
                  <a:pt x="10548" y="89520"/>
                </a:lnTo>
                <a:cubicBezTo>
                  <a:pt x="8762" y="82767"/>
                  <a:pt x="11943" y="75623"/>
                  <a:pt x="18250" y="72498"/>
                </a:cubicBezTo>
                <a:lnTo>
                  <a:pt x="39291" y="62117"/>
                </a:lnTo>
                <a:cubicBezTo>
                  <a:pt x="39681" y="59271"/>
                  <a:pt x="40239" y="56480"/>
                  <a:pt x="40965" y="53634"/>
                </a:cubicBezTo>
                <a:cubicBezTo>
                  <a:pt x="41746" y="50788"/>
                  <a:pt x="42639" y="48053"/>
                  <a:pt x="43755" y="45430"/>
                </a:cubicBezTo>
                <a:lnTo>
                  <a:pt x="30752" y="25952"/>
                </a:lnTo>
                <a:cubicBezTo>
                  <a:pt x="26845" y="20092"/>
                  <a:pt x="27626" y="12334"/>
                  <a:pt x="32593" y="7367"/>
                </a:cubicBezTo>
                <a:lnTo>
                  <a:pt x="43309" y="-3349"/>
                </a:lnTo>
                <a:cubicBezTo>
                  <a:pt x="48276" y="-8316"/>
                  <a:pt x="56034" y="-9097"/>
                  <a:pt x="61894" y="-5190"/>
                </a:cubicBezTo>
                <a:lnTo>
                  <a:pt x="81428" y="7813"/>
                </a:lnTo>
                <a:cubicBezTo>
                  <a:pt x="86730" y="5637"/>
                  <a:pt x="92366" y="4074"/>
                  <a:pt x="98115" y="3293"/>
                </a:cubicBezTo>
                <a:lnTo>
                  <a:pt x="108496" y="-17692"/>
                </a:lnTo>
                <a:cubicBezTo>
                  <a:pt x="111621" y="-23999"/>
                  <a:pt x="118709" y="-27180"/>
                  <a:pt x="125518" y="-25394"/>
                </a:cubicBezTo>
                <a:close/>
                <a:moveTo>
                  <a:pt x="107379" y="46881"/>
                </a:moveTo>
                <a:cubicBezTo>
                  <a:pt x="93826" y="46881"/>
                  <a:pt x="82823" y="57884"/>
                  <a:pt x="82823" y="71438"/>
                </a:cubicBezTo>
                <a:cubicBezTo>
                  <a:pt x="82823" y="84991"/>
                  <a:pt x="93826" y="95994"/>
                  <a:pt x="107379" y="95994"/>
                </a:cubicBezTo>
                <a:cubicBezTo>
                  <a:pt x="120933" y="95994"/>
                  <a:pt x="131936" y="84991"/>
                  <a:pt x="131936" y="71438"/>
                </a:cubicBezTo>
                <a:cubicBezTo>
                  <a:pt x="131936" y="57884"/>
                  <a:pt x="120933" y="46881"/>
                  <a:pt x="107379" y="46881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8" name="Shape 6"/>
          <p:cNvSpPr/>
          <p:nvPr/>
        </p:nvSpPr>
        <p:spPr>
          <a:xfrm>
            <a:off x="552450" y="1885950"/>
            <a:ext cx="3362325" cy="1066800"/>
          </a:xfrm>
          <a:custGeom>
            <a:avLst/>
            <a:gdLst/>
            <a:ahLst/>
            <a:cxnLst/>
            <a:rect l="l" t="t" r="r" b="b"/>
            <a:pathLst>
              <a:path w="3362325" h="1066800">
                <a:moveTo>
                  <a:pt x="38095" y="0"/>
                </a:moveTo>
                <a:lnTo>
                  <a:pt x="3324230" y="0"/>
                </a:lnTo>
                <a:cubicBezTo>
                  <a:pt x="3345255" y="0"/>
                  <a:pt x="3362325" y="17070"/>
                  <a:pt x="3362325" y="38095"/>
                </a:cubicBezTo>
                <a:lnTo>
                  <a:pt x="3362325" y="1028705"/>
                </a:lnTo>
                <a:cubicBezTo>
                  <a:pt x="3362325" y="1049730"/>
                  <a:pt x="3345255" y="1066800"/>
                  <a:pt x="3324230" y="1066800"/>
                </a:cubicBezTo>
                <a:lnTo>
                  <a:pt x="38095" y="1066800"/>
                </a:lnTo>
                <a:cubicBezTo>
                  <a:pt x="17070" y="1066800"/>
                  <a:pt x="0" y="1049730"/>
                  <a:pt x="0" y="1028705"/>
                </a:cubicBezTo>
                <a:lnTo>
                  <a:pt x="0" y="38095"/>
                </a:lnTo>
                <a:cubicBezTo>
                  <a:pt x="0" y="17070"/>
                  <a:pt x="17070" y="0"/>
                  <a:pt x="3809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28650" y="1962150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完整在线算法题库系统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1050" y="22288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前后端完整代码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1050" y="24574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Docker容器化部署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1050" y="26860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支持多环境配置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2450" y="3028950"/>
            <a:ext cx="3362325" cy="1066800"/>
          </a:xfrm>
          <a:custGeom>
            <a:avLst/>
            <a:gdLst/>
            <a:ahLst/>
            <a:cxnLst/>
            <a:rect l="l" t="t" r="r" b="b"/>
            <a:pathLst>
              <a:path w="3362325" h="1066800">
                <a:moveTo>
                  <a:pt x="38095" y="0"/>
                </a:moveTo>
                <a:lnTo>
                  <a:pt x="3324230" y="0"/>
                </a:lnTo>
                <a:cubicBezTo>
                  <a:pt x="3345255" y="0"/>
                  <a:pt x="3362325" y="17070"/>
                  <a:pt x="3362325" y="38095"/>
                </a:cubicBezTo>
                <a:lnTo>
                  <a:pt x="3362325" y="1028705"/>
                </a:lnTo>
                <a:cubicBezTo>
                  <a:pt x="3362325" y="1049730"/>
                  <a:pt x="3345255" y="1066800"/>
                  <a:pt x="3324230" y="1066800"/>
                </a:cubicBezTo>
                <a:lnTo>
                  <a:pt x="38095" y="1066800"/>
                </a:lnTo>
                <a:cubicBezTo>
                  <a:pt x="17070" y="1066800"/>
                  <a:pt x="0" y="1049730"/>
                  <a:pt x="0" y="1028705"/>
                </a:cubicBezTo>
                <a:lnTo>
                  <a:pt x="0" y="38095"/>
                </a:lnTo>
                <a:cubicBezTo>
                  <a:pt x="0" y="17070"/>
                  <a:pt x="17070" y="0"/>
                  <a:pt x="3809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8650" y="3105150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多角色权限管理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1050" y="33718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四类角色权限体系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1050" y="36004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细粒度权限控制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1050" y="38290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数据级权限隔离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2450" y="4171950"/>
            <a:ext cx="3362325" cy="1295400"/>
          </a:xfrm>
          <a:custGeom>
            <a:avLst/>
            <a:gdLst/>
            <a:ahLst/>
            <a:cxnLst/>
            <a:rect l="l" t="t" r="r" b="b"/>
            <a:pathLst>
              <a:path w="3362325" h="1295400">
                <a:moveTo>
                  <a:pt x="38098" y="0"/>
                </a:moveTo>
                <a:lnTo>
                  <a:pt x="3324227" y="0"/>
                </a:lnTo>
                <a:cubicBezTo>
                  <a:pt x="3345254" y="0"/>
                  <a:pt x="3362325" y="17071"/>
                  <a:pt x="3362325" y="38098"/>
                </a:cubicBezTo>
                <a:lnTo>
                  <a:pt x="3362325" y="1257302"/>
                </a:lnTo>
                <a:cubicBezTo>
                  <a:pt x="3362325" y="1278343"/>
                  <a:pt x="3345268" y="1295400"/>
                  <a:pt x="3324227" y="1295400"/>
                </a:cubicBezTo>
                <a:lnTo>
                  <a:pt x="38098" y="1295400"/>
                </a:lnTo>
                <a:cubicBezTo>
                  <a:pt x="17071" y="1295400"/>
                  <a:pt x="0" y="1278329"/>
                  <a:pt x="0" y="12573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28650" y="4248150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核心功能模块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1050" y="45148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题库管理与分类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1050" y="47434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在线评测系统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81050" y="49720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训练与竞赛管理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81050" y="52006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学习数据分析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51275" y="1323975"/>
            <a:ext cx="3686175" cy="4610100"/>
          </a:xfrm>
          <a:custGeom>
            <a:avLst/>
            <a:gdLst/>
            <a:ahLst/>
            <a:cxnLst/>
            <a:rect l="l" t="t" r="r" b="b"/>
            <a:pathLst>
              <a:path w="3686175" h="4610100">
                <a:moveTo>
                  <a:pt x="76193" y="0"/>
                </a:moveTo>
                <a:lnTo>
                  <a:pt x="3609982" y="0"/>
                </a:lnTo>
                <a:cubicBezTo>
                  <a:pt x="3652062" y="0"/>
                  <a:pt x="3686175" y="34113"/>
                  <a:pt x="3686175" y="76193"/>
                </a:cubicBezTo>
                <a:lnTo>
                  <a:pt x="3686175" y="4533907"/>
                </a:lnTo>
                <a:cubicBezTo>
                  <a:pt x="3686175" y="4575987"/>
                  <a:pt x="3652062" y="4610100"/>
                  <a:pt x="3609982" y="4610100"/>
                </a:cubicBezTo>
                <a:lnTo>
                  <a:pt x="76193" y="4610100"/>
                </a:lnTo>
                <a:cubicBezTo>
                  <a:pt x="34113" y="4610100"/>
                  <a:pt x="0" y="4575987"/>
                  <a:pt x="0" y="453390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F6AD55">
                  <a:alpha val="5000"/>
                </a:srgbClr>
              </a:gs>
            </a:gsLst>
            <a:lin ang="2700000" scaled="1"/>
          </a:gradFill>
          <a:ln w="25400">
            <a:solidFill>
              <a:srgbClr val="F6AD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13200" y="149542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文档成果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95282" y="148590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0" y="35719"/>
                </a:moveTo>
                <a:cubicBezTo>
                  <a:pt x="0" y="16018"/>
                  <a:pt x="16018" y="0"/>
                  <a:pt x="35719" y="0"/>
                </a:cubicBezTo>
                <a:lnTo>
                  <a:pt x="119156" y="0"/>
                </a:lnTo>
                <a:cubicBezTo>
                  <a:pt x="128643" y="0"/>
                  <a:pt x="137740" y="3739"/>
                  <a:pt x="144438" y="10437"/>
                </a:cubicBezTo>
                <a:lnTo>
                  <a:pt x="203876" y="69931"/>
                </a:lnTo>
                <a:cubicBezTo>
                  <a:pt x="210573" y="76628"/>
                  <a:pt x="214313" y="85725"/>
                  <a:pt x="214313" y="95213"/>
                </a:cubicBezTo>
                <a:lnTo>
                  <a:pt x="214313" y="250031"/>
                </a:lnTo>
                <a:cubicBezTo>
                  <a:pt x="214313" y="269732"/>
                  <a:pt x="198295" y="285750"/>
                  <a:pt x="178594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35719"/>
                </a:lnTo>
                <a:close/>
                <a:moveTo>
                  <a:pt x="116086" y="32649"/>
                </a:moveTo>
                <a:lnTo>
                  <a:pt x="116086" y="84832"/>
                </a:lnTo>
                <a:cubicBezTo>
                  <a:pt x="116086" y="92255"/>
                  <a:pt x="122058" y="98227"/>
                  <a:pt x="129480" y="98227"/>
                </a:cubicBezTo>
                <a:lnTo>
                  <a:pt x="181663" y="98227"/>
                </a:lnTo>
                <a:lnTo>
                  <a:pt x="116086" y="32649"/>
                </a:lnTo>
                <a:close/>
                <a:moveTo>
                  <a:pt x="66973" y="142875"/>
                </a:moveTo>
                <a:cubicBezTo>
                  <a:pt x="59550" y="142875"/>
                  <a:pt x="53578" y="148847"/>
                  <a:pt x="53578" y="156270"/>
                </a:cubicBezTo>
                <a:cubicBezTo>
                  <a:pt x="53578" y="163692"/>
                  <a:pt x="59550" y="169664"/>
                  <a:pt x="66973" y="169664"/>
                </a:cubicBezTo>
                <a:lnTo>
                  <a:pt x="147340" y="169664"/>
                </a:lnTo>
                <a:cubicBezTo>
                  <a:pt x="154763" y="169664"/>
                  <a:pt x="160734" y="163692"/>
                  <a:pt x="160734" y="156270"/>
                </a:cubicBezTo>
                <a:cubicBezTo>
                  <a:pt x="160734" y="148847"/>
                  <a:pt x="154763" y="142875"/>
                  <a:pt x="147340" y="142875"/>
                </a:cubicBezTo>
                <a:lnTo>
                  <a:pt x="66973" y="142875"/>
                </a:lnTo>
                <a:close/>
                <a:moveTo>
                  <a:pt x="66973" y="196453"/>
                </a:moveTo>
                <a:cubicBezTo>
                  <a:pt x="59550" y="196453"/>
                  <a:pt x="53578" y="202425"/>
                  <a:pt x="53578" y="209848"/>
                </a:cubicBezTo>
                <a:cubicBezTo>
                  <a:pt x="53578" y="217270"/>
                  <a:pt x="59550" y="223242"/>
                  <a:pt x="66973" y="223242"/>
                </a:cubicBezTo>
                <a:lnTo>
                  <a:pt x="147340" y="223242"/>
                </a:lnTo>
                <a:cubicBezTo>
                  <a:pt x="154763" y="223242"/>
                  <a:pt x="160734" y="217270"/>
                  <a:pt x="160734" y="209848"/>
                </a:cubicBezTo>
                <a:cubicBezTo>
                  <a:pt x="160734" y="202425"/>
                  <a:pt x="154763" y="196453"/>
                  <a:pt x="147340" y="196453"/>
                </a:cubicBezTo>
                <a:lnTo>
                  <a:pt x="66973" y="196453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7" name="Shape 25"/>
          <p:cNvSpPr/>
          <p:nvPr/>
        </p:nvSpPr>
        <p:spPr>
          <a:xfrm>
            <a:off x="4413200" y="1885950"/>
            <a:ext cx="3362325" cy="914400"/>
          </a:xfrm>
          <a:custGeom>
            <a:avLst/>
            <a:gdLst/>
            <a:ahLst/>
            <a:cxnLst/>
            <a:rect l="l" t="t" r="r" b="b"/>
            <a:pathLst>
              <a:path w="3362325" h="914400">
                <a:moveTo>
                  <a:pt x="38103" y="0"/>
                </a:moveTo>
                <a:lnTo>
                  <a:pt x="3324222" y="0"/>
                </a:lnTo>
                <a:cubicBezTo>
                  <a:pt x="3345266" y="0"/>
                  <a:pt x="3362325" y="17059"/>
                  <a:pt x="3362325" y="38103"/>
                </a:cubicBezTo>
                <a:lnTo>
                  <a:pt x="3362325" y="876297"/>
                </a:lnTo>
                <a:cubicBezTo>
                  <a:pt x="3362325" y="897341"/>
                  <a:pt x="3345266" y="914400"/>
                  <a:pt x="3324222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995839" y="20002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1450" y="228600"/>
                </a:moveTo>
                <a:lnTo>
                  <a:pt x="42863" y="228600"/>
                </a:lnTo>
                <a:cubicBezTo>
                  <a:pt x="19199" y="228600"/>
                  <a:pt x="0" y="209401"/>
                  <a:pt x="0" y="185738"/>
                </a:cubicBezTo>
                <a:lnTo>
                  <a:pt x="0" y="42863"/>
                </a:lnTo>
                <a:cubicBezTo>
                  <a:pt x="0" y="19199"/>
                  <a:pt x="19199" y="0"/>
                  <a:pt x="42863" y="0"/>
                </a:cubicBezTo>
                <a:lnTo>
                  <a:pt x="178594" y="0"/>
                </a:lnTo>
                <a:cubicBezTo>
                  <a:pt x="190426" y="0"/>
                  <a:pt x="200025" y="9599"/>
                  <a:pt x="200025" y="21431"/>
                </a:cubicBezTo>
                <a:lnTo>
                  <a:pt x="200025" y="150019"/>
                </a:lnTo>
                <a:cubicBezTo>
                  <a:pt x="200025" y="159350"/>
                  <a:pt x="194042" y="167298"/>
                  <a:pt x="185738" y="170244"/>
                </a:cubicBezTo>
                <a:lnTo>
                  <a:pt x="185738" y="200025"/>
                </a:lnTo>
                <a:cubicBezTo>
                  <a:pt x="193640" y="200025"/>
                  <a:pt x="200025" y="206410"/>
                  <a:pt x="200025" y="214313"/>
                </a:cubicBezTo>
                <a:cubicBezTo>
                  <a:pt x="200025" y="222215"/>
                  <a:pt x="193640" y="228600"/>
                  <a:pt x="185738" y="228600"/>
                </a:cubicBezTo>
                <a:lnTo>
                  <a:pt x="171450" y="228600"/>
                </a:lnTo>
                <a:close/>
                <a:moveTo>
                  <a:pt x="42863" y="171450"/>
                </a:moveTo>
                <a:cubicBezTo>
                  <a:pt x="34960" y="171450"/>
                  <a:pt x="28575" y="177835"/>
                  <a:pt x="28575" y="185738"/>
                </a:cubicBezTo>
                <a:cubicBezTo>
                  <a:pt x="28575" y="193640"/>
                  <a:pt x="34960" y="200025"/>
                  <a:pt x="42863" y="200025"/>
                </a:cubicBezTo>
                <a:lnTo>
                  <a:pt x="157163" y="200025"/>
                </a:lnTo>
                <a:lnTo>
                  <a:pt x="157163" y="171450"/>
                </a:lnTo>
                <a:lnTo>
                  <a:pt x="42863" y="171450"/>
                </a:lnTo>
                <a:close/>
                <a:moveTo>
                  <a:pt x="57150" y="67866"/>
                </a:moveTo>
                <a:cubicBezTo>
                  <a:pt x="57150" y="73804"/>
                  <a:pt x="61927" y="78581"/>
                  <a:pt x="67866" y="78581"/>
                </a:cubicBezTo>
                <a:lnTo>
                  <a:pt x="146447" y="78581"/>
                </a:lnTo>
                <a:cubicBezTo>
                  <a:pt x="152385" y="78581"/>
                  <a:pt x="157163" y="73804"/>
                  <a:pt x="157163" y="67866"/>
                </a:cubicBezTo>
                <a:cubicBezTo>
                  <a:pt x="157163" y="61927"/>
                  <a:pt x="152385" y="57150"/>
                  <a:pt x="146447" y="57150"/>
                </a:cubicBezTo>
                <a:lnTo>
                  <a:pt x="67866" y="57150"/>
                </a:lnTo>
                <a:cubicBezTo>
                  <a:pt x="61927" y="57150"/>
                  <a:pt x="57150" y="61927"/>
                  <a:pt x="57150" y="67866"/>
                </a:cubicBezTo>
                <a:close/>
                <a:moveTo>
                  <a:pt x="67866" y="100013"/>
                </a:moveTo>
                <a:cubicBezTo>
                  <a:pt x="61927" y="100013"/>
                  <a:pt x="57150" y="104790"/>
                  <a:pt x="57150" y="110728"/>
                </a:cubicBezTo>
                <a:cubicBezTo>
                  <a:pt x="57150" y="116666"/>
                  <a:pt x="61927" y="121444"/>
                  <a:pt x="67866" y="121444"/>
                </a:cubicBezTo>
                <a:lnTo>
                  <a:pt x="146447" y="121444"/>
                </a:lnTo>
                <a:cubicBezTo>
                  <a:pt x="152385" y="121444"/>
                  <a:pt x="157163" y="116666"/>
                  <a:pt x="157163" y="110728"/>
                </a:cubicBezTo>
                <a:cubicBezTo>
                  <a:pt x="157163" y="104790"/>
                  <a:pt x="152385" y="100013"/>
                  <a:pt x="146447" y="100013"/>
                </a:cubicBezTo>
                <a:lnTo>
                  <a:pt x="67866" y="100013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9" name="Text 27"/>
          <p:cNvSpPr/>
          <p:nvPr/>
        </p:nvSpPr>
        <p:spPr>
          <a:xfrm>
            <a:off x="4489400" y="2266950"/>
            <a:ext cx="3209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系统设计文档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94163" y="24955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架构设计、模块设计、接口文档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13200" y="2876550"/>
            <a:ext cx="3362325" cy="914400"/>
          </a:xfrm>
          <a:custGeom>
            <a:avLst/>
            <a:gdLst/>
            <a:ahLst/>
            <a:cxnLst/>
            <a:rect l="l" t="t" r="r" b="b"/>
            <a:pathLst>
              <a:path w="3362325" h="914400">
                <a:moveTo>
                  <a:pt x="38103" y="0"/>
                </a:moveTo>
                <a:lnTo>
                  <a:pt x="3324222" y="0"/>
                </a:lnTo>
                <a:cubicBezTo>
                  <a:pt x="3345266" y="0"/>
                  <a:pt x="3362325" y="17059"/>
                  <a:pt x="3362325" y="38103"/>
                </a:cubicBezTo>
                <a:lnTo>
                  <a:pt x="3362325" y="876297"/>
                </a:lnTo>
                <a:cubicBezTo>
                  <a:pt x="3362325" y="897341"/>
                  <a:pt x="3345266" y="914400"/>
                  <a:pt x="3324222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995839" y="29908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3" name="Text 31"/>
          <p:cNvSpPr/>
          <p:nvPr/>
        </p:nvSpPr>
        <p:spPr>
          <a:xfrm>
            <a:off x="4489400" y="3257550"/>
            <a:ext cx="3209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数据库设计文档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94163" y="34861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ER图、数据表结构、索引设计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13200" y="3867150"/>
            <a:ext cx="3362325" cy="914400"/>
          </a:xfrm>
          <a:custGeom>
            <a:avLst/>
            <a:gdLst/>
            <a:ahLst/>
            <a:cxnLst/>
            <a:rect l="l" t="t" r="r" b="b"/>
            <a:pathLst>
              <a:path w="3362325" h="914400">
                <a:moveTo>
                  <a:pt x="38103" y="0"/>
                </a:moveTo>
                <a:lnTo>
                  <a:pt x="3324222" y="0"/>
                </a:lnTo>
                <a:cubicBezTo>
                  <a:pt x="3345266" y="0"/>
                  <a:pt x="3362325" y="17059"/>
                  <a:pt x="3362325" y="38103"/>
                </a:cubicBezTo>
                <a:lnTo>
                  <a:pt x="3362325" y="876297"/>
                </a:lnTo>
                <a:cubicBezTo>
                  <a:pt x="3362325" y="897341"/>
                  <a:pt x="3345266" y="914400"/>
                  <a:pt x="3324222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95839" y="39814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7" name="Text 35"/>
          <p:cNvSpPr/>
          <p:nvPr/>
        </p:nvSpPr>
        <p:spPr>
          <a:xfrm>
            <a:off x="4489400" y="4248150"/>
            <a:ext cx="3209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用户手册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94163" y="44767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操作指南、功能说明、常见问题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13200" y="4857750"/>
            <a:ext cx="3362325" cy="914400"/>
          </a:xfrm>
          <a:custGeom>
            <a:avLst/>
            <a:gdLst/>
            <a:ahLst/>
            <a:cxnLst/>
            <a:rect l="l" t="t" r="r" b="b"/>
            <a:pathLst>
              <a:path w="3362325" h="914400">
                <a:moveTo>
                  <a:pt x="38103" y="0"/>
                </a:moveTo>
                <a:lnTo>
                  <a:pt x="3324222" y="0"/>
                </a:lnTo>
                <a:cubicBezTo>
                  <a:pt x="3345266" y="0"/>
                  <a:pt x="3362325" y="17059"/>
                  <a:pt x="3362325" y="38103"/>
                </a:cubicBezTo>
                <a:lnTo>
                  <a:pt x="3362325" y="876297"/>
                </a:lnTo>
                <a:cubicBezTo>
                  <a:pt x="3362325" y="897341"/>
                  <a:pt x="3345266" y="914400"/>
                  <a:pt x="3324222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67264" y="49720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1" name="Text 39"/>
          <p:cNvSpPr/>
          <p:nvPr/>
        </p:nvSpPr>
        <p:spPr>
          <a:xfrm>
            <a:off x="4489400" y="5238750"/>
            <a:ext cx="3209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毕业论文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94163" y="54673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3-5万字，包含系统设计全过程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12026" y="1323975"/>
            <a:ext cx="3686175" cy="4610100"/>
          </a:xfrm>
          <a:custGeom>
            <a:avLst/>
            <a:gdLst/>
            <a:ahLst/>
            <a:cxnLst/>
            <a:rect l="l" t="t" r="r" b="b"/>
            <a:pathLst>
              <a:path w="3686175" h="4610100">
                <a:moveTo>
                  <a:pt x="76193" y="0"/>
                </a:moveTo>
                <a:lnTo>
                  <a:pt x="3609982" y="0"/>
                </a:lnTo>
                <a:cubicBezTo>
                  <a:pt x="3652062" y="0"/>
                  <a:pt x="3686175" y="34113"/>
                  <a:pt x="3686175" y="76193"/>
                </a:cubicBezTo>
                <a:lnTo>
                  <a:pt x="3686175" y="4533907"/>
                </a:lnTo>
                <a:cubicBezTo>
                  <a:pt x="3686175" y="4575987"/>
                  <a:pt x="3652062" y="4610100"/>
                  <a:pt x="3609982" y="4610100"/>
                </a:cubicBezTo>
                <a:lnTo>
                  <a:pt x="76193" y="4610100"/>
                </a:lnTo>
                <a:cubicBezTo>
                  <a:pt x="34113" y="4610100"/>
                  <a:pt x="0" y="4575987"/>
                  <a:pt x="0" y="453390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4FD1C5">
                  <a:alpha val="500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73951" y="149542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技术指标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320463" y="14859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859" y="17859"/>
                </a:moveTo>
                <a:cubicBezTo>
                  <a:pt x="27738" y="17859"/>
                  <a:pt x="35719" y="25840"/>
                  <a:pt x="35719" y="35719"/>
                </a:cubicBez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267891" y="232172"/>
                </a:lnTo>
                <a:cubicBezTo>
                  <a:pt x="277769" y="232172"/>
                  <a:pt x="285750" y="240153"/>
                  <a:pt x="285750" y="250031"/>
                </a:cubicBezTo>
                <a:cubicBezTo>
                  <a:pt x="285750" y="259910"/>
                  <a:pt x="277769" y="267891"/>
                  <a:pt x="267891" y="267891"/>
                </a:cubicBezTo>
                <a:lnTo>
                  <a:pt x="44648" y="267891"/>
                </a:lnTo>
                <a:cubicBezTo>
                  <a:pt x="19980" y="267891"/>
                  <a:pt x="0" y="247910"/>
                  <a:pt x="0" y="223242"/>
                </a:cubicBezTo>
                <a:lnTo>
                  <a:pt x="0" y="35719"/>
                </a:lnTo>
                <a:cubicBezTo>
                  <a:pt x="0" y="25840"/>
                  <a:pt x="7981" y="17859"/>
                  <a:pt x="17859" y="17859"/>
                </a:cubicBezTo>
                <a:close/>
                <a:moveTo>
                  <a:pt x="71438" y="53578"/>
                </a:moveTo>
                <a:cubicBezTo>
                  <a:pt x="71438" y="43700"/>
                  <a:pt x="79418" y="35719"/>
                  <a:pt x="89297" y="35719"/>
                </a:cubicBezTo>
                <a:lnTo>
                  <a:pt x="196453" y="35719"/>
                </a:lnTo>
                <a:cubicBezTo>
                  <a:pt x="206332" y="35719"/>
                  <a:pt x="214313" y="43700"/>
                  <a:pt x="214313" y="53578"/>
                </a:cubicBezTo>
                <a:cubicBezTo>
                  <a:pt x="214313" y="63457"/>
                  <a:pt x="206332" y="71438"/>
                  <a:pt x="196453" y="71438"/>
                </a:cubicBezTo>
                <a:lnTo>
                  <a:pt x="89297" y="71438"/>
                </a:lnTo>
                <a:cubicBezTo>
                  <a:pt x="79418" y="71438"/>
                  <a:pt x="71438" y="63457"/>
                  <a:pt x="71438" y="53578"/>
                </a:cubicBezTo>
                <a:close/>
                <a:moveTo>
                  <a:pt x="89297" y="98227"/>
                </a:moveTo>
                <a:lnTo>
                  <a:pt x="160734" y="98227"/>
                </a:lnTo>
                <a:cubicBezTo>
                  <a:pt x="170613" y="98227"/>
                  <a:pt x="178594" y="106207"/>
                  <a:pt x="178594" y="116086"/>
                </a:cubicBezTo>
                <a:cubicBezTo>
                  <a:pt x="178594" y="125964"/>
                  <a:pt x="170613" y="133945"/>
                  <a:pt x="160734" y="133945"/>
                </a:cubicBezTo>
                <a:lnTo>
                  <a:pt x="89297" y="133945"/>
                </a:lnTo>
                <a:cubicBezTo>
                  <a:pt x="79418" y="133945"/>
                  <a:pt x="71438" y="125964"/>
                  <a:pt x="71438" y="116086"/>
                </a:cubicBezTo>
                <a:cubicBezTo>
                  <a:pt x="71438" y="106207"/>
                  <a:pt x="79418" y="98227"/>
                  <a:pt x="89297" y="98227"/>
                </a:cubicBezTo>
                <a:close/>
                <a:moveTo>
                  <a:pt x="89297" y="160734"/>
                </a:moveTo>
                <a:lnTo>
                  <a:pt x="232172" y="160734"/>
                </a:lnTo>
                <a:cubicBezTo>
                  <a:pt x="242050" y="160734"/>
                  <a:pt x="250031" y="168715"/>
                  <a:pt x="250031" y="178594"/>
                </a:cubicBezTo>
                <a:cubicBezTo>
                  <a:pt x="250031" y="188472"/>
                  <a:pt x="242050" y="196453"/>
                  <a:pt x="232172" y="196453"/>
                </a:cubicBezTo>
                <a:lnTo>
                  <a:pt x="89297" y="196453"/>
                </a:lnTo>
                <a:cubicBezTo>
                  <a:pt x="79418" y="196453"/>
                  <a:pt x="71438" y="188472"/>
                  <a:pt x="71438" y="178594"/>
                </a:cubicBezTo>
                <a:cubicBezTo>
                  <a:pt x="71438" y="168715"/>
                  <a:pt x="79418" y="160734"/>
                  <a:pt x="89297" y="160734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6" name="Shape 44"/>
          <p:cNvSpPr/>
          <p:nvPr/>
        </p:nvSpPr>
        <p:spPr>
          <a:xfrm>
            <a:off x="8273951" y="1885950"/>
            <a:ext cx="3362325" cy="1028700"/>
          </a:xfrm>
          <a:custGeom>
            <a:avLst/>
            <a:gdLst/>
            <a:ahLst/>
            <a:cxnLst/>
            <a:rect l="l" t="t" r="r" b="b"/>
            <a:pathLst>
              <a:path w="3362325" h="1028700">
                <a:moveTo>
                  <a:pt x="38103" y="0"/>
                </a:moveTo>
                <a:lnTo>
                  <a:pt x="3324222" y="0"/>
                </a:lnTo>
                <a:cubicBezTo>
                  <a:pt x="3345266" y="0"/>
                  <a:pt x="3362325" y="17059"/>
                  <a:pt x="3362325" y="38103"/>
                </a:cubicBezTo>
                <a:lnTo>
                  <a:pt x="3362325" y="990597"/>
                </a:lnTo>
                <a:cubicBezTo>
                  <a:pt x="3362325" y="1011641"/>
                  <a:pt x="3345266" y="1028700"/>
                  <a:pt x="3324222" y="1028700"/>
                </a:cubicBezTo>
                <a:lnTo>
                  <a:pt x="38103" y="1028700"/>
                </a:lnTo>
                <a:cubicBezTo>
                  <a:pt x="17059" y="1028700"/>
                  <a:pt x="0" y="1011641"/>
                  <a:pt x="0" y="9905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388251" y="20002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日均活跃提交量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322844" y="20193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40667"/>
                </a:moveTo>
                <a:lnTo>
                  <a:pt x="95250" y="119063"/>
                </a:lnTo>
                <a:cubicBezTo>
                  <a:pt x="95250" y="125648"/>
                  <a:pt x="89929" y="130969"/>
                  <a:pt x="83344" y="130969"/>
                </a:cubicBezTo>
                <a:cubicBezTo>
                  <a:pt x="76758" y="130969"/>
                  <a:pt x="71438" y="125648"/>
                  <a:pt x="71438" y="119063"/>
                </a:cubicBezTo>
                <a:lnTo>
                  <a:pt x="71438" y="40667"/>
                </a:lnTo>
                <a:lnTo>
                  <a:pt x="56034" y="56071"/>
                </a:lnTo>
                <a:cubicBezTo>
                  <a:pt x="51383" y="60722"/>
                  <a:pt x="43830" y="60722"/>
                  <a:pt x="39179" y="56071"/>
                </a:cubicBezTo>
                <a:cubicBezTo>
                  <a:pt x="34528" y="51420"/>
                  <a:pt x="34528" y="43867"/>
                  <a:pt x="39179" y="39216"/>
                </a:cubicBezTo>
                <a:lnTo>
                  <a:pt x="74898" y="3497"/>
                </a:lnTo>
                <a:cubicBezTo>
                  <a:pt x="79549" y="-1153"/>
                  <a:pt x="87102" y="-1153"/>
                  <a:pt x="91753" y="3497"/>
                </a:cubicBezTo>
                <a:lnTo>
                  <a:pt x="127471" y="39216"/>
                </a:lnTo>
                <a:cubicBezTo>
                  <a:pt x="132122" y="43867"/>
                  <a:pt x="132122" y="51420"/>
                  <a:pt x="127471" y="56071"/>
                </a:cubicBezTo>
                <a:cubicBezTo>
                  <a:pt x="122820" y="60722"/>
                  <a:pt x="115267" y="60722"/>
                  <a:pt x="110617" y="56071"/>
                </a:cubicBezTo>
                <a:lnTo>
                  <a:pt x="95250" y="40667"/>
                </a:lnTo>
                <a:close/>
                <a:moveTo>
                  <a:pt x="83344" y="148828"/>
                </a:moveTo>
                <a:cubicBezTo>
                  <a:pt x="99789" y="148828"/>
                  <a:pt x="113109" y="135508"/>
                  <a:pt x="113109" y="119063"/>
                </a:cubicBezTo>
                <a:lnTo>
                  <a:pt x="142875" y="119063"/>
                </a:lnTo>
                <a:cubicBezTo>
                  <a:pt x="156009" y="119063"/>
                  <a:pt x="166688" y="129741"/>
                  <a:pt x="166688" y="14287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42875"/>
                </a:lnTo>
                <a:cubicBezTo>
                  <a:pt x="0" y="129741"/>
                  <a:pt x="10678" y="119063"/>
                  <a:pt x="23812" y="119063"/>
                </a:cubicBezTo>
                <a:lnTo>
                  <a:pt x="53578" y="119063"/>
                </a:lnTo>
                <a:cubicBezTo>
                  <a:pt x="53578" y="135508"/>
                  <a:pt x="66898" y="148828"/>
                  <a:pt x="83344" y="148828"/>
                </a:cubicBezTo>
                <a:close/>
                <a:moveTo>
                  <a:pt x="136922" y="157758"/>
                </a:moveTo>
                <a:cubicBezTo>
                  <a:pt x="141850" y="157758"/>
                  <a:pt x="145852" y="153757"/>
                  <a:pt x="145852" y="148828"/>
                </a:cubicBezTo>
                <a:cubicBezTo>
                  <a:pt x="145852" y="143900"/>
                  <a:pt x="141850" y="139898"/>
                  <a:pt x="136922" y="139898"/>
                </a:cubicBezTo>
                <a:cubicBezTo>
                  <a:pt x="131993" y="139898"/>
                  <a:pt x="127992" y="143900"/>
                  <a:pt x="127992" y="148828"/>
                </a:cubicBezTo>
                <a:cubicBezTo>
                  <a:pt x="127992" y="153757"/>
                  <a:pt x="131993" y="157758"/>
                  <a:pt x="136922" y="157758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9" name="Text 47"/>
          <p:cNvSpPr/>
          <p:nvPr/>
        </p:nvSpPr>
        <p:spPr>
          <a:xfrm>
            <a:off x="8388251" y="2266950"/>
            <a:ext cx="1247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≥500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131201" y="239077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次/天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388251" y="2647950"/>
            <a:ext cx="3190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900" dirty="0">
                <a:solidFill>
                  <a:srgbClr val="E2E8F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支持并发提交，满足中小规模用户同时使用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73951" y="3028950"/>
            <a:ext cx="3362325" cy="1028700"/>
          </a:xfrm>
          <a:custGeom>
            <a:avLst/>
            <a:gdLst/>
            <a:ahLst/>
            <a:cxnLst/>
            <a:rect l="l" t="t" r="r" b="b"/>
            <a:pathLst>
              <a:path w="3362325" h="1028700">
                <a:moveTo>
                  <a:pt x="38103" y="0"/>
                </a:moveTo>
                <a:lnTo>
                  <a:pt x="3324222" y="0"/>
                </a:lnTo>
                <a:cubicBezTo>
                  <a:pt x="3345266" y="0"/>
                  <a:pt x="3362325" y="17059"/>
                  <a:pt x="3362325" y="38103"/>
                </a:cubicBezTo>
                <a:lnTo>
                  <a:pt x="3362325" y="990597"/>
                </a:lnTo>
                <a:cubicBezTo>
                  <a:pt x="3362325" y="1011641"/>
                  <a:pt x="3345266" y="1028700"/>
                  <a:pt x="3324222" y="1028700"/>
                </a:cubicBezTo>
                <a:lnTo>
                  <a:pt x="38103" y="1028700"/>
                </a:lnTo>
                <a:cubicBezTo>
                  <a:pt x="17059" y="1028700"/>
                  <a:pt x="0" y="1011641"/>
                  <a:pt x="0" y="9905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8388251" y="31432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评测平均响应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1310938" y="3162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5" name="Text 53"/>
          <p:cNvSpPr/>
          <p:nvPr/>
        </p:nvSpPr>
        <p:spPr>
          <a:xfrm>
            <a:off x="8388251" y="3409950"/>
            <a:ext cx="647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6AD5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≤10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975675" y="3533775"/>
            <a:ext cx="200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秒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388251" y="3790950"/>
            <a:ext cx="3190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900" dirty="0">
                <a:solidFill>
                  <a:srgbClr val="E2E8F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及时反馈评测结果，提升用户体验和训练效率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73951" y="4171950"/>
            <a:ext cx="3362325" cy="1028700"/>
          </a:xfrm>
          <a:custGeom>
            <a:avLst/>
            <a:gdLst/>
            <a:ahLst/>
            <a:cxnLst/>
            <a:rect l="l" t="t" r="r" b="b"/>
            <a:pathLst>
              <a:path w="3362325" h="1028700">
                <a:moveTo>
                  <a:pt x="38103" y="0"/>
                </a:moveTo>
                <a:lnTo>
                  <a:pt x="3324222" y="0"/>
                </a:lnTo>
                <a:cubicBezTo>
                  <a:pt x="3345266" y="0"/>
                  <a:pt x="3362325" y="17059"/>
                  <a:pt x="3362325" y="38103"/>
                </a:cubicBezTo>
                <a:lnTo>
                  <a:pt x="3362325" y="990597"/>
                </a:lnTo>
                <a:cubicBezTo>
                  <a:pt x="3362325" y="1011641"/>
                  <a:pt x="3345266" y="1028700"/>
                  <a:pt x="3324222" y="1028700"/>
                </a:cubicBezTo>
                <a:lnTo>
                  <a:pt x="38103" y="1028700"/>
                </a:lnTo>
                <a:cubicBezTo>
                  <a:pt x="17059" y="1028700"/>
                  <a:pt x="0" y="1011641"/>
                  <a:pt x="0" y="9905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8388251" y="428625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系统可用性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1322844" y="43053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1" name="Text 59"/>
          <p:cNvSpPr/>
          <p:nvPr/>
        </p:nvSpPr>
        <p:spPr>
          <a:xfrm>
            <a:off x="8388251" y="455295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≥95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989962" y="4676775"/>
            <a:ext cx="171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%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388251" y="4933950"/>
            <a:ext cx="3190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900" dirty="0">
                <a:solidFill>
                  <a:srgbClr val="E2E8F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保障系统稳定运行，支持日常教学训练需求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241" y="347241"/>
            <a:ext cx="908827" cy="282937"/>
          </a:xfrm>
          <a:custGeom>
            <a:avLst/>
            <a:gdLst/>
            <a:ahLst/>
            <a:cxnLst/>
            <a:rect l="l" t="t" r="r" b="b"/>
            <a:pathLst>
              <a:path w="908827" h="282937">
                <a:moveTo>
                  <a:pt x="34295" y="0"/>
                </a:moveTo>
                <a:lnTo>
                  <a:pt x="874532" y="0"/>
                </a:lnTo>
                <a:cubicBezTo>
                  <a:pt x="893473" y="0"/>
                  <a:pt x="908827" y="15354"/>
                  <a:pt x="908827" y="34295"/>
                </a:cubicBezTo>
                <a:lnTo>
                  <a:pt x="908827" y="248642"/>
                </a:lnTo>
                <a:cubicBezTo>
                  <a:pt x="908827" y="267582"/>
                  <a:pt x="893473" y="282937"/>
                  <a:pt x="874532" y="282937"/>
                </a:cubicBezTo>
                <a:lnTo>
                  <a:pt x="34295" y="282937"/>
                </a:lnTo>
                <a:cubicBezTo>
                  <a:pt x="15367" y="282937"/>
                  <a:pt x="0" y="267570"/>
                  <a:pt x="0" y="248642"/>
                </a:cubicBezTo>
                <a:lnTo>
                  <a:pt x="0" y="34295"/>
                </a:lnTo>
                <a:cubicBezTo>
                  <a:pt x="0" y="15367"/>
                  <a:pt x="15367" y="0"/>
                  <a:pt x="34295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4414" y="420118"/>
            <a:ext cx="750747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2954" y="703055"/>
            <a:ext cx="11660422" cy="3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参考文献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0101" y="1183190"/>
            <a:ext cx="11488945" cy="428692"/>
          </a:xfrm>
          <a:custGeom>
            <a:avLst/>
            <a:gdLst/>
            <a:ahLst/>
            <a:cxnLst/>
            <a:rect l="l" t="t" r="r" b="b"/>
            <a:pathLst>
              <a:path w="11488945" h="428692">
                <a:moveTo>
                  <a:pt x="34295" y="0"/>
                </a:moveTo>
                <a:lnTo>
                  <a:pt x="11420354" y="0"/>
                </a:lnTo>
                <a:cubicBezTo>
                  <a:pt x="11458236" y="0"/>
                  <a:pt x="11488945" y="30709"/>
                  <a:pt x="11488945" y="68591"/>
                </a:cubicBezTo>
                <a:lnTo>
                  <a:pt x="11488945" y="360101"/>
                </a:lnTo>
                <a:cubicBezTo>
                  <a:pt x="11488945" y="397983"/>
                  <a:pt x="11458236" y="428692"/>
                  <a:pt x="11420354" y="428692"/>
                </a:cubicBezTo>
                <a:lnTo>
                  <a:pt x="34295" y="428692"/>
                </a:lnTo>
                <a:cubicBezTo>
                  <a:pt x="15367" y="428692"/>
                  <a:pt x="0" y="413325"/>
                  <a:pt x="0" y="394397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0101" y="1183190"/>
            <a:ext cx="34295" cy="428692"/>
          </a:xfrm>
          <a:custGeom>
            <a:avLst/>
            <a:gdLst/>
            <a:ahLst/>
            <a:cxnLst/>
            <a:rect l="l" t="t" r="r" b="b"/>
            <a:pathLst>
              <a:path w="34295" h="428692">
                <a:moveTo>
                  <a:pt x="34295" y="0"/>
                </a:moveTo>
                <a:lnTo>
                  <a:pt x="34295" y="0"/>
                </a:lnTo>
                <a:lnTo>
                  <a:pt x="34295" y="428692"/>
                </a:lnTo>
                <a:lnTo>
                  <a:pt x="34295" y="428692"/>
                </a:lnTo>
                <a:cubicBezTo>
                  <a:pt x="15367" y="428692"/>
                  <a:pt x="0" y="413325"/>
                  <a:pt x="0" y="394397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" name="Text 5"/>
          <p:cNvSpPr/>
          <p:nvPr/>
        </p:nvSpPr>
        <p:spPr>
          <a:xfrm>
            <a:off x="480135" y="1286076"/>
            <a:ext cx="11334616" cy="22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[1] 崔翔. 数据库软件设计中的安全策略分析[J]. 电子技术, 2024, (01): 186-187.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0101" y="1714768"/>
            <a:ext cx="11488945" cy="428692"/>
          </a:xfrm>
          <a:custGeom>
            <a:avLst/>
            <a:gdLst/>
            <a:ahLst/>
            <a:cxnLst/>
            <a:rect l="l" t="t" r="r" b="b"/>
            <a:pathLst>
              <a:path w="11488945" h="428692">
                <a:moveTo>
                  <a:pt x="34295" y="0"/>
                </a:moveTo>
                <a:lnTo>
                  <a:pt x="11420354" y="0"/>
                </a:lnTo>
                <a:cubicBezTo>
                  <a:pt x="11458236" y="0"/>
                  <a:pt x="11488945" y="30709"/>
                  <a:pt x="11488945" y="68591"/>
                </a:cubicBezTo>
                <a:lnTo>
                  <a:pt x="11488945" y="360101"/>
                </a:lnTo>
                <a:cubicBezTo>
                  <a:pt x="11488945" y="397983"/>
                  <a:pt x="11458236" y="428692"/>
                  <a:pt x="11420354" y="428692"/>
                </a:cubicBezTo>
                <a:lnTo>
                  <a:pt x="34295" y="428692"/>
                </a:lnTo>
                <a:cubicBezTo>
                  <a:pt x="15367" y="428692"/>
                  <a:pt x="0" y="413325"/>
                  <a:pt x="0" y="394397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60101" y="1714768"/>
            <a:ext cx="34295" cy="428692"/>
          </a:xfrm>
          <a:custGeom>
            <a:avLst/>
            <a:gdLst/>
            <a:ahLst/>
            <a:cxnLst/>
            <a:rect l="l" t="t" r="r" b="b"/>
            <a:pathLst>
              <a:path w="34295" h="428692">
                <a:moveTo>
                  <a:pt x="34295" y="0"/>
                </a:moveTo>
                <a:lnTo>
                  <a:pt x="34295" y="0"/>
                </a:lnTo>
                <a:lnTo>
                  <a:pt x="34295" y="428692"/>
                </a:lnTo>
                <a:lnTo>
                  <a:pt x="34295" y="428692"/>
                </a:lnTo>
                <a:cubicBezTo>
                  <a:pt x="15367" y="428692"/>
                  <a:pt x="0" y="413325"/>
                  <a:pt x="0" y="394397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10" name="Text 8"/>
          <p:cNvSpPr/>
          <p:nvPr/>
        </p:nvSpPr>
        <p:spPr>
          <a:xfrm>
            <a:off x="480135" y="1817654"/>
            <a:ext cx="11334616" cy="22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[2] 金江. 基于Java Web的SSM在线考试系统设计[J]. 现代信息科技, 2024, 8(03): 18-21.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0101" y="2246346"/>
            <a:ext cx="11488945" cy="428692"/>
          </a:xfrm>
          <a:custGeom>
            <a:avLst/>
            <a:gdLst/>
            <a:ahLst/>
            <a:cxnLst/>
            <a:rect l="l" t="t" r="r" b="b"/>
            <a:pathLst>
              <a:path w="11488945" h="428692">
                <a:moveTo>
                  <a:pt x="34295" y="0"/>
                </a:moveTo>
                <a:lnTo>
                  <a:pt x="11420354" y="0"/>
                </a:lnTo>
                <a:cubicBezTo>
                  <a:pt x="11458236" y="0"/>
                  <a:pt x="11488945" y="30709"/>
                  <a:pt x="11488945" y="68591"/>
                </a:cubicBezTo>
                <a:lnTo>
                  <a:pt x="11488945" y="360101"/>
                </a:lnTo>
                <a:cubicBezTo>
                  <a:pt x="11488945" y="397983"/>
                  <a:pt x="11458236" y="428692"/>
                  <a:pt x="11420354" y="428692"/>
                </a:cubicBezTo>
                <a:lnTo>
                  <a:pt x="34295" y="428692"/>
                </a:lnTo>
                <a:cubicBezTo>
                  <a:pt x="15367" y="428692"/>
                  <a:pt x="0" y="413325"/>
                  <a:pt x="0" y="394397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60101" y="2246346"/>
            <a:ext cx="34295" cy="428692"/>
          </a:xfrm>
          <a:custGeom>
            <a:avLst/>
            <a:gdLst/>
            <a:ahLst/>
            <a:cxnLst/>
            <a:rect l="l" t="t" r="r" b="b"/>
            <a:pathLst>
              <a:path w="34295" h="428692">
                <a:moveTo>
                  <a:pt x="34295" y="0"/>
                </a:moveTo>
                <a:lnTo>
                  <a:pt x="34295" y="0"/>
                </a:lnTo>
                <a:lnTo>
                  <a:pt x="34295" y="428692"/>
                </a:lnTo>
                <a:lnTo>
                  <a:pt x="34295" y="428692"/>
                </a:lnTo>
                <a:cubicBezTo>
                  <a:pt x="15367" y="428692"/>
                  <a:pt x="0" y="413325"/>
                  <a:pt x="0" y="394397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3" name="Text 11"/>
          <p:cNvSpPr/>
          <p:nvPr/>
        </p:nvSpPr>
        <p:spPr>
          <a:xfrm>
            <a:off x="480135" y="2349232"/>
            <a:ext cx="11334616" cy="22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[3] 刘玮玮. 基于SSM框架图书借阅管理系统的研究与实现[J]. 信息与电脑(理论版), 2023, (15): 79-81.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0101" y="2777924"/>
            <a:ext cx="11488945" cy="428692"/>
          </a:xfrm>
          <a:custGeom>
            <a:avLst/>
            <a:gdLst/>
            <a:ahLst/>
            <a:cxnLst/>
            <a:rect l="l" t="t" r="r" b="b"/>
            <a:pathLst>
              <a:path w="11488945" h="428692">
                <a:moveTo>
                  <a:pt x="34295" y="0"/>
                </a:moveTo>
                <a:lnTo>
                  <a:pt x="11420354" y="0"/>
                </a:lnTo>
                <a:cubicBezTo>
                  <a:pt x="11458236" y="0"/>
                  <a:pt x="11488945" y="30709"/>
                  <a:pt x="11488945" y="68591"/>
                </a:cubicBezTo>
                <a:lnTo>
                  <a:pt x="11488945" y="360101"/>
                </a:lnTo>
                <a:cubicBezTo>
                  <a:pt x="11488945" y="397983"/>
                  <a:pt x="11458236" y="428692"/>
                  <a:pt x="11420354" y="428692"/>
                </a:cubicBezTo>
                <a:lnTo>
                  <a:pt x="34295" y="428692"/>
                </a:lnTo>
                <a:cubicBezTo>
                  <a:pt x="15367" y="428692"/>
                  <a:pt x="0" y="413325"/>
                  <a:pt x="0" y="394397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60101" y="2777924"/>
            <a:ext cx="34295" cy="428692"/>
          </a:xfrm>
          <a:custGeom>
            <a:avLst/>
            <a:gdLst/>
            <a:ahLst/>
            <a:cxnLst/>
            <a:rect l="l" t="t" r="r" b="b"/>
            <a:pathLst>
              <a:path w="34295" h="428692">
                <a:moveTo>
                  <a:pt x="34295" y="0"/>
                </a:moveTo>
                <a:lnTo>
                  <a:pt x="34295" y="0"/>
                </a:lnTo>
                <a:lnTo>
                  <a:pt x="34295" y="428692"/>
                </a:lnTo>
                <a:lnTo>
                  <a:pt x="34295" y="428692"/>
                </a:lnTo>
                <a:cubicBezTo>
                  <a:pt x="15367" y="428692"/>
                  <a:pt x="0" y="413325"/>
                  <a:pt x="0" y="394397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16" name="Text 14"/>
          <p:cNvSpPr/>
          <p:nvPr/>
        </p:nvSpPr>
        <p:spPr>
          <a:xfrm>
            <a:off x="480135" y="2880810"/>
            <a:ext cx="11334616" cy="22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[4] 王建国, 张伟, 李明. 基于SSM框架的学生信息管理系统的设计与实现[J]. 计算机应用与软件, 2023, 40(05): 156-162.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0101" y="3309502"/>
            <a:ext cx="11488945" cy="428692"/>
          </a:xfrm>
          <a:custGeom>
            <a:avLst/>
            <a:gdLst/>
            <a:ahLst/>
            <a:cxnLst/>
            <a:rect l="l" t="t" r="r" b="b"/>
            <a:pathLst>
              <a:path w="11488945" h="428692">
                <a:moveTo>
                  <a:pt x="34295" y="0"/>
                </a:moveTo>
                <a:lnTo>
                  <a:pt x="11420354" y="0"/>
                </a:lnTo>
                <a:cubicBezTo>
                  <a:pt x="11458236" y="0"/>
                  <a:pt x="11488945" y="30709"/>
                  <a:pt x="11488945" y="68591"/>
                </a:cubicBezTo>
                <a:lnTo>
                  <a:pt x="11488945" y="360101"/>
                </a:lnTo>
                <a:cubicBezTo>
                  <a:pt x="11488945" y="397983"/>
                  <a:pt x="11458236" y="428692"/>
                  <a:pt x="11420354" y="428692"/>
                </a:cubicBezTo>
                <a:lnTo>
                  <a:pt x="34295" y="428692"/>
                </a:lnTo>
                <a:cubicBezTo>
                  <a:pt x="15367" y="428692"/>
                  <a:pt x="0" y="413325"/>
                  <a:pt x="0" y="394397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0101" y="3309502"/>
            <a:ext cx="34295" cy="428692"/>
          </a:xfrm>
          <a:custGeom>
            <a:avLst/>
            <a:gdLst/>
            <a:ahLst/>
            <a:cxnLst/>
            <a:rect l="l" t="t" r="r" b="b"/>
            <a:pathLst>
              <a:path w="34295" h="428692">
                <a:moveTo>
                  <a:pt x="34295" y="0"/>
                </a:moveTo>
                <a:lnTo>
                  <a:pt x="34295" y="0"/>
                </a:lnTo>
                <a:lnTo>
                  <a:pt x="34295" y="428692"/>
                </a:lnTo>
                <a:lnTo>
                  <a:pt x="34295" y="428692"/>
                </a:lnTo>
                <a:cubicBezTo>
                  <a:pt x="15367" y="428692"/>
                  <a:pt x="0" y="413325"/>
                  <a:pt x="0" y="394397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9" name="Text 17"/>
          <p:cNvSpPr/>
          <p:nvPr/>
        </p:nvSpPr>
        <p:spPr>
          <a:xfrm>
            <a:off x="480135" y="3412388"/>
            <a:ext cx="11334616" cy="22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[5] Spring Framework Documentation[EB/OL]. https://spring.io/projects/spring-boot, 2024.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0101" y="3841080"/>
            <a:ext cx="11488945" cy="428692"/>
          </a:xfrm>
          <a:custGeom>
            <a:avLst/>
            <a:gdLst/>
            <a:ahLst/>
            <a:cxnLst/>
            <a:rect l="l" t="t" r="r" b="b"/>
            <a:pathLst>
              <a:path w="11488945" h="428692">
                <a:moveTo>
                  <a:pt x="34295" y="0"/>
                </a:moveTo>
                <a:lnTo>
                  <a:pt x="11420354" y="0"/>
                </a:lnTo>
                <a:cubicBezTo>
                  <a:pt x="11458236" y="0"/>
                  <a:pt x="11488945" y="30709"/>
                  <a:pt x="11488945" y="68591"/>
                </a:cubicBezTo>
                <a:lnTo>
                  <a:pt x="11488945" y="360101"/>
                </a:lnTo>
                <a:cubicBezTo>
                  <a:pt x="11488945" y="397983"/>
                  <a:pt x="11458236" y="428692"/>
                  <a:pt x="11420354" y="428692"/>
                </a:cubicBezTo>
                <a:lnTo>
                  <a:pt x="34295" y="428692"/>
                </a:lnTo>
                <a:cubicBezTo>
                  <a:pt x="15367" y="428692"/>
                  <a:pt x="0" y="413325"/>
                  <a:pt x="0" y="394397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60101" y="3841080"/>
            <a:ext cx="34295" cy="428692"/>
          </a:xfrm>
          <a:custGeom>
            <a:avLst/>
            <a:gdLst/>
            <a:ahLst/>
            <a:cxnLst/>
            <a:rect l="l" t="t" r="r" b="b"/>
            <a:pathLst>
              <a:path w="34295" h="428692">
                <a:moveTo>
                  <a:pt x="34295" y="0"/>
                </a:moveTo>
                <a:lnTo>
                  <a:pt x="34295" y="0"/>
                </a:lnTo>
                <a:lnTo>
                  <a:pt x="34295" y="428692"/>
                </a:lnTo>
                <a:lnTo>
                  <a:pt x="34295" y="428692"/>
                </a:lnTo>
                <a:cubicBezTo>
                  <a:pt x="15367" y="428692"/>
                  <a:pt x="0" y="413325"/>
                  <a:pt x="0" y="394397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2" name="Text 20"/>
          <p:cNvSpPr/>
          <p:nvPr/>
        </p:nvSpPr>
        <p:spPr>
          <a:xfrm>
            <a:off x="480135" y="3943966"/>
            <a:ext cx="11334616" cy="22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[6] Vue.js Official Guide[EB/OL]. https://vuejs.org/, 2024.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0101" y="4372658"/>
            <a:ext cx="11488945" cy="428692"/>
          </a:xfrm>
          <a:custGeom>
            <a:avLst/>
            <a:gdLst/>
            <a:ahLst/>
            <a:cxnLst/>
            <a:rect l="l" t="t" r="r" b="b"/>
            <a:pathLst>
              <a:path w="11488945" h="428692">
                <a:moveTo>
                  <a:pt x="34295" y="0"/>
                </a:moveTo>
                <a:lnTo>
                  <a:pt x="11420354" y="0"/>
                </a:lnTo>
                <a:cubicBezTo>
                  <a:pt x="11458236" y="0"/>
                  <a:pt x="11488945" y="30709"/>
                  <a:pt x="11488945" y="68591"/>
                </a:cubicBezTo>
                <a:lnTo>
                  <a:pt x="11488945" y="360101"/>
                </a:lnTo>
                <a:cubicBezTo>
                  <a:pt x="11488945" y="397983"/>
                  <a:pt x="11458236" y="428692"/>
                  <a:pt x="11420354" y="428692"/>
                </a:cubicBezTo>
                <a:lnTo>
                  <a:pt x="34295" y="428692"/>
                </a:lnTo>
                <a:cubicBezTo>
                  <a:pt x="15367" y="428692"/>
                  <a:pt x="0" y="413325"/>
                  <a:pt x="0" y="394397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60101" y="4372658"/>
            <a:ext cx="34295" cy="428692"/>
          </a:xfrm>
          <a:custGeom>
            <a:avLst/>
            <a:gdLst/>
            <a:ahLst/>
            <a:cxnLst/>
            <a:rect l="l" t="t" r="r" b="b"/>
            <a:pathLst>
              <a:path w="34295" h="428692">
                <a:moveTo>
                  <a:pt x="34295" y="0"/>
                </a:moveTo>
                <a:lnTo>
                  <a:pt x="34295" y="0"/>
                </a:lnTo>
                <a:lnTo>
                  <a:pt x="34295" y="428692"/>
                </a:lnTo>
                <a:lnTo>
                  <a:pt x="34295" y="428692"/>
                </a:lnTo>
                <a:cubicBezTo>
                  <a:pt x="15367" y="428692"/>
                  <a:pt x="0" y="413325"/>
                  <a:pt x="0" y="394397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5" name="Text 23"/>
          <p:cNvSpPr/>
          <p:nvPr/>
        </p:nvSpPr>
        <p:spPr>
          <a:xfrm>
            <a:off x="480135" y="4475544"/>
            <a:ext cx="11334616" cy="22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[7] MyBatis-Plus Documentation[EB/OL]. https://baomidou.com/, 2024.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0101" y="4904236"/>
            <a:ext cx="11488945" cy="428692"/>
          </a:xfrm>
          <a:custGeom>
            <a:avLst/>
            <a:gdLst/>
            <a:ahLst/>
            <a:cxnLst/>
            <a:rect l="l" t="t" r="r" b="b"/>
            <a:pathLst>
              <a:path w="11488945" h="428692">
                <a:moveTo>
                  <a:pt x="34295" y="0"/>
                </a:moveTo>
                <a:lnTo>
                  <a:pt x="11420354" y="0"/>
                </a:lnTo>
                <a:cubicBezTo>
                  <a:pt x="11458236" y="0"/>
                  <a:pt x="11488945" y="30709"/>
                  <a:pt x="11488945" y="68591"/>
                </a:cubicBezTo>
                <a:lnTo>
                  <a:pt x="11488945" y="360101"/>
                </a:lnTo>
                <a:cubicBezTo>
                  <a:pt x="11488945" y="397983"/>
                  <a:pt x="11458236" y="428692"/>
                  <a:pt x="11420354" y="428692"/>
                </a:cubicBezTo>
                <a:lnTo>
                  <a:pt x="34295" y="428692"/>
                </a:lnTo>
                <a:cubicBezTo>
                  <a:pt x="15367" y="428692"/>
                  <a:pt x="0" y="413325"/>
                  <a:pt x="0" y="394397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0101" y="4904236"/>
            <a:ext cx="34295" cy="428692"/>
          </a:xfrm>
          <a:custGeom>
            <a:avLst/>
            <a:gdLst/>
            <a:ahLst/>
            <a:cxnLst/>
            <a:rect l="l" t="t" r="r" b="b"/>
            <a:pathLst>
              <a:path w="34295" h="428692">
                <a:moveTo>
                  <a:pt x="34295" y="0"/>
                </a:moveTo>
                <a:lnTo>
                  <a:pt x="34295" y="0"/>
                </a:lnTo>
                <a:lnTo>
                  <a:pt x="34295" y="428692"/>
                </a:lnTo>
                <a:lnTo>
                  <a:pt x="34295" y="428692"/>
                </a:lnTo>
                <a:cubicBezTo>
                  <a:pt x="15367" y="428692"/>
                  <a:pt x="0" y="413325"/>
                  <a:pt x="0" y="394397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8" name="Text 26"/>
          <p:cNvSpPr/>
          <p:nvPr/>
        </p:nvSpPr>
        <p:spPr>
          <a:xfrm>
            <a:off x="480135" y="5007122"/>
            <a:ext cx="11334616" cy="22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[8] Codeforces Platform Documentation[EB/OL]. https://codeforces.com/, 2024.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47241" y="5474397"/>
            <a:ext cx="11497519" cy="814515"/>
          </a:xfrm>
          <a:custGeom>
            <a:avLst/>
            <a:gdLst/>
            <a:ahLst/>
            <a:cxnLst/>
            <a:rect l="l" t="t" r="r" b="b"/>
            <a:pathLst>
              <a:path w="11497519" h="814515">
                <a:moveTo>
                  <a:pt x="68590" y="0"/>
                </a:moveTo>
                <a:lnTo>
                  <a:pt x="11428929" y="0"/>
                </a:lnTo>
                <a:cubicBezTo>
                  <a:pt x="11466810" y="0"/>
                  <a:pt x="11497519" y="30709"/>
                  <a:pt x="11497519" y="68590"/>
                </a:cubicBezTo>
                <a:lnTo>
                  <a:pt x="11497519" y="745924"/>
                </a:lnTo>
                <a:cubicBezTo>
                  <a:pt x="11497519" y="783806"/>
                  <a:pt x="11466810" y="814515"/>
                  <a:pt x="11428929" y="814515"/>
                </a:cubicBezTo>
                <a:lnTo>
                  <a:pt x="68590" y="814515"/>
                </a:lnTo>
                <a:cubicBezTo>
                  <a:pt x="30734" y="814515"/>
                  <a:pt x="0" y="783780"/>
                  <a:pt x="0" y="745924"/>
                </a:cubicBezTo>
                <a:lnTo>
                  <a:pt x="0" y="68590"/>
                </a:lnTo>
                <a:cubicBezTo>
                  <a:pt x="0" y="30709"/>
                  <a:pt x="30709" y="0"/>
                  <a:pt x="6859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F6AD55">
                  <a:alpha val="20000"/>
                </a:srgbClr>
              </a:gs>
            </a:gsLst>
            <a:lin ang="0" scaled="1"/>
          </a:gra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0143" y="5658734"/>
            <a:ext cx="154329" cy="154329"/>
          </a:xfrm>
          <a:custGeom>
            <a:avLst/>
            <a:gdLst/>
            <a:ahLst/>
            <a:cxnLst/>
            <a:rect l="l" t="t" r="r" b="b"/>
            <a:pathLst>
              <a:path w="154329" h="154329">
                <a:moveTo>
                  <a:pt x="77165" y="42591"/>
                </a:moveTo>
                <a:lnTo>
                  <a:pt x="77165" y="135822"/>
                </a:lnTo>
                <a:lnTo>
                  <a:pt x="77315" y="135761"/>
                </a:lnTo>
                <a:cubicBezTo>
                  <a:pt x="93773" y="128919"/>
                  <a:pt x="111436" y="125392"/>
                  <a:pt x="129251" y="125392"/>
                </a:cubicBezTo>
                <a:lnTo>
                  <a:pt x="135038" y="125392"/>
                </a:lnTo>
                <a:lnTo>
                  <a:pt x="135038" y="28937"/>
                </a:lnTo>
                <a:lnTo>
                  <a:pt x="129251" y="28937"/>
                </a:lnTo>
                <a:cubicBezTo>
                  <a:pt x="116531" y="28937"/>
                  <a:pt x="103901" y="31469"/>
                  <a:pt x="92145" y="36352"/>
                </a:cubicBezTo>
                <a:cubicBezTo>
                  <a:pt x="87081" y="38462"/>
                  <a:pt x="82078" y="40542"/>
                  <a:pt x="77165" y="42591"/>
                </a:cubicBezTo>
                <a:close/>
                <a:moveTo>
                  <a:pt x="69599" y="18538"/>
                </a:moveTo>
                <a:lnTo>
                  <a:pt x="77165" y="21703"/>
                </a:lnTo>
                <a:lnTo>
                  <a:pt x="84730" y="18538"/>
                </a:lnTo>
                <a:cubicBezTo>
                  <a:pt x="98837" y="12660"/>
                  <a:pt x="113968" y="9646"/>
                  <a:pt x="129251" y="9646"/>
                </a:cubicBezTo>
                <a:lnTo>
                  <a:pt x="139861" y="9646"/>
                </a:lnTo>
                <a:cubicBezTo>
                  <a:pt x="147848" y="9646"/>
                  <a:pt x="154329" y="16126"/>
                  <a:pt x="154329" y="24114"/>
                </a:cubicBezTo>
                <a:lnTo>
                  <a:pt x="154329" y="130215"/>
                </a:lnTo>
                <a:cubicBezTo>
                  <a:pt x="154329" y="138203"/>
                  <a:pt x="147848" y="144684"/>
                  <a:pt x="139861" y="144684"/>
                </a:cubicBezTo>
                <a:lnTo>
                  <a:pt x="129251" y="144684"/>
                </a:lnTo>
                <a:cubicBezTo>
                  <a:pt x="113968" y="144684"/>
                  <a:pt x="98837" y="147698"/>
                  <a:pt x="84730" y="153576"/>
                </a:cubicBezTo>
                <a:lnTo>
                  <a:pt x="80872" y="155173"/>
                </a:lnTo>
                <a:cubicBezTo>
                  <a:pt x="78491" y="156168"/>
                  <a:pt x="75838" y="156168"/>
                  <a:pt x="73457" y="155173"/>
                </a:cubicBezTo>
                <a:lnTo>
                  <a:pt x="69599" y="153576"/>
                </a:lnTo>
                <a:cubicBezTo>
                  <a:pt x="55492" y="147698"/>
                  <a:pt x="40361" y="144684"/>
                  <a:pt x="25078" y="144684"/>
                </a:cubicBezTo>
                <a:lnTo>
                  <a:pt x="14468" y="144684"/>
                </a:lnTo>
                <a:cubicBezTo>
                  <a:pt x="6481" y="144684"/>
                  <a:pt x="0" y="138203"/>
                  <a:pt x="0" y="130215"/>
                </a:cubicBezTo>
                <a:lnTo>
                  <a:pt x="0" y="24114"/>
                </a:lnTo>
                <a:cubicBezTo>
                  <a:pt x="0" y="16126"/>
                  <a:pt x="6481" y="9646"/>
                  <a:pt x="14468" y="9646"/>
                </a:cubicBezTo>
                <a:lnTo>
                  <a:pt x="25078" y="9646"/>
                </a:lnTo>
                <a:cubicBezTo>
                  <a:pt x="40361" y="9646"/>
                  <a:pt x="55492" y="12660"/>
                  <a:pt x="69599" y="18538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1" name="Text 29"/>
          <p:cNvSpPr/>
          <p:nvPr/>
        </p:nvSpPr>
        <p:spPr>
          <a:xfrm>
            <a:off x="685907" y="5615865"/>
            <a:ext cx="11094549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文献说明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88709" y="5924523"/>
            <a:ext cx="11283173" cy="22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以上文献涵盖了</a:t>
            </a:r>
            <a:r>
              <a:rPr lang="en-US" sz="108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Spring Boot框架、数据库设计、权限管理、在线考试系统设计</a:t>
            </a:r>
            <a:r>
              <a:rPr lang="en-US" sz="108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等方面的研究成果，为本项目的系统设计、技术选型、架构设计提供了重要的理论参考和实践指导。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10wallpaper.com/04a68ecb4387f71b05c434dd91511e5470aaf494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5000" b="50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4FD1C5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715000" y="2221706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/>
              </a:gs>
              <a:gs pos="100000">
                <a:srgbClr val="F6AD55"/>
              </a:gs>
            </a:gsLst>
            <a:lin ang="2700000" scaled="1"/>
          </a:gradFill>
          <a:ln/>
        </p:spPr>
      </p:sp>
      <p:sp>
        <p:nvSpPr>
          <p:cNvPr id="5" name="Shape 2"/>
          <p:cNvSpPr/>
          <p:nvPr/>
        </p:nvSpPr>
        <p:spPr>
          <a:xfrm>
            <a:off x="5924550" y="411956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61404" y="58333"/>
                </a:moveTo>
                <a:lnTo>
                  <a:pt x="171450" y="72197"/>
                </a:lnTo>
                <a:lnTo>
                  <a:pt x="181496" y="58333"/>
                </a:lnTo>
                <a:cubicBezTo>
                  <a:pt x="198239" y="35161"/>
                  <a:pt x="225162" y="21431"/>
                  <a:pt x="253759" y="21431"/>
                </a:cubicBezTo>
                <a:cubicBezTo>
                  <a:pt x="302984" y="21431"/>
                  <a:pt x="342900" y="61347"/>
                  <a:pt x="342900" y="110572"/>
                </a:cubicBezTo>
                <a:lnTo>
                  <a:pt x="342900" y="112313"/>
                </a:lnTo>
                <a:cubicBezTo>
                  <a:pt x="342900" y="187456"/>
                  <a:pt x="249205" y="274722"/>
                  <a:pt x="200315" y="312026"/>
                </a:cubicBezTo>
                <a:cubicBezTo>
                  <a:pt x="192011" y="318321"/>
                  <a:pt x="181831" y="321469"/>
                  <a:pt x="171450" y="321469"/>
                </a:cubicBezTo>
                <a:cubicBezTo>
                  <a:pt x="161069" y="321469"/>
                  <a:pt x="150822" y="318388"/>
                  <a:pt x="142585" y="312026"/>
                </a:cubicBezTo>
                <a:cubicBezTo>
                  <a:pt x="93695" y="274722"/>
                  <a:pt x="0" y="187456"/>
                  <a:pt x="0" y="112313"/>
                </a:cubicBezTo>
                <a:lnTo>
                  <a:pt x="0" y="110572"/>
                </a:lnTo>
                <a:cubicBezTo>
                  <a:pt x="0" y="61347"/>
                  <a:pt x="39916" y="21431"/>
                  <a:pt x="89141" y="21431"/>
                </a:cubicBezTo>
                <a:cubicBezTo>
                  <a:pt x="117738" y="21431"/>
                  <a:pt x="144661" y="35161"/>
                  <a:pt x="161404" y="58333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6" name="Text 3"/>
          <p:cNvSpPr/>
          <p:nvPr/>
        </p:nvSpPr>
        <p:spPr>
          <a:xfrm>
            <a:off x="5343525" y="3136106"/>
            <a:ext cx="1504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致谢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3860006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FD1C5"/>
              </a:gs>
              <a:gs pos="100000">
                <a:srgbClr val="F6AD55"/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1796</Words>
  <Application>Microsoft Office PowerPoint</Application>
  <PresentationFormat>宽屏</PresentationFormat>
  <Paragraphs>539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阿里妈妈数黑体</vt:lpstr>
      <vt:lpstr>MiSans</vt:lpstr>
      <vt:lpstr>微软雅黑</vt:lpstr>
      <vt:lpstr>Arial</vt:lpstr>
      <vt:lpstr>Calibri</vt:lpstr>
      <vt:lpstr>等线</vt:lpstr>
      <vt:lpstr>Liter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OJPT开题答辩演示文稿</dc:title>
  <dc:subject>OJPT开题答辩演示文稿</dc:subject>
  <dc:creator>Kimi</dc:creator>
  <cp:lastModifiedBy>3432881734@qq.com</cp:lastModifiedBy>
  <cp:revision>9</cp:revision>
  <dcterms:created xsi:type="dcterms:W3CDTF">2026-01-10T10:24:41Z</dcterms:created>
  <dcterms:modified xsi:type="dcterms:W3CDTF">2026-01-13T10:19:05Z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OJPT开题答辩演示文稿","ContentProducer":"001191110108MACG2KBH8F10000","ProduceID":"19ba75b4-8532-8923-8000-0000a171f99e","ReservedCode1":"","ContentPropagator":"001191110108MACG2KBH8F20000","PropagateID":"19ba75b4-8532-8923-8000-0000a171f99e","ReservedCode2":""}</vt:lpwstr>
  </property>
</Properties>
</file>