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94" autoAdjust="0"/>
    <p:restoredTop sz="94658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各位老师好，我的毕业设计题目是面向编程竞赛的 SpringBoot 在线算法题库系统的设计与实现。下面我会用六分钟，围绕系统的判题训练闭环、关键实现和测试结果进行汇报。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本课题来自算法训练中的实际需求。人工评测效率低、环境不一致，训练过程和题库维护难以持续跟踪，所以系统重点解决自动评测和训练管理问题。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当前系统定位为个人算法训练平台，围绕普通用户和管理员两类角色组织功能。普通用户完成题库训练和判题提交，管理员负责题目、用户、测试用例和判题环境维护。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系统目标可以概括为一条完整业务闭环：用户从题库入口进入题目，编辑代码并先运行调试，再正式提交，由后端调度 Docker 判题，最后回写提交结果和训练进度。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总体架构采用前后端分离。前端负责页面交互，SpringBoot 后端提供接口和业务服务，MySQL 保存业务数据，Redis 管理登录态，Docker 隔离执行用户代码。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核心业务流程从用户进入题目开始。运行代码主要用于调试，可以使用样例或自定义输入；正式提交会创建提交记录，执行测试用例，并保存最终状态和逐用例结果。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判题模块是本项目重点。运行代码用于调试，不生成正式提交记录；正式提交会遍历测试用例，调用 Docker 执行程序，并保存 AC、WA、CE、RE 等结果。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账号与权限部分采用 JWT 登录态和基于角色的访问控制。普通用户可以完成题库、做题、个人中心等功能；管理员才可以进入后台维护用户、题目、标签和判题环境。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数据库围绕判题训练闭环建模。用户、题目、标签和测试用例支撑题库维护；提交、逐用例结果和用户做题进度支撑判题结果查询和训练统计。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普通用户侧展示完整训练流程。用户可以筛选题库、进入做题页、编辑并运行代码，最后在个人中心看到提交记录和训练统计。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管理员侧保障题库内容可维护。管理员可以维护用户状态，创建和编辑题目，维护公开样例和隐藏用例，管理标签，并检查 Docker 判题环境。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测试验证覆盖普通用户和管理员两条主线。论文中整理了功能测试、接口测试、判题流程测试、权限测试和自动化测试，结果表明主要功能能够按照设计要求运行。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本项目的成果可以概括为三个层面：功能上形成了用户训练和后台维护闭环，技术上完成了前后端分离、权限控制和 Docker 判题，文档上形成了论文、功能说明、截图和测试材料。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系统已满足毕业设计阶段的核心功能和演示要求。后续可以在分布式判题队列、安全沙盒、竞赛组织、题库批量维护和更细粒度的数据分析方面扩展。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以上就是我的毕业设计汇报。感谢各位老师的聆听，恳请老师批评指正。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AC8186-676F-4EE8-85A5-D874222F6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2C3B932-A25C-4462-9703-94FC0EF391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780CC0F-1CF5-4512-B965-5CCC2825F2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BFD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03B7AD1-CE46-4320-8E5D-1B746373E05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9575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957102-0FB8-4DCE-AED9-7005491B8C93}"/>
              </a:ext>
            </a:extLst>
          </p:cNvPr>
          <p:cNvSpPr>
            <a:spLocks noGrp="1"/>
          </p:cNvSpPr>
          <p:nvPr/>
        </p:nvSpPr>
        <p:spPr>
          <a:xfrm>
            <a:off x="4095750" y="0"/>
            <a:ext cx="114300" cy="6858000"/>
          </a:xfrm>
          <a:prstGeom prst="rect">
            <a:avLst/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A9E5C5-314D-4C15-AE72-AD717E4C9938}"/>
              </a:ext>
            </a:extLst>
          </p:cNvPr>
          <p:cNvSpPr>
            <a:spLocks noGrp="1"/>
          </p:cNvSpPr>
          <p:nvPr/>
        </p:nvSpPr>
        <p:spPr>
          <a:xfrm>
            <a:off x="609600" y="7048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8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dirty="0" err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rPr>
              <a:t>毕业设计答辩</a:t>
            </a:r>
            <a:endParaRPr sz="1800" b="1" dirty="0">
              <a:solidFill>
                <a:srgbClr val="A7E7E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9A1395B-7457-4F44-AE02-C72726EB4C99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3143250" cy="1600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面向编程竞赛的</a:t>
            </a:r>
          </a:p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SpringBoot 在线算法</a:t>
            </a:r>
          </a:p>
          <a:p>
            <a:pPr algn="l">
              <a:lnSpc>
                <a:spcPct val="108000"/>
              </a:lnSpc>
              <a:buNone/>
              <a:def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题库系统的设计与实现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38E29EC-CC8D-4DA6-BAFC-1717D756243F}"/>
              </a:ext>
            </a:extLst>
          </p:cNvPr>
          <p:cNvSpPr>
            <a:spLocks noGrp="1"/>
          </p:cNvSpPr>
          <p:nvPr/>
        </p:nvSpPr>
        <p:spPr>
          <a:xfrm>
            <a:off x="628650" y="3105150"/>
            <a:ext cx="5334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275" b="0">
                <a:solidFill>
                  <a:srgbClr val="CFEAF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CFEAF2"/>
                </a:solidFill>
                <a:latin typeface="Microsoft YaHei"/>
                <a:ea typeface="Microsoft YaHei"/>
                <a:cs typeface="Microsoft YaHei"/>
              </a:rPr>
              <a:t>Open Judge Platform for Training (OJPT)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13A614-E3A8-4FA3-9564-39A3232DAA05}"/>
              </a:ext>
            </a:extLst>
          </p:cNvPr>
          <p:cNvSpPr>
            <a:spLocks noGrp="1"/>
          </p:cNvSpPr>
          <p:nvPr/>
        </p:nvSpPr>
        <p:spPr>
          <a:xfrm>
            <a:off x="628650" y="4333875"/>
            <a:ext cx="342900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学生姓名：汪鸿韬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学号：22437043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专业：计算机科学与技术</a:t>
            </a:r>
          </a:p>
          <a:p>
            <a:pPr algn="l">
              <a:lnSpc>
                <a:spcPct val="135000"/>
              </a:lnSpc>
              <a:buNone/>
              <a:def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指导教师：王晨 讲师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A14B1809-03E8-410A-AF58-A95004CD9DF1}"/>
              </a:ext>
            </a:extLst>
          </p:cNvPr>
          <p:cNvSpPr>
            <a:spLocks noGrp="1"/>
          </p:cNvSpPr>
          <p:nvPr/>
        </p:nvSpPr>
        <p:spPr>
          <a:xfrm>
            <a:off x="4876800" y="914400"/>
            <a:ext cx="6191250" cy="400050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rcRect t="6357" b="6357"/>
          <a:stretch>
            <a:fillRect/>
          </a:stretch>
        </p:blipFill>
        <p:spPr>
          <a:xfrm>
            <a:off x="4876800" y="914400"/>
            <a:ext cx="6191250" cy="3752850"/>
          </a:xfrm>
          <a:prstGeom prst="roundRect">
            <a:avLst>
              <a:gd name="adj" fmla="val 1523"/>
            </a:avLst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ECF9827F-1474-4E8C-880C-117CF6C52E76}"/>
              </a:ext>
            </a:extLst>
          </p:cNvPr>
          <p:cNvSpPr>
            <a:spLocks noGrp="1"/>
          </p:cNvSpPr>
          <p:nvPr/>
        </p:nvSpPr>
        <p:spPr>
          <a:xfrm>
            <a:off x="4991100" y="4701118"/>
            <a:ext cx="59626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788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 dirty="0" err="1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项目运行界面：题库入口</a:t>
            </a:r>
            <a:endParaRPr sz="788" b="0" dirty="0">
              <a:solidFill>
                <a:srgbClr val="627D9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79D57DC-B2D3-4DB3-BCB0-06ECC31A1742}"/>
              </a:ext>
            </a:extLst>
          </p:cNvPr>
          <p:cNvSpPr>
            <a:spLocks noGrp="1"/>
          </p:cNvSpPr>
          <p:nvPr/>
        </p:nvSpPr>
        <p:spPr>
          <a:xfrm>
            <a:off x="5105400" y="5334000"/>
            <a:ext cx="5619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系统核心：题库训练、代码评测与结果反馈闭环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4FBA60A-5914-4362-8813-AF22C6573179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9D70E452-9641-4159-A437-0571966C41DA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01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624862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C7CA55B-9797-4E4E-995D-DC22FD948D8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选题背景：人工评测难以支撑持续算法训练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B10A8A0-B7BC-4A6D-9C52-2A239E06877C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从代码执行、结果反馈到训练记录，需要一个可追踪的在线评测平台。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937A891-03C7-46BB-9F9C-C5923F29B7E7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906272C-04FE-4987-9C3C-714729EBE336}"/>
              </a:ext>
            </a:extLst>
          </p:cNvPr>
          <p:cNvSpPr>
            <a:spLocks noGrp="1"/>
          </p:cNvSpPr>
          <p:nvPr/>
        </p:nvSpPr>
        <p:spPr>
          <a:xfrm>
            <a:off x="74295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9348D748-03B2-4F0E-A16D-94940070941F}"/>
              </a:ext>
            </a:extLst>
          </p:cNvPr>
          <p:cNvSpPr>
            <a:spLocks noGrp="1"/>
          </p:cNvSpPr>
          <p:nvPr/>
        </p:nvSpPr>
        <p:spPr>
          <a:xfrm>
            <a:off x="819150" y="1860550"/>
            <a:ext cx="57150" cy="1981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00F2E0-B35E-4DCB-BEE5-2A475D42369A}"/>
              </a:ext>
            </a:extLst>
          </p:cNvPr>
          <p:cNvSpPr>
            <a:spLocks noGrp="1"/>
          </p:cNvSpPr>
          <p:nvPr/>
        </p:nvSpPr>
        <p:spPr>
          <a:xfrm>
            <a:off x="93345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人工评测效率低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544FA9-8235-4CEC-9F5E-7B9D87795939}"/>
              </a:ext>
            </a:extLst>
          </p:cNvPr>
          <p:cNvSpPr>
            <a:spLocks noGrp="1"/>
          </p:cNvSpPr>
          <p:nvPr/>
        </p:nvSpPr>
        <p:spPr>
          <a:xfrm>
            <a:off x="93345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需要下载代码、准备输入输出、人工运行并记录结果，提交量一多就难以及时反馈。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2C524E-50C5-40A2-9D56-1A61D026A136}"/>
              </a:ext>
            </a:extLst>
          </p:cNvPr>
          <p:cNvSpPr>
            <a:spLocks noGrp="1"/>
          </p:cNvSpPr>
          <p:nvPr/>
        </p:nvSpPr>
        <p:spPr>
          <a:xfrm>
            <a:off x="453390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8999D754-67CF-415C-976B-744AE88E36DE}"/>
              </a:ext>
            </a:extLst>
          </p:cNvPr>
          <p:cNvSpPr>
            <a:spLocks noGrp="1"/>
          </p:cNvSpPr>
          <p:nvPr/>
        </p:nvSpPr>
        <p:spPr>
          <a:xfrm>
            <a:off x="4610100" y="1860550"/>
            <a:ext cx="57150" cy="19812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AE545D8-4FAC-4597-8739-8C9C1775E8E3}"/>
              </a:ext>
            </a:extLst>
          </p:cNvPr>
          <p:cNvSpPr>
            <a:spLocks noGrp="1"/>
          </p:cNvSpPr>
          <p:nvPr/>
        </p:nvSpPr>
        <p:spPr>
          <a:xfrm>
            <a:off x="472440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训练过程难追踪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4D017D0-121C-4645-9C62-BE63992D4518}"/>
              </a:ext>
            </a:extLst>
          </p:cNvPr>
          <p:cNvSpPr>
            <a:spLocks noGrp="1"/>
          </p:cNvSpPr>
          <p:nvPr/>
        </p:nvSpPr>
        <p:spPr>
          <a:xfrm>
            <a:off x="472440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用户做题进度、提交历史、错误类型和通过情况分散，缺少持续训练数据。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2B8D26F-8C7D-4E31-B6EA-BEC6F4D5C254}"/>
              </a:ext>
            </a:extLst>
          </p:cNvPr>
          <p:cNvSpPr>
            <a:spLocks noGrp="1"/>
          </p:cNvSpPr>
          <p:nvPr/>
        </p:nvSpPr>
        <p:spPr>
          <a:xfrm>
            <a:off x="8324850" y="1733550"/>
            <a:ext cx="3143250" cy="2238375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5E91E03-8BF6-4442-949E-2AF0A26FBCC5}"/>
              </a:ext>
            </a:extLst>
          </p:cNvPr>
          <p:cNvSpPr>
            <a:spLocks noGrp="1"/>
          </p:cNvSpPr>
          <p:nvPr/>
        </p:nvSpPr>
        <p:spPr>
          <a:xfrm>
            <a:off x="8401050" y="1860550"/>
            <a:ext cx="57150" cy="198120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7531AC7-15A9-4069-ABB4-2D1238547731}"/>
              </a:ext>
            </a:extLst>
          </p:cNvPr>
          <p:cNvSpPr>
            <a:spLocks noGrp="1"/>
          </p:cNvSpPr>
          <p:nvPr/>
        </p:nvSpPr>
        <p:spPr>
          <a:xfrm>
            <a:off x="8515350" y="1905000"/>
            <a:ext cx="276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题库维护要系统化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EFAAC1F-3091-4016-A670-726204AA1C01}"/>
              </a:ext>
            </a:extLst>
          </p:cNvPr>
          <p:cNvSpPr>
            <a:spLocks noGrp="1"/>
          </p:cNvSpPr>
          <p:nvPr/>
        </p:nvSpPr>
        <p:spPr>
          <a:xfrm>
            <a:off x="8515350" y="2247900"/>
            <a:ext cx="2762250" cy="1590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8000"/>
              </a:lnSpc>
              <a:buNone/>
              <a:def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题面、标签、难度、测试用例和判题环境需要统一管理，减少维护成本。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3B64105-A907-4E45-B399-DE0655097721}"/>
              </a:ext>
            </a:extLst>
          </p:cNvPr>
          <p:cNvSpPr>
            <a:spLocks noGrp="1"/>
          </p:cNvSpPr>
          <p:nvPr/>
        </p:nvSpPr>
        <p:spPr>
          <a:xfrm>
            <a:off x="1381125" y="4533900"/>
            <a:ext cx="9429750" cy="857250"/>
          </a:xfrm>
          <a:prstGeom prst="roundRect">
            <a:avLst>
              <a:gd name="adj" fmla="val 8889"/>
            </a:avLst>
          </a:prstGeom>
          <a:solidFill>
            <a:srgbClr val="E6F7FA"/>
          </a:solidFill>
          <a:ln w="9525">
            <a:solidFill>
              <a:srgbClr val="BDEEF2"/>
            </a:solidFill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4FE55DD-45CD-4690-96EC-1682893313D3}"/>
              </a:ext>
            </a:extLst>
          </p:cNvPr>
          <p:cNvSpPr>
            <a:spLocks noGrp="1"/>
          </p:cNvSpPr>
          <p:nvPr/>
        </p:nvSpPr>
        <p:spPr>
          <a:xfrm>
            <a:off x="1752600" y="4832352"/>
            <a:ext cx="86868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5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系统围绕题库训练、在线做题、Docker判题、结果反馈和训练统计形成完整业务闭环</a:t>
            </a:r>
            <a:r>
              <a:rPr sz="1500" b="1" dirty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4506A94D-A415-4E12-8C31-5886B2DF0888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01F19AB-27EE-4651-84A8-7090D9084999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02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31488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3DC5807-ADAB-45DB-AD04-4BDBF9D6F30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项目定位：聚焦个人训练和后台维护两条主线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F64D11-B9EF-45AD-9EE7-E85387CD2819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系统以 USER 和 ADMIN 两类角色组织核心功能。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29B02D0-2381-4761-AC05-A364920CF7C4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93E9944-E27D-4CCA-8A68-7595B900F9C7}"/>
              </a:ext>
            </a:extLst>
          </p:cNvPr>
          <p:cNvSpPr>
            <a:spLocks noGrp="1"/>
          </p:cNvSpPr>
          <p:nvPr/>
        </p:nvSpPr>
        <p:spPr>
          <a:xfrm>
            <a:off x="964141" y="2578100"/>
            <a:ext cx="27146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BDEEF2"/>
            </a:solidFill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AC8686E-9141-480A-B6B1-C42FE89DF510}"/>
              </a:ext>
            </a:extLst>
          </p:cNvPr>
          <p:cNvSpPr>
            <a:spLocks noGrp="1"/>
          </p:cNvSpPr>
          <p:nvPr/>
        </p:nvSpPr>
        <p:spPr>
          <a:xfrm>
            <a:off x="964141" y="2901950"/>
            <a:ext cx="2714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8344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USER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162522-F9DB-4CD3-BC5C-741F26310D80}"/>
              </a:ext>
            </a:extLst>
          </p:cNvPr>
          <p:cNvSpPr>
            <a:spLocks noGrp="1"/>
          </p:cNvSpPr>
          <p:nvPr/>
        </p:nvSpPr>
        <p:spPr>
          <a:xfrm>
            <a:off x="1321328" y="3426880"/>
            <a:ext cx="20002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9074" lnSpcReduction="20000"/>
          </a:bodyPr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浏览题库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在线做题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运行样例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提交判题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查看训练数据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8592A87-5A8B-4228-B9F3-9F47E34D8624}"/>
              </a:ext>
            </a:extLst>
          </p:cNvPr>
          <p:cNvSpPr>
            <a:spLocks noGrp="1"/>
          </p:cNvSpPr>
          <p:nvPr/>
        </p:nvSpPr>
        <p:spPr>
          <a:xfrm>
            <a:off x="4831291" y="2425700"/>
            <a:ext cx="2724150" cy="2381250"/>
          </a:xfrm>
          <a:prstGeom prst="roundRect">
            <a:avLst>
              <a:gd name="adj" fmla="val 3200"/>
            </a:avLst>
          </a:prstGeom>
          <a:solidFill>
            <a:srgbClr val="0B1F33"/>
          </a:solidFill>
          <a:ln w="0">
            <a:noFill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80E7840-E515-47D7-8F96-4725C6DEC53B}"/>
              </a:ext>
            </a:extLst>
          </p:cNvPr>
          <p:cNvSpPr>
            <a:spLocks noGrp="1"/>
          </p:cNvSpPr>
          <p:nvPr/>
        </p:nvSpPr>
        <p:spPr>
          <a:xfrm>
            <a:off x="5117041" y="3149600"/>
            <a:ext cx="21526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OJPT</a:t>
            </a:r>
          </a:p>
          <a:p>
            <a:pPr algn="ctr">
              <a:lnSpc>
                <a:spcPct val="112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在线编程训练平台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BD62D88-6F8D-4EBE-B730-F560F2BFC5AB}"/>
              </a:ext>
            </a:extLst>
          </p:cNvPr>
          <p:cNvSpPr>
            <a:spLocks noGrp="1"/>
          </p:cNvSpPr>
          <p:nvPr/>
        </p:nvSpPr>
        <p:spPr>
          <a:xfrm>
            <a:off x="5564716" y="4102100"/>
            <a:ext cx="1257300" cy="266700"/>
          </a:xfrm>
          <a:prstGeom prst="roundRect">
            <a:avLst>
              <a:gd name="adj" fmla="val 28571"/>
            </a:avLst>
          </a:prstGeom>
          <a:solidFill>
            <a:srgbClr val="E9FBFD"/>
          </a:solidFill>
          <a:ln w="9525">
            <a:solidFill>
              <a:srgbClr val="BDEEF2"/>
            </a:solidFill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9D94C18-43BC-488E-AF92-556534D95E97}"/>
              </a:ext>
            </a:extLst>
          </p:cNvPr>
          <p:cNvSpPr>
            <a:spLocks noGrp="1"/>
          </p:cNvSpPr>
          <p:nvPr/>
        </p:nvSpPr>
        <p:spPr>
          <a:xfrm>
            <a:off x="5564716" y="4158192"/>
            <a:ext cx="12573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825" b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 dirty="0" err="1">
                <a:solidFill>
                  <a:srgbClr val="00A6B2"/>
                </a:solidFill>
                <a:latin typeface="Microsoft YaHei"/>
                <a:ea typeface="Microsoft YaHei"/>
                <a:cs typeface="Microsoft YaHei"/>
              </a:rPr>
              <a:t>训练闭环</a:t>
            </a:r>
            <a:endParaRPr sz="825" b="1" dirty="0">
              <a:solidFill>
                <a:srgbClr val="00A6B2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E4AF315-36CF-4531-AE0B-AA40B1E3A1FB}"/>
              </a:ext>
            </a:extLst>
          </p:cNvPr>
          <p:cNvSpPr>
            <a:spLocks noGrp="1"/>
          </p:cNvSpPr>
          <p:nvPr/>
        </p:nvSpPr>
        <p:spPr>
          <a:xfrm>
            <a:off x="8698441" y="2578100"/>
            <a:ext cx="2714625" cy="2095500"/>
          </a:xfrm>
          <a:prstGeom prst="roundRect">
            <a:avLst>
              <a:gd name="adj" fmla="val 3636"/>
            </a:avLst>
          </a:prstGeom>
          <a:solidFill>
            <a:srgbClr val="F6F8FB"/>
          </a:solidFill>
          <a:ln w="9525">
            <a:solidFill>
              <a:srgbClr val="D9E2EC"/>
            </a:solidFill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EBDDDC-649B-4098-B026-FAECD0EFF73D}"/>
              </a:ext>
            </a:extLst>
          </p:cNvPr>
          <p:cNvSpPr>
            <a:spLocks noGrp="1"/>
          </p:cNvSpPr>
          <p:nvPr/>
        </p:nvSpPr>
        <p:spPr>
          <a:xfrm>
            <a:off x="8698441" y="2901950"/>
            <a:ext cx="2714625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8344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69AA"/>
                </a:solidFill>
                <a:latin typeface="Microsoft YaHei"/>
                <a:ea typeface="Microsoft YaHei"/>
                <a:cs typeface="Microsoft YaHei"/>
              </a:rPr>
              <a:t>ADMIN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C5A242-2A6B-45B0-94FF-D89BB8A177EA}"/>
              </a:ext>
            </a:extLst>
          </p:cNvPr>
          <p:cNvSpPr>
            <a:spLocks noGrp="1"/>
          </p:cNvSpPr>
          <p:nvPr/>
        </p:nvSpPr>
        <p:spPr>
          <a:xfrm>
            <a:off x="9060391" y="3426880"/>
            <a:ext cx="200025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9074" lnSpcReduction="20000"/>
          </a:bodyPr>
          <a:lstStyle/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用户维护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题目维护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测试用例维护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标签维护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lnSpc>
                <a:spcPct val="125000"/>
              </a:lnSpc>
              <a:buNone/>
              <a:defRPr sz="135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判题环境检查</a:t>
            </a:r>
            <a:endParaRPr sz="1350" b="0" dirty="0">
              <a:solidFill>
                <a:srgbClr val="334E6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04508985-A1B9-41CC-98A8-0127A8BBF777}"/>
              </a:ext>
            </a:extLst>
          </p:cNvPr>
          <p:cNvSpPr>
            <a:spLocks noGrp="1"/>
          </p:cNvSpPr>
          <p:nvPr/>
        </p:nvSpPr>
        <p:spPr>
          <a:xfrm>
            <a:off x="3783541" y="3606800"/>
            <a:ext cx="87630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123E7CE0-486C-4B5A-9D7B-DDC231F73D1D}"/>
              </a:ext>
            </a:extLst>
          </p:cNvPr>
          <p:cNvSpPr>
            <a:spLocks noGrp="1"/>
          </p:cNvSpPr>
          <p:nvPr/>
        </p:nvSpPr>
        <p:spPr>
          <a:xfrm>
            <a:off x="7707841" y="3606800"/>
            <a:ext cx="876300" cy="28575"/>
          </a:xfrm>
          <a:prstGeom prst="roundRect">
            <a:avLst>
              <a:gd name="adj" fmla="val 50000"/>
            </a:avLst>
          </a:prstGeom>
          <a:solidFill>
            <a:srgbClr val="B8DDE5"/>
          </a:solidFill>
          <a:ln w="0">
            <a:noFill/>
          </a:ln>
        </p:spPr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4FE7DB13-17A1-47BE-BB90-AD79C9E27428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E546A6F-ECCB-42F3-85B7-6971BD4793EC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03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7426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矩形: 圆角 74">
            <a:extLst>
              <a:ext uri="{FF2B5EF4-FFF2-40B4-BE49-F238E27FC236}">
                <a16:creationId xmlns:a16="http://schemas.microsoft.com/office/drawing/2014/main" id="{C14543B8-C4CE-48C3-AD60-778183FF5E14}"/>
              </a:ext>
            </a:extLst>
          </p:cNvPr>
          <p:cNvSpPr/>
          <p:nvPr/>
        </p:nvSpPr>
        <p:spPr>
          <a:xfrm>
            <a:off x="8094132" y="3256952"/>
            <a:ext cx="3069167" cy="20389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AF2B77B9-6678-40B3-8A5E-C33A51B0BA49}"/>
              </a:ext>
            </a:extLst>
          </p:cNvPr>
          <p:cNvSpPr/>
          <p:nvPr/>
        </p:nvSpPr>
        <p:spPr>
          <a:xfrm>
            <a:off x="4588932" y="3256952"/>
            <a:ext cx="3069167" cy="20389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A8A99DC3-D0EE-4209-8F5D-4A24839E8250}"/>
              </a:ext>
            </a:extLst>
          </p:cNvPr>
          <p:cNvSpPr/>
          <p:nvPr/>
        </p:nvSpPr>
        <p:spPr>
          <a:xfrm>
            <a:off x="1083732" y="3256952"/>
            <a:ext cx="3069167" cy="20389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BC3EBAA1-885D-486A-9D33-2B1B8588068B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 dirty="0">
                <a:solidFill>
                  <a:srgbClr val="091424"/>
                </a:solidFill>
                <a:latin typeface="Microsoft YaHei" panose="020B0503020204020204" pitchFamily="34" charset="-122"/>
              </a:rPr>
              <a:t>系统目标：完成可算法学习的判题训练平台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8ABD503-9661-4429-B2D2-EEC47FF31D80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目标不是追求大平台规模，而是把在线题库系统的关键链路做完整。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59295EA-5310-4EBB-B0B6-F3AB022BEA0D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5BCFD9B-679B-4653-BF08-48997E9E1B1F}"/>
              </a:ext>
            </a:extLst>
          </p:cNvPr>
          <p:cNvSpPr/>
          <p:nvPr/>
        </p:nvSpPr>
        <p:spPr>
          <a:xfrm>
            <a:off x="15875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A4D23CA-C7D3-400B-8073-3C5A271C5C19}"/>
              </a:ext>
            </a:extLst>
          </p:cNvPr>
          <p:cNvSpPr txBox="1"/>
          <p:nvPr/>
        </p:nvSpPr>
        <p:spPr>
          <a:xfrm>
            <a:off x="18118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 dirty="0">
                <a:solidFill>
                  <a:srgbClr val="FFFFFF"/>
                </a:solidFill>
                <a:latin typeface="Microsoft YaHei" panose="020B0503020204020204" pitchFamily="34" charset="-122"/>
              </a:rPr>
              <a:t>1</a:t>
            </a:r>
            <a:endParaRPr lang="zh-CN" altLang="en-US" sz="1700" b="1" dirty="0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08B53EC-03BC-4F5E-A0C6-1EE672594ADF}"/>
              </a:ext>
            </a:extLst>
          </p:cNvPr>
          <p:cNvSpPr txBox="1"/>
          <p:nvPr/>
        </p:nvSpPr>
        <p:spPr>
          <a:xfrm>
            <a:off x="13970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dirty="0">
                <a:solidFill>
                  <a:srgbClr val="091424"/>
                </a:solidFill>
                <a:latin typeface="Microsoft YaHei" panose="020B0503020204020204" pitchFamily="34" charset="-122"/>
              </a:rPr>
              <a:t>题库筛选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B9E60149-32FC-47BF-865E-7E8775B2A5A3}"/>
              </a:ext>
            </a:extLst>
          </p:cNvPr>
          <p:cNvSpPr/>
          <p:nvPr/>
        </p:nvSpPr>
        <p:spPr>
          <a:xfrm>
            <a:off x="2298700" y="2082800"/>
            <a:ext cx="914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1D25FE14-244C-4551-8418-26B02C8BA35C}"/>
              </a:ext>
            </a:extLst>
          </p:cNvPr>
          <p:cNvSpPr/>
          <p:nvPr/>
        </p:nvSpPr>
        <p:spPr>
          <a:xfrm>
            <a:off x="32639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2AEBA32F-3D7F-440A-B5A1-206D18E8A0BD}"/>
              </a:ext>
            </a:extLst>
          </p:cNvPr>
          <p:cNvSpPr txBox="1"/>
          <p:nvPr/>
        </p:nvSpPr>
        <p:spPr>
          <a:xfrm>
            <a:off x="34882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endParaRPr lang="zh-CN" altLang="en-US" sz="1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07E0087C-40D4-449E-8642-8AA3B488BA82}"/>
              </a:ext>
            </a:extLst>
          </p:cNvPr>
          <p:cNvSpPr txBox="1"/>
          <p:nvPr/>
        </p:nvSpPr>
        <p:spPr>
          <a:xfrm>
            <a:off x="30734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>
                <a:solidFill>
                  <a:srgbClr val="091424"/>
                </a:solidFill>
                <a:latin typeface="Microsoft YaHei" panose="020B0503020204020204" pitchFamily="34" charset="-122"/>
              </a:rPr>
              <a:t>进入做题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83CB7532-6FC0-4874-BAAB-6D4FFFC5C4B0}"/>
              </a:ext>
            </a:extLst>
          </p:cNvPr>
          <p:cNvSpPr/>
          <p:nvPr/>
        </p:nvSpPr>
        <p:spPr>
          <a:xfrm>
            <a:off x="3975100" y="2082800"/>
            <a:ext cx="914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D3BEC8D8-5A40-4F93-9CC9-82656D56C0E2}"/>
              </a:ext>
            </a:extLst>
          </p:cNvPr>
          <p:cNvSpPr/>
          <p:nvPr/>
        </p:nvSpPr>
        <p:spPr>
          <a:xfrm>
            <a:off x="49403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B4683DBF-AB55-4D93-8CB5-50FA9D78679C}"/>
              </a:ext>
            </a:extLst>
          </p:cNvPr>
          <p:cNvSpPr txBox="1"/>
          <p:nvPr/>
        </p:nvSpPr>
        <p:spPr>
          <a:xfrm>
            <a:off x="51646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endParaRPr lang="zh-CN" altLang="en-US" sz="1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1223C50-8626-4DCE-921E-69E9B8FA58BE}"/>
              </a:ext>
            </a:extLst>
          </p:cNvPr>
          <p:cNvSpPr txBox="1"/>
          <p:nvPr/>
        </p:nvSpPr>
        <p:spPr>
          <a:xfrm>
            <a:off x="47498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>
                <a:solidFill>
                  <a:srgbClr val="091424"/>
                </a:solidFill>
                <a:latin typeface="Microsoft YaHei" panose="020B0503020204020204" pitchFamily="34" charset="-122"/>
              </a:rPr>
              <a:t>运行调试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46D0EB9-05F9-4FDA-B1A0-D552290CD2DB}"/>
              </a:ext>
            </a:extLst>
          </p:cNvPr>
          <p:cNvSpPr/>
          <p:nvPr/>
        </p:nvSpPr>
        <p:spPr>
          <a:xfrm>
            <a:off x="5651500" y="2082800"/>
            <a:ext cx="914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E08D212C-ACAE-4434-9B44-82F8033F35B4}"/>
              </a:ext>
            </a:extLst>
          </p:cNvPr>
          <p:cNvSpPr/>
          <p:nvPr/>
        </p:nvSpPr>
        <p:spPr>
          <a:xfrm>
            <a:off x="66167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E8057685-1A7A-4BE0-90B4-5716021327D5}"/>
              </a:ext>
            </a:extLst>
          </p:cNvPr>
          <p:cNvSpPr txBox="1"/>
          <p:nvPr/>
        </p:nvSpPr>
        <p:spPr>
          <a:xfrm>
            <a:off x="68410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endParaRPr lang="zh-CN" altLang="en-US" sz="1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3AFF7CF-53DE-40AE-BDF2-4A6565C0329F}"/>
              </a:ext>
            </a:extLst>
          </p:cNvPr>
          <p:cNvSpPr txBox="1"/>
          <p:nvPr/>
        </p:nvSpPr>
        <p:spPr>
          <a:xfrm>
            <a:off x="64262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>
                <a:solidFill>
                  <a:srgbClr val="091424"/>
                </a:solidFill>
                <a:latin typeface="Microsoft YaHei" panose="020B0503020204020204" pitchFamily="34" charset="-122"/>
              </a:rPr>
              <a:t>正式提交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8028665-429A-4F17-8C7B-509F43342E7B}"/>
              </a:ext>
            </a:extLst>
          </p:cNvPr>
          <p:cNvSpPr/>
          <p:nvPr/>
        </p:nvSpPr>
        <p:spPr>
          <a:xfrm>
            <a:off x="7327900" y="2082800"/>
            <a:ext cx="914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33A5B8B2-7B08-41A7-B6E8-E4564B0D35F2}"/>
              </a:ext>
            </a:extLst>
          </p:cNvPr>
          <p:cNvSpPr/>
          <p:nvPr/>
        </p:nvSpPr>
        <p:spPr>
          <a:xfrm>
            <a:off x="82931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47330FE-0F64-4253-983B-4F5848587B66}"/>
              </a:ext>
            </a:extLst>
          </p:cNvPr>
          <p:cNvSpPr txBox="1"/>
          <p:nvPr/>
        </p:nvSpPr>
        <p:spPr>
          <a:xfrm>
            <a:off x="85174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5</a:t>
            </a:r>
            <a:endParaRPr lang="zh-CN" altLang="en-US" sz="1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5E251BCF-7900-4D3B-827F-24FF17993481}"/>
              </a:ext>
            </a:extLst>
          </p:cNvPr>
          <p:cNvSpPr txBox="1"/>
          <p:nvPr/>
        </p:nvSpPr>
        <p:spPr>
          <a:xfrm>
            <a:off x="81026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>
                <a:solidFill>
                  <a:srgbClr val="091424"/>
                </a:solidFill>
                <a:latin typeface="Microsoft YaHei" panose="020B0503020204020204" pitchFamily="34" charset="-122"/>
              </a:rPr>
              <a:t>结果回写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64EA77AF-B604-4D8A-BDD3-E5972287FC1D}"/>
              </a:ext>
            </a:extLst>
          </p:cNvPr>
          <p:cNvSpPr/>
          <p:nvPr/>
        </p:nvSpPr>
        <p:spPr>
          <a:xfrm>
            <a:off x="9004300" y="2082800"/>
            <a:ext cx="914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13C345A-C11C-4FAC-80E5-D780AF150F02}"/>
              </a:ext>
            </a:extLst>
          </p:cNvPr>
          <p:cNvSpPr/>
          <p:nvPr/>
        </p:nvSpPr>
        <p:spPr>
          <a:xfrm>
            <a:off x="9969500" y="1803400"/>
            <a:ext cx="584200" cy="5842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4CB9694-9E78-4088-9524-BE8EB60831B0}"/>
              </a:ext>
            </a:extLst>
          </p:cNvPr>
          <p:cNvSpPr txBox="1"/>
          <p:nvPr/>
        </p:nvSpPr>
        <p:spPr>
          <a:xfrm>
            <a:off x="10193867" y="1968502"/>
            <a:ext cx="1778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6</a:t>
            </a:r>
            <a:endParaRPr lang="zh-CN" altLang="en-US" sz="17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3EA23DC2-3529-4D7F-BDCB-4DEB2B9A4324}"/>
              </a:ext>
            </a:extLst>
          </p:cNvPr>
          <p:cNvSpPr txBox="1"/>
          <p:nvPr/>
        </p:nvSpPr>
        <p:spPr>
          <a:xfrm>
            <a:off x="9779000" y="2552700"/>
            <a:ext cx="9906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>
                <a:solidFill>
                  <a:srgbClr val="091424"/>
                </a:solidFill>
                <a:latin typeface="Microsoft YaHei" panose="020B0503020204020204" pitchFamily="34" charset="-122"/>
              </a:rPr>
              <a:t>训练统计</a:t>
            </a:r>
          </a:p>
        </p:txBody>
      </p:sp>
      <p:pic>
        <p:nvPicPr>
          <p:cNvPr id="66" name="图片 65">
            <a:extLst>
              <a:ext uri="{FF2B5EF4-FFF2-40B4-BE49-F238E27FC236}">
                <a16:creationId xmlns:a16="http://schemas.microsoft.com/office/drawing/2014/main" id="{AA9E6B88-4838-4EC9-BD99-FC71EBD9A4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428" y="3378864"/>
            <a:ext cx="2608672" cy="1811578"/>
          </a:xfrm>
          <a:prstGeom prst="rect">
            <a:avLst/>
          </a:prstGeom>
        </p:spPr>
      </p:pic>
      <p:sp>
        <p:nvSpPr>
          <p:cNvPr id="68" name="文本框 67">
            <a:extLst>
              <a:ext uri="{FF2B5EF4-FFF2-40B4-BE49-F238E27FC236}">
                <a16:creationId xmlns:a16="http://schemas.microsoft.com/office/drawing/2014/main" id="{AF558221-82B9-462D-9873-B27CB70DB91E}"/>
              </a:ext>
            </a:extLst>
          </p:cNvPr>
          <p:cNvSpPr txBox="1"/>
          <p:nvPr/>
        </p:nvSpPr>
        <p:spPr>
          <a:xfrm>
            <a:off x="1908764" y="5359400"/>
            <a:ext cx="152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5-6</a:t>
            </a:r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：题库入口</a:t>
            </a:r>
          </a:p>
        </p:txBody>
      </p:sp>
      <p:pic>
        <p:nvPicPr>
          <p:cNvPr id="70" name="图片 69">
            <a:extLst>
              <a:ext uri="{FF2B5EF4-FFF2-40B4-BE49-F238E27FC236}">
                <a16:creationId xmlns:a16="http://schemas.microsoft.com/office/drawing/2014/main" id="{9FE9BB8A-1896-4409-BA6A-A8B91EBEE3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7075" y="3429000"/>
            <a:ext cx="2837850" cy="1684203"/>
          </a:xfrm>
          <a:prstGeom prst="rect">
            <a:avLst/>
          </a:prstGeom>
        </p:spPr>
      </p:pic>
      <p:sp>
        <p:nvSpPr>
          <p:cNvPr id="72" name="文本框 71">
            <a:extLst>
              <a:ext uri="{FF2B5EF4-FFF2-40B4-BE49-F238E27FC236}">
                <a16:creationId xmlns:a16="http://schemas.microsoft.com/office/drawing/2014/main" id="{65B25970-CEBA-4E87-8E56-D236EDC81C7F}"/>
              </a:ext>
            </a:extLst>
          </p:cNvPr>
          <p:cNvSpPr txBox="1"/>
          <p:nvPr/>
        </p:nvSpPr>
        <p:spPr>
          <a:xfrm>
            <a:off x="5143500" y="5359400"/>
            <a:ext cx="1905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5-12</a:t>
            </a:r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：运行调试结果</a:t>
            </a:r>
          </a:p>
        </p:txBody>
      </p:sp>
      <p:pic>
        <p:nvPicPr>
          <p:cNvPr id="74" name="图片 73">
            <a:extLst>
              <a:ext uri="{FF2B5EF4-FFF2-40B4-BE49-F238E27FC236}">
                <a16:creationId xmlns:a16="http://schemas.microsoft.com/office/drawing/2014/main" id="{77E723D4-4767-40AA-AF3B-F90C21914C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3451" y="3317914"/>
            <a:ext cx="2750527" cy="1910088"/>
          </a:xfrm>
          <a:prstGeom prst="rect">
            <a:avLst/>
          </a:prstGeom>
        </p:spPr>
      </p:pic>
      <p:sp>
        <p:nvSpPr>
          <p:cNvPr id="76" name="文本框 75">
            <a:extLst>
              <a:ext uri="{FF2B5EF4-FFF2-40B4-BE49-F238E27FC236}">
                <a16:creationId xmlns:a16="http://schemas.microsoft.com/office/drawing/2014/main" id="{772059B7-16A9-489D-BD1D-FB7B5C770A31}"/>
              </a:ext>
            </a:extLst>
          </p:cNvPr>
          <p:cNvSpPr txBox="1"/>
          <p:nvPr/>
        </p:nvSpPr>
        <p:spPr>
          <a:xfrm>
            <a:off x="8866714" y="5356862"/>
            <a:ext cx="15240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5-18</a:t>
            </a:r>
            <a:r>
              <a:rPr lang="zh-CN" altLang="en-US" sz="900" dirty="0">
                <a:solidFill>
                  <a:srgbClr val="4F6B8A"/>
                </a:solidFill>
                <a:latin typeface="Microsoft YaHei" panose="020B0503020204020204" pitchFamily="34" charset="-122"/>
              </a:rPr>
              <a:t>：训练看板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13FD3F4-C4C2-4644-95BA-58974E036407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62E846-2BA4-453B-8005-2AA5E7EE676D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04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314294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16B27D91-9921-46D6-A563-DBCC3E4321C3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系统架构：前后端分离 </a:t>
            </a:r>
            <a:r>
              <a:rPr lang="en-US" altLang="zh-CN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+ </a:t>
            </a:r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异步判题服务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0E10DFA-314C-40E2-AB6D-B0ACB3C00448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用户请求经 </a:t>
            </a:r>
            <a:r>
              <a:rPr lang="en-US" altLang="zh-CN" sz="1250">
                <a:solidFill>
                  <a:srgbClr val="4F6B8A"/>
                </a:solidFill>
                <a:latin typeface="Microsoft YaHei" panose="020B0503020204020204" pitchFamily="34" charset="-122"/>
              </a:rPr>
              <a:t>Vue </a:t>
            </a:r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前端、</a:t>
            </a:r>
            <a:r>
              <a:rPr lang="en-US" altLang="zh-CN" sz="1250">
                <a:solidFill>
                  <a:srgbClr val="4F6B8A"/>
                </a:solidFill>
                <a:latin typeface="Microsoft YaHei" panose="020B0503020204020204" pitchFamily="34" charset="-122"/>
              </a:rPr>
              <a:t>Spring Boot </a:t>
            </a:r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接口和业务服务处理，数据落库，代码由 </a:t>
            </a:r>
            <a:r>
              <a:rPr lang="en-US" altLang="zh-CN" sz="1250">
                <a:solidFill>
                  <a:srgbClr val="4F6B8A"/>
                </a:solidFill>
                <a:latin typeface="Microsoft YaHei" panose="020B0503020204020204" pitchFamily="34" charset="-122"/>
              </a:rPr>
              <a:t>Docker </a:t>
            </a:r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隔离执行。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F649CBC-5A48-4D0C-8EBB-68E996CEB3F6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334E0E2A-8ABA-433F-9A82-5F1306D5AF19}"/>
              </a:ext>
            </a:extLst>
          </p:cNvPr>
          <p:cNvSpPr/>
          <p:nvPr/>
        </p:nvSpPr>
        <p:spPr>
          <a:xfrm>
            <a:off x="825500" y="1625600"/>
            <a:ext cx="6794500" cy="3302000"/>
          </a:xfrm>
          <a:prstGeom prst="roundRect">
            <a:avLst/>
          </a:prstGeom>
          <a:solidFill>
            <a:srgbClr val="FFFFFF"/>
          </a:solidFill>
          <a:ln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B01B191-5416-45EF-B37A-7A7AC2B445D5}"/>
              </a:ext>
            </a:extLst>
          </p:cNvPr>
          <p:cNvSpPr txBox="1"/>
          <p:nvPr/>
        </p:nvSpPr>
        <p:spPr>
          <a:xfrm>
            <a:off x="1092200" y="1841500"/>
            <a:ext cx="2667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500" b="1">
                <a:solidFill>
                  <a:srgbClr val="091424"/>
                </a:solidFill>
                <a:latin typeface="Microsoft YaHei" panose="020B0503020204020204" pitchFamily="34" charset="-122"/>
              </a:rPr>
              <a:t>一次提交的处理链路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EA11BAE0-0010-401F-866C-C471BBDB1BD3}"/>
              </a:ext>
            </a:extLst>
          </p:cNvPr>
          <p:cNvSpPr/>
          <p:nvPr/>
        </p:nvSpPr>
        <p:spPr>
          <a:xfrm>
            <a:off x="1092200" y="2260598"/>
            <a:ext cx="406400" cy="406400"/>
          </a:xfrm>
          <a:prstGeom prst="round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57BDD37-A946-4209-B9C5-017FD67B58EE}"/>
              </a:ext>
            </a:extLst>
          </p:cNvPr>
          <p:cNvSpPr txBox="1"/>
          <p:nvPr/>
        </p:nvSpPr>
        <p:spPr>
          <a:xfrm>
            <a:off x="1210734" y="2379133"/>
            <a:ext cx="20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01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DEB940C1-E28F-4616-A9E7-8AB3C1800D70}"/>
              </a:ext>
            </a:extLst>
          </p:cNvPr>
          <p:cNvSpPr txBox="1"/>
          <p:nvPr/>
        </p:nvSpPr>
        <p:spPr>
          <a:xfrm>
            <a:off x="1676400" y="2285998"/>
            <a:ext cx="1333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前端提交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662E201-F818-433C-B997-4B31B5400454}"/>
              </a:ext>
            </a:extLst>
          </p:cNvPr>
          <p:cNvSpPr txBox="1"/>
          <p:nvPr/>
        </p:nvSpPr>
        <p:spPr>
          <a:xfrm>
            <a:off x="1676400" y="2514598"/>
            <a:ext cx="533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做题页收集语言与代码，调用 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/api/problems/no/{problemNo}/submissions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8DC25B2-61D9-4D31-99C0-7EF1E771108D}"/>
              </a:ext>
            </a:extLst>
          </p:cNvPr>
          <p:cNvSpPr/>
          <p:nvPr/>
        </p:nvSpPr>
        <p:spPr>
          <a:xfrm>
            <a:off x="1092200" y="2755898"/>
            <a:ext cx="406400" cy="406400"/>
          </a:xfrm>
          <a:prstGeom prst="round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D776C20B-74EF-455B-8497-40BE32C0EC7B}"/>
              </a:ext>
            </a:extLst>
          </p:cNvPr>
          <p:cNvSpPr txBox="1"/>
          <p:nvPr/>
        </p:nvSpPr>
        <p:spPr>
          <a:xfrm>
            <a:off x="1210734" y="2874433"/>
            <a:ext cx="20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02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62C04893-600F-4CA4-BD3D-BEAAB3F25C54}"/>
              </a:ext>
            </a:extLst>
          </p:cNvPr>
          <p:cNvSpPr txBox="1"/>
          <p:nvPr/>
        </p:nvSpPr>
        <p:spPr>
          <a:xfrm>
            <a:off x="1676400" y="2781298"/>
            <a:ext cx="1333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接口鉴权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62A36A60-49AA-4900-ACF9-FFC305B6F306}"/>
              </a:ext>
            </a:extLst>
          </p:cNvPr>
          <p:cNvSpPr txBox="1"/>
          <p:nvPr/>
        </p:nvSpPr>
        <p:spPr>
          <a:xfrm>
            <a:off x="1676400" y="3009898"/>
            <a:ext cx="533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Spring Security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解析登录用户，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Controller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将请求交给提交服务。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A4D461F-82D3-492A-96BF-1BB599DED805}"/>
              </a:ext>
            </a:extLst>
          </p:cNvPr>
          <p:cNvSpPr/>
          <p:nvPr/>
        </p:nvSpPr>
        <p:spPr>
          <a:xfrm>
            <a:off x="1092200" y="3251198"/>
            <a:ext cx="406400" cy="406400"/>
          </a:xfrm>
          <a:prstGeom prst="roundRect">
            <a:avLst/>
          </a:prstGeom>
          <a:solidFill>
            <a:srgbClr val="545AD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E69235B9-6CA6-4562-9F17-5109386922C8}"/>
              </a:ext>
            </a:extLst>
          </p:cNvPr>
          <p:cNvSpPr txBox="1"/>
          <p:nvPr/>
        </p:nvSpPr>
        <p:spPr>
          <a:xfrm>
            <a:off x="1210734" y="3369733"/>
            <a:ext cx="20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 dirty="0">
                <a:solidFill>
                  <a:srgbClr val="FFFFFF"/>
                </a:solidFill>
                <a:latin typeface="Microsoft YaHei" panose="020B0503020204020204" pitchFamily="34" charset="-122"/>
              </a:rPr>
              <a:t>03</a:t>
            </a:r>
            <a:endParaRPr lang="zh-CN" altLang="en-US" sz="1100" b="1" dirty="0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869B0F0-CB76-4595-9001-AF8903BAE0A2}"/>
              </a:ext>
            </a:extLst>
          </p:cNvPr>
          <p:cNvSpPr txBox="1"/>
          <p:nvPr/>
        </p:nvSpPr>
        <p:spPr>
          <a:xfrm>
            <a:off x="1676400" y="3276598"/>
            <a:ext cx="1333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入库排队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7755061-D467-46DA-A709-DD1F60098F9F}"/>
              </a:ext>
            </a:extLst>
          </p:cNvPr>
          <p:cNvSpPr txBox="1"/>
          <p:nvPr/>
        </p:nvSpPr>
        <p:spPr>
          <a:xfrm>
            <a:off x="1676400" y="3505198"/>
            <a:ext cx="533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提交记录写入 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MySQL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，状态先置为 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QUEUED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并更新题目提交统计。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EE026664-01C4-49DB-A636-BA83696E3BAD}"/>
              </a:ext>
            </a:extLst>
          </p:cNvPr>
          <p:cNvSpPr/>
          <p:nvPr/>
        </p:nvSpPr>
        <p:spPr>
          <a:xfrm>
            <a:off x="1092200" y="3746498"/>
            <a:ext cx="406400" cy="406400"/>
          </a:xfrm>
          <a:prstGeom prst="roundRect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98203D37-2D5A-4BB0-8EE9-C335EF1C691E}"/>
              </a:ext>
            </a:extLst>
          </p:cNvPr>
          <p:cNvSpPr txBox="1"/>
          <p:nvPr/>
        </p:nvSpPr>
        <p:spPr>
          <a:xfrm>
            <a:off x="1210734" y="3865033"/>
            <a:ext cx="20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04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1CE3EBB2-01C9-45A0-9536-276360D12D7C}"/>
              </a:ext>
            </a:extLst>
          </p:cNvPr>
          <p:cNvSpPr txBox="1"/>
          <p:nvPr/>
        </p:nvSpPr>
        <p:spPr>
          <a:xfrm>
            <a:off x="1676400" y="3771898"/>
            <a:ext cx="1333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Docker </a:t>
            </a:r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判题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EC289D03-E4F6-4BCE-879F-2A3D8B205285}"/>
              </a:ext>
            </a:extLst>
          </p:cNvPr>
          <p:cNvSpPr txBox="1"/>
          <p:nvPr/>
        </p:nvSpPr>
        <p:spPr>
          <a:xfrm>
            <a:off x="1676400" y="4000498"/>
            <a:ext cx="533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后端读取测试用例，在临时容器中编译运行并限制资源。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EBDC3288-18D6-493F-A37D-99A649C57B07}"/>
              </a:ext>
            </a:extLst>
          </p:cNvPr>
          <p:cNvSpPr/>
          <p:nvPr/>
        </p:nvSpPr>
        <p:spPr>
          <a:xfrm>
            <a:off x="1092200" y="4241798"/>
            <a:ext cx="406400" cy="406400"/>
          </a:xfrm>
          <a:prstGeom prst="roundRect">
            <a:avLst/>
          </a:prstGeom>
          <a:solidFill>
            <a:srgbClr val="F59D0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34900FA-7C8B-4435-A377-0AB2A82C99CA}"/>
              </a:ext>
            </a:extLst>
          </p:cNvPr>
          <p:cNvSpPr txBox="1"/>
          <p:nvPr/>
        </p:nvSpPr>
        <p:spPr>
          <a:xfrm>
            <a:off x="1210734" y="4360333"/>
            <a:ext cx="2032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100" b="1">
                <a:solidFill>
                  <a:srgbClr val="FFFFFF"/>
                </a:solidFill>
                <a:latin typeface="Microsoft YaHei" panose="020B0503020204020204" pitchFamily="34" charset="-122"/>
              </a:rPr>
              <a:t>05</a:t>
            </a:r>
            <a:endParaRPr lang="zh-CN" altLang="en-US" sz="11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0C6D189-4461-45B2-B0F1-8EDCE6E326F8}"/>
              </a:ext>
            </a:extLst>
          </p:cNvPr>
          <p:cNvSpPr txBox="1"/>
          <p:nvPr/>
        </p:nvSpPr>
        <p:spPr>
          <a:xfrm>
            <a:off x="1676400" y="4267198"/>
            <a:ext cx="1333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结果回写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A005269F-078F-4786-B799-C7526D2F3E9F}"/>
              </a:ext>
            </a:extLst>
          </p:cNvPr>
          <p:cNvSpPr txBox="1"/>
          <p:nvPr/>
        </p:nvSpPr>
        <p:spPr>
          <a:xfrm>
            <a:off x="1676400" y="4495798"/>
            <a:ext cx="533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判题状态、用例结果、耗时和训练进度回写后由前端轮询展示。</a:t>
            </a:r>
          </a:p>
        </p:txBody>
      </p:sp>
      <p:sp>
        <p:nvSpPr>
          <p:cNvPr id="83" name="矩形: 圆角 82">
            <a:extLst>
              <a:ext uri="{FF2B5EF4-FFF2-40B4-BE49-F238E27FC236}">
                <a16:creationId xmlns:a16="http://schemas.microsoft.com/office/drawing/2014/main" id="{87659188-8EF1-4E48-B3D6-4D3642AF7089}"/>
              </a:ext>
            </a:extLst>
          </p:cNvPr>
          <p:cNvSpPr/>
          <p:nvPr/>
        </p:nvSpPr>
        <p:spPr>
          <a:xfrm>
            <a:off x="1270000" y="5511800"/>
            <a:ext cx="9652000" cy="482600"/>
          </a:xfrm>
          <a:prstGeom prst="roundRect">
            <a:avLst/>
          </a:prstGeom>
          <a:solidFill>
            <a:srgbClr val="FCFBF2"/>
          </a:solidFill>
          <a:ln>
            <a:solidFill>
              <a:srgbClr val="EFEC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E6CA2936-0F43-4B54-A073-E006F0118EC2}"/>
              </a:ext>
            </a:extLst>
          </p:cNvPr>
          <p:cNvSpPr txBox="1"/>
          <p:nvPr/>
        </p:nvSpPr>
        <p:spPr>
          <a:xfrm>
            <a:off x="1778000" y="5664200"/>
            <a:ext cx="8763000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20" b="1">
                <a:solidFill>
                  <a:srgbClr val="091424"/>
                </a:solidFill>
                <a:latin typeface="Microsoft YaHei" panose="020B0503020204020204" pitchFamily="34" charset="-122"/>
              </a:rPr>
              <a:t>系统不是让业务进程直接执行用户代码，而是将提交记录、判题调度和 </a:t>
            </a:r>
            <a:r>
              <a:rPr lang="en-US" altLang="zh-CN" sz="1020" b="1">
                <a:solidFill>
                  <a:srgbClr val="091424"/>
                </a:solidFill>
                <a:latin typeface="Microsoft YaHei" panose="020B0503020204020204" pitchFamily="34" charset="-122"/>
              </a:rPr>
              <a:t>Docker </a:t>
            </a:r>
            <a:r>
              <a:rPr lang="zh-CN" altLang="en-US" sz="1020" b="1">
                <a:solidFill>
                  <a:srgbClr val="091424"/>
                </a:solidFill>
                <a:latin typeface="Microsoft YaHei" panose="020B0503020204020204" pitchFamily="34" charset="-122"/>
              </a:rPr>
              <a:t>隔离拆开；即使代码异常，也只影响临时容器和本次提交结果。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84016E1-6840-4399-8AFD-B1BB2574E067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5032D22-061B-4A95-92B0-0880F109CE1D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05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23CDDEF1-2423-4837-8277-E8E8CF614D75}"/>
              </a:ext>
            </a:extLst>
          </p:cNvPr>
          <p:cNvSpPr/>
          <p:nvPr/>
        </p:nvSpPr>
        <p:spPr>
          <a:xfrm>
            <a:off x="8153400" y="1371600"/>
            <a:ext cx="32004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AFB715F-FEB8-411F-9253-0250BF574F19}"/>
              </a:ext>
            </a:extLst>
          </p:cNvPr>
          <p:cNvSpPr/>
          <p:nvPr/>
        </p:nvSpPr>
        <p:spPr>
          <a:xfrm>
            <a:off x="8305800" y="1524000"/>
            <a:ext cx="50800" cy="431800"/>
          </a:xfrm>
          <a:prstGeom prst="rect">
            <a:avLst/>
          </a:prstGeom>
          <a:solidFill>
            <a:srgbClr val="13A6AA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0A20CA81-4F36-472E-B381-D92256207DCE}"/>
              </a:ext>
            </a:extLst>
          </p:cNvPr>
          <p:cNvSpPr txBox="1"/>
          <p:nvPr/>
        </p:nvSpPr>
        <p:spPr>
          <a:xfrm>
            <a:off x="8534400" y="1524000"/>
            <a:ext cx="264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3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前端表现层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0ABE50A9-A044-4260-B000-C04243347746}"/>
              </a:ext>
            </a:extLst>
          </p:cNvPr>
          <p:cNvSpPr txBox="1"/>
          <p:nvPr/>
        </p:nvSpPr>
        <p:spPr>
          <a:xfrm>
            <a:off x="8534400" y="1778000"/>
            <a:ext cx="26416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Vue 3 / TS / Element Plus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；路由、状态与结果展示</a:t>
            </a: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DACEC40D-A69B-4E53-A93C-59111825CE64}"/>
              </a:ext>
            </a:extLst>
          </p:cNvPr>
          <p:cNvSpPr/>
          <p:nvPr/>
        </p:nvSpPr>
        <p:spPr>
          <a:xfrm>
            <a:off x="8153400" y="2438400"/>
            <a:ext cx="32004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723D6933-9112-4DF3-8438-ADE0FA7FA937}"/>
              </a:ext>
            </a:extLst>
          </p:cNvPr>
          <p:cNvSpPr/>
          <p:nvPr/>
        </p:nvSpPr>
        <p:spPr>
          <a:xfrm>
            <a:off x="8305800" y="2590800"/>
            <a:ext cx="50800" cy="431800"/>
          </a:xfrm>
          <a:prstGeom prst="rect">
            <a:avLst/>
          </a:prstGeom>
          <a:solidFill>
            <a:srgbClr val="2A6FB3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9475ABD1-6D52-40FA-994E-14E2B3B9BC6A}"/>
              </a:ext>
            </a:extLst>
          </p:cNvPr>
          <p:cNvSpPr txBox="1"/>
          <p:nvPr/>
        </p:nvSpPr>
        <p:spPr>
          <a:xfrm>
            <a:off x="8534400" y="2590800"/>
            <a:ext cx="264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3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后端业务层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4E350A9D-5017-4876-80B3-B4AB08D3DFAF}"/>
              </a:ext>
            </a:extLst>
          </p:cNvPr>
          <p:cNvSpPr txBox="1"/>
          <p:nvPr/>
        </p:nvSpPr>
        <p:spPr>
          <a:xfrm>
            <a:off x="8534400" y="2844800"/>
            <a:ext cx="26416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Spring Boot / MyBatis-Plus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；题库、提交和管理接口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8238C419-17CF-4D17-9BAE-B13CAF65F7C5}"/>
              </a:ext>
            </a:extLst>
          </p:cNvPr>
          <p:cNvSpPr/>
          <p:nvPr/>
        </p:nvSpPr>
        <p:spPr>
          <a:xfrm>
            <a:off x="8153400" y="3505200"/>
            <a:ext cx="32004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1409EE02-A97F-46BE-992B-90B72C1BE1B5}"/>
              </a:ext>
            </a:extLst>
          </p:cNvPr>
          <p:cNvSpPr/>
          <p:nvPr/>
        </p:nvSpPr>
        <p:spPr>
          <a:xfrm>
            <a:off x="8305800" y="3657600"/>
            <a:ext cx="50800" cy="431800"/>
          </a:xfrm>
          <a:prstGeom prst="rect">
            <a:avLst/>
          </a:prstGeom>
          <a:solidFill>
            <a:srgbClr val="5A56D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B5F51D9D-7F84-41BC-8F2F-FBF9321824A3}"/>
              </a:ext>
            </a:extLst>
          </p:cNvPr>
          <p:cNvSpPr txBox="1"/>
          <p:nvPr/>
        </p:nvSpPr>
        <p:spPr>
          <a:xfrm>
            <a:off x="8534400" y="3657600"/>
            <a:ext cx="264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3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数据与缓存层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44F9410D-1196-40F8-870A-C1175B443797}"/>
              </a:ext>
            </a:extLst>
          </p:cNvPr>
          <p:cNvSpPr txBox="1"/>
          <p:nvPr/>
        </p:nvSpPr>
        <p:spPr>
          <a:xfrm>
            <a:off x="8534400" y="3911600"/>
            <a:ext cx="26416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MySQL + Flyway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</a:t>
            </a:r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Redis 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保存登录态和缓存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FDA80418-EC45-4D65-A7B6-76178DE111E7}"/>
              </a:ext>
            </a:extLst>
          </p:cNvPr>
          <p:cNvSpPr/>
          <p:nvPr/>
        </p:nvSpPr>
        <p:spPr>
          <a:xfrm>
            <a:off x="8153400" y="4572000"/>
            <a:ext cx="3200400" cy="736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E8CC16D-8648-4C77-BE70-C43DB9F96A36}"/>
              </a:ext>
            </a:extLst>
          </p:cNvPr>
          <p:cNvSpPr/>
          <p:nvPr/>
        </p:nvSpPr>
        <p:spPr>
          <a:xfrm>
            <a:off x="8305800" y="4724400"/>
            <a:ext cx="50800" cy="431800"/>
          </a:xfrm>
          <a:prstGeom prst="rect">
            <a:avLst/>
          </a:prstGeom>
          <a:solidFill>
            <a:srgbClr val="18B97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72C8162E-558B-4F99-8160-7B64C7867BA6}"/>
              </a:ext>
            </a:extLst>
          </p:cNvPr>
          <p:cNvSpPr txBox="1"/>
          <p:nvPr/>
        </p:nvSpPr>
        <p:spPr>
          <a:xfrm>
            <a:off x="8534400" y="4724400"/>
            <a:ext cx="2641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3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判题隔离层</a:t>
            </a: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E4837E5A-3BA0-44BA-8DD1-E73383ACB0A7}"/>
              </a:ext>
            </a:extLst>
          </p:cNvPr>
          <p:cNvSpPr txBox="1"/>
          <p:nvPr/>
        </p:nvSpPr>
        <p:spPr>
          <a:xfrm>
            <a:off x="8534400" y="4978400"/>
            <a:ext cx="26416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Docker 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运行 </a:t>
            </a:r>
            <a:r>
              <a:rPr lang="en-US" altLang="zh-CN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C++ / Java / Python3</a:t>
            </a:r>
            <a:r>
              <a:rPr lang="zh-CN" altLang="en-US" sz="80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；按题限制资源</a:t>
            </a:r>
          </a:p>
        </p:txBody>
      </p:sp>
    </p:spTree>
    <p:extLst>
      <p:ext uri="{BB962C8B-B14F-4D97-AF65-F5344CB8AC3E}">
        <p14:creationId xmlns:p14="http://schemas.microsoft.com/office/powerpoint/2010/main" val="7145883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76139DC2-CBFF-423F-89DA-5070B2B36C7E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核心业务流程：从题库入口到提交结果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24818D2-65F9-41D4-9F70-43356268F058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做题页把“调试运行”和“正式提交”拆成两个清晰流程。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42D009-B494-4427-AB12-9501C02927C9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4C6B99F-8B85-485E-B8E4-79BCAA85413F}"/>
              </a:ext>
            </a:extLst>
          </p:cNvPr>
          <p:cNvSpPr/>
          <p:nvPr/>
        </p:nvSpPr>
        <p:spPr>
          <a:xfrm>
            <a:off x="571500" y="1714500"/>
            <a:ext cx="34925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B01B82D9-D15B-4C8F-89C8-20726D7A63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400" y="1905873"/>
            <a:ext cx="3314700" cy="2030254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7F3AC019-92A3-4EFC-B711-FD3FED1CE018}"/>
              </a:ext>
            </a:extLst>
          </p:cNvPr>
          <p:cNvSpPr txBox="1"/>
          <p:nvPr/>
        </p:nvSpPr>
        <p:spPr>
          <a:xfrm>
            <a:off x="762000" y="4229100"/>
            <a:ext cx="31115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5-6</a:t>
            </a:r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：题库筛选与搜索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F295753-20F3-47FD-A671-EFE57FC26E7A}"/>
              </a:ext>
            </a:extLst>
          </p:cNvPr>
          <p:cNvSpPr/>
          <p:nvPr/>
        </p:nvSpPr>
        <p:spPr>
          <a:xfrm>
            <a:off x="4343400" y="1714500"/>
            <a:ext cx="34925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9CD7871-62A7-4513-A64D-BC8491E4E18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2300" y="1879424"/>
            <a:ext cx="3314700" cy="2083151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CAAADA39-D2B9-4F27-BA9E-8DF0675F7E20}"/>
              </a:ext>
            </a:extLst>
          </p:cNvPr>
          <p:cNvSpPr txBox="1"/>
          <p:nvPr/>
        </p:nvSpPr>
        <p:spPr>
          <a:xfrm>
            <a:off x="4533900" y="4229100"/>
            <a:ext cx="31115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5-10</a:t>
            </a:r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：代码编辑内容保存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FF0668CB-B324-438D-AD6C-2072158866DC}"/>
              </a:ext>
            </a:extLst>
          </p:cNvPr>
          <p:cNvSpPr/>
          <p:nvPr/>
        </p:nvSpPr>
        <p:spPr>
          <a:xfrm>
            <a:off x="8115300" y="1714500"/>
            <a:ext cx="3492500" cy="241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3" name="图片 22">
            <a:extLst>
              <a:ext uri="{FF2B5EF4-FFF2-40B4-BE49-F238E27FC236}">
                <a16:creationId xmlns:a16="http://schemas.microsoft.com/office/drawing/2014/main" id="{9907EB29-C69E-44A1-8E27-4FAEBD992F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200" y="1894163"/>
            <a:ext cx="3314700" cy="205367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E4A21A87-243D-43D2-A59A-56F731F0594F}"/>
              </a:ext>
            </a:extLst>
          </p:cNvPr>
          <p:cNvSpPr txBox="1"/>
          <p:nvPr/>
        </p:nvSpPr>
        <p:spPr>
          <a:xfrm>
            <a:off x="8305800" y="4229100"/>
            <a:ext cx="31115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5-14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：提交判题结果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C889340-D903-4D75-8914-92368A2E6632}"/>
              </a:ext>
            </a:extLst>
          </p:cNvPr>
          <p:cNvSpPr/>
          <p:nvPr/>
        </p:nvSpPr>
        <p:spPr>
          <a:xfrm>
            <a:off x="4076700" y="2832100"/>
            <a:ext cx="279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F4A9799-16CF-438D-86B9-40D544EDA445}"/>
              </a:ext>
            </a:extLst>
          </p:cNvPr>
          <p:cNvSpPr/>
          <p:nvPr/>
        </p:nvSpPr>
        <p:spPr>
          <a:xfrm>
            <a:off x="7848600" y="2832100"/>
            <a:ext cx="279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E9320478-9360-4044-A5E0-2BDCD7274CAD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3445DE7-2D0C-4A00-89EA-FFFEA15E55F0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06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7D8713D3-7262-4A19-913C-5E4E99C0374C}"/>
              </a:ext>
            </a:extLst>
          </p:cNvPr>
          <p:cNvSpPr/>
          <p:nvPr/>
        </p:nvSpPr>
        <p:spPr>
          <a:xfrm>
            <a:off x="927100" y="5270500"/>
            <a:ext cx="31115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C1A8F6-DD35-412F-AEA6-C801D6E43974}"/>
              </a:ext>
            </a:extLst>
          </p:cNvPr>
          <p:cNvSpPr/>
          <p:nvPr/>
        </p:nvSpPr>
        <p:spPr>
          <a:xfrm>
            <a:off x="1079500" y="5410200"/>
            <a:ext cx="50800" cy="406400"/>
          </a:xfrm>
          <a:prstGeom prst="rect">
            <a:avLst/>
          </a:prstGeom>
          <a:solidFill>
            <a:srgbClr val="13A6AA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77352D8-2EB4-44AD-B0FD-EDF6FD3B49C0}"/>
              </a:ext>
            </a:extLst>
          </p:cNvPr>
          <p:cNvSpPr txBox="1"/>
          <p:nvPr/>
        </p:nvSpPr>
        <p:spPr>
          <a:xfrm>
            <a:off x="1308100" y="5422900"/>
            <a:ext cx="2501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题库筛选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091910AE-CA82-4BB6-BE24-4863C73E445F}"/>
              </a:ext>
            </a:extLst>
          </p:cNvPr>
          <p:cNvSpPr txBox="1"/>
          <p:nvPr/>
        </p:nvSpPr>
        <p:spPr>
          <a:xfrm>
            <a:off x="1308100" y="5664200"/>
            <a:ext cx="25019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88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按题号、关键词、难度和状态筛选题目。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34F1AB1-C2B2-4CD6-886E-21E4B7CB3FA2}"/>
              </a:ext>
            </a:extLst>
          </p:cNvPr>
          <p:cNvSpPr/>
          <p:nvPr/>
        </p:nvSpPr>
        <p:spPr>
          <a:xfrm>
            <a:off x="4546600" y="5270500"/>
            <a:ext cx="31115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F74EC36-2D58-40B5-AF46-270D8B400A95}"/>
              </a:ext>
            </a:extLst>
          </p:cNvPr>
          <p:cNvSpPr/>
          <p:nvPr/>
        </p:nvSpPr>
        <p:spPr>
          <a:xfrm>
            <a:off x="4699000" y="5410200"/>
            <a:ext cx="50800" cy="406400"/>
          </a:xfrm>
          <a:prstGeom prst="rect">
            <a:avLst/>
          </a:prstGeom>
          <a:solidFill>
            <a:srgbClr val="2A6FB3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66E464CD-1A77-44A7-812C-F295E4B7BD7D}"/>
              </a:ext>
            </a:extLst>
          </p:cNvPr>
          <p:cNvSpPr txBox="1"/>
          <p:nvPr/>
        </p:nvSpPr>
        <p:spPr>
          <a:xfrm>
            <a:off x="4927600" y="5422900"/>
            <a:ext cx="2501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在线做题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04412876-FF04-4A62-A44D-2C028BA68AD7}"/>
              </a:ext>
            </a:extLst>
          </p:cNvPr>
          <p:cNvSpPr txBox="1"/>
          <p:nvPr/>
        </p:nvSpPr>
        <p:spPr>
          <a:xfrm>
            <a:off x="4927600" y="5664200"/>
            <a:ext cx="25019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88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先调试运行，再正式提交。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126406DA-9EE6-4DDB-95C0-7959886459E5}"/>
              </a:ext>
            </a:extLst>
          </p:cNvPr>
          <p:cNvSpPr/>
          <p:nvPr/>
        </p:nvSpPr>
        <p:spPr>
          <a:xfrm>
            <a:off x="8166100" y="5270500"/>
            <a:ext cx="3111500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1430">
            <a:solidFill>
              <a:srgbClr val="C8D3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E623111-E86D-4CFB-927C-C330A178DAA4}"/>
              </a:ext>
            </a:extLst>
          </p:cNvPr>
          <p:cNvSpPr/>
          <p:nvPr/>
        </p:nvSpPr>
        <p:spPr>
          <a:xfrm>
            <a:off x="8318500" y="5410200"/>
            <a:ext cx="50800" cy="406400"/>
          </a:xfrm>
          <a:prstGeom prst="rect">
            <a:avLst/>
          </a:prstGeom>
          <a:solidFill>
            <a:srgbClr val="18B97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FFBB6546-054C-4BCB-8EE3-D42E2FE46FD8}"/>
              </a:ext>
            </a:extLst>
          </p:cNvPr>
          <p:cNvSpPr txBox="1"/>
          <p:nvPr/>
        </p:nvSpPr>
        <p:spPr>
          <a:xfrm>
            <a:off x="8547100" y="5422900"/>
            <a:ext cx="2501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2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结果反馈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032B490-6BE9-48D2-8116-3E6FB3A8F1FF}"/>
              </a:ext>
            </a:extLst>
          </p:cNvPr>
          <p:cNvSpPr txBox="1"/>
          <p:nvPr/>
        </p:nvSpPr>
        <p:spPr>
          <a:xfrm>
            <a:off x="8547100" y="5664200"/>
            <a:ext cx="25019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88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查看提交详情、题目进度和训练情况。</a:t>
            </a:r>
          </a:p>
        </p:txBody>
      </p:sp>
    </p:spTree>
    <p:extLst>
      <p:ext uri="{BB962C8B-B14F-4D97-AF65-F5344CB8AC3E}">
        <p14:creationId xmlns:p14="http://schemas.microsoft.com/office/powerpoint/2010/main" val="286929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CEF5298-A896-4E7E-B1E6-E83BDF63E3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820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判题模块重点：运行调试与正式提交分离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074711-30EF-41A4-8E08-C8C85786554B}"/>
              </a:ext>
            </a:extLst>
          </p:cNvPr>
          <p:cNvSpPr>
            <a:spLocks noGrp="1"/>
          </p:cNvSpPr>
          <p:nvPr/>
        </p:nvSpPr>
        <p:spPr>
          <a:xfrm>
            <a:off x="628650" y="895350"/>
            <a:ext cx="105156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Docker 只负责单次代码隔离执行，业务侧负责调度、状态判定和结果持久化；答辩时重点说清“先快速试运行，再正式入库判题”。</a:t>
            </a:r>
          </a:p>
        </p:txBody>
      </p:sp>
      <p:sp>
        <p:nvSpPr>
          <p:cNvPr id="80" name="compare panel"/>
          <p:cNvSpPr>
            <a:spLocks noGrp="1"/>
          </p:cNvSpPr>
          <p:nvPr/>
        </p:nvSpPr>
        <p:spPr>
          <a:xfrm>
            <a:off x="838200" y="1926168"/>
            <a:ext cx="3952875" cy="31500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81" name="compare header"/>
          <p:cNvSpPr>
            <a:spLocks noGrp="1"/>
          </p:cNvSpPr>
          <p:nvPr/>
        </p:nvSpPr>
        <p:spPr>
          <a:xfrm>
            <a:off x="838200" y="1926168"/>
            <a:ext cx="3952875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82" name="compare title"/>
          <p:cNvSpPr>
            <a:spLocks noGrp="1"/>
          </p:cNvSpPr>
          <p:nvPr/>
        </p:nvSpPr>
        <p:spPr>
          <a:xfrm>
            <a:off x="1076325" y="2021418"/>
            <a:ext cx="3381375" cy="228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两种操作的差别</a:t>
            </a:r>
          </a:p>
        </p:txBody>
      </p:sp>
      <p:sp>
        <p:nvSpPr>
          <p:cNvPr id="83" name="compare badge"/>
          <p:cNvSpPr>
            <a:spLocks noGrp="1"/>
          </p:cNvSpPr>
          <p:nvPr/>
        </p:nvSpPr>
        <p:spPr>
          <a:xfrm>
            <a:off x="1076325" y="249131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0A6B2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5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4" name="compare card"/>
          <p:cNvSpPr>
            <a:spLocks noGrp="1"/>
          </p:cNvSpPr>
          <p:nvPr/>
        </p:nvSpPr>
        <p:spPr>
          <a:xfrm>
            <a:off x="1647825" y="2472268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85" name="compare title"/>
          <p:cNvSpPr>
            <a:spLocks noGrp="1"/>
          </p:cNvSpPr>
          <p:nvPr/>
        </p:nvSpPr>
        <p:spPr>
          <a:xfrm>
            <a:off x="1876425" y="2567518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运行代码</a:t>
            </a:r>
          </a:p>
        </p:txBody>
      </p:sp>
      <p:sp>
        <p:nvSpPr>
          <p:cNvPr id="86" name="compare body"/>
          <p:cNvSpPr>
            <a:spLocks noGrp="1"/>
          </p:cNvSpPr>
          <p:nvPr/>
        </p:nvSpPr>
        <p:spPr>
          <a:xfrm>
            <a:off x="1876425" y="2786593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面向调试，使用样例或自定义输入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同步返回标准输出、错误信息和状态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不创建正式提交记录</a:t>
            </a:r>
          </a:p>
        </p:txBody>
      </p:sp>
      <p:sp>
        <p:nvSpPr>
          <p:cNvPr id="88" name="compare badge"/>
          <p:cNvSpPr>
            <a:spLocks noGrp="1"/>
          </p:cNvSpPr>
          <p:nvPr/>
        </p:nvSpPr>
        <p:spPr>
          <a:xfrm>
            <a:off x="1076325" y="33866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2F80ED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5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9" name="compare card"/>
          <p:cNvSpPr>
            <a:spLocks noGrp="1"/>
          </p:cNvSpPr>
          <p:nvPr/>
        </p:nvSpPr>
        <p:spPr>
          <a:xfrm>
            <a:off x="1647825" y="3367618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90" name="compare title"/>
          <p:cNvSpPr>
            <a:spLocks noGrp="1"/>
          </p:cNvSpPr>
          <p:nvPr/>
        </p:nvSpPr>
        <p:spPr>
          <a:xfrm>
            <a:off x="1876425" y="3462868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正式提交</a:t>
            </a:r>
          </a:p>
        </p:txBody>
      </p:sp>
      <p:sp>
        <p:nvSpPr>
          <p:cNvPr id="91" name="compare body"/>
          <p:cNvSpPr>
            <a:spLocks noGrp="1"/>
          </p:cNvSpPr>
          <p:nvPr/>
        </p:nvSpPr>
        <p:spPr>
          <a:xfrm>
            <a:off x="1876425" y="3681943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创建提交记录，先置为 QUEUED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后台线程池处理公开和隐藏用例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回写逐用例结果、总状态和训练进度</a:t>
            </a:r>
          </a:p>
        </p:txBody>
      </p:sp>
      <p:sp>
        <p:nvSpPr>
          <p:cNvPr id="93" name="compare badge"/>
          <p:cNvSpPr>
            <a:spLocks noGrp="1"/>
          </p:cNvSpPr>
          <p:nvPr/>
        </p:nvSpPr>
        <p:spPr>
          <a:xfrm>
            <a:off x="1076325" y="428201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50000"/>
              </a:lnSpc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94" name="compare card"/>
          <p:cNvSpPr>
            <a:spLocks noGrp="1"/>
          </p:cNvSpPr>
          <p:nvPr/>
        </p:nvSpPr>
        <p:spPr>
          <a:xfrm>
            <a:off x="1647825" y="4262968"/>
            <a:ext cx="2886075" cy="7239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5EDF5"/>
            </a:solidFill>
          </a:ln>
        </p:spPr>
      </p:sp>
      <p:sp>
        <p:nvSpPr>
          <p:cNvPr id="95" name="compare title"/>
          <p:cNvSpPr>
            <a:spLocks noGrp="1"/>
          </p:cNvSpPr>
          <p:nvPr/>
        </p:nvSpPr>
        <p:spPr>
          <a:xfrm>
            <a:off x="1876425" y="4358218"/>
            <a:ext cx="2381250" cy="1714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结果状态</a:t>
            </a:r>
          </a:p>
        </p:txBody>
      </p:sp>
      <p:sp>
        <p:nvSpPr>
          <p:cNvPr id="96" name="compare body"/>
          <p:cNvSpPr>
            <a:spLocks noGrp="1"/>
          </p:cNvSpPr>
          <p:nvPr/>
        </p:nvSpPr>
        <p:spPr>
          <a:xfrm>
            <a:off x="1876425" y="4577293"/>
            <a:ext cx="2381250" cy="3429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 lnSpcReduction="10000"/>
          </a:bodyPr>
          <a:lstStyle/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AC / WA / CE / RE / TLE / SYSTEM_ERROR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终态用于提交详情、提交记录和训练看板</a:t>
            </a:r>
          </a:p>
          <a:p>
            <a:pPr algn="l">
              <a:lnSpc>
                <a:spcPct val="116000"/>
              </a:lnSpc>
              <a:buNone/>
              <a:def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2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• 前端轮询查询最终判题结果</a:t>
            </a:r>
          </a:p>
        </p:txBody>
      </p:sp>
      <p:sp>
        <p:nvSpPr>
          <p:cNvPr id="100" name="flow panel vertical"/>
          <p:cNvSpPr>
            <a:spLocks noGrp="1"/>
          </p:cNvSpPr>
          <p:nvPr/>
        </p:nvSpPr>
        <p:spPr>
          <a:xfrm>
            <a:off x="5029200" y="1926168"/>
            <a:ext cx="6210300" cy="315000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9525">
            <a:solidFill>
              <a:srgbClr val="D9E2EC"/>
            </a:solidFill>
          </a:ln>
        </p:spPr>
      </p:sp>
      <p:sp>
        <p:nvSpPr>
          <p:cNvPr id="101" name="flow header vertical"/>
          <p:cNvSpPr>
            <a:spLocks noGrp="1"/>
          </p:cNvSpPr>
          <p:nvPr/>
        </p:nvSpPr>
        <p:spPr>
          <a:xfrm>
            <a:off x="5029200" y="1926168"/>
            <a:ext cx="6210300" cy="419100"/>
          </a:xfrm>
          <a:prstGeom prst="roundRect">
            <a:avLst>
              <a:gd name="adj" fmla="val 2963"/>
            </a:avLst>
          </a:prstGeom>
          <a:solidFill>
            <a:srgbClr val="F4FAFB"/>
          </a:solidFill>
          <a:ln w="9525">
            <a:solidFill>
              <a:srgbClr val="D9E2EC"/>
            </a:solidFill>
          </a:ln>
        </p:spPr>
      </p:sp>
      <p:sp>
        <p:nvSpPr>
          <p:cNvPr id="102" name="flow title vertical"/>
          <p:cNvSpPr>
            <a:spLocks noGrp="1"/>
          </p:cNvSpPr>
          <p:nvPr/>
        </p:nvSpPr>
        <p:spPr>
          <a:xfrm>
            <a:off x="5267325" y="2021418"/>
            <a:ext cx="5619750" cy="2286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6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正式提交后的判题闭环</a:t>
            </a:r>
          </a:p>
        </p:txBody>
      </p:sp>
      <p:sp>
        <p:nvSpPr>
          <p:cNvPr id="103" name="v badge 1"/>
          <p:cNvSpPr>
            <a:spLocks noGrp="1"/>
          </p:cNvSpPr>
          <p:nvPr/>
        </p:nvSpPr>
        <p:spPr>
          <a:xfrm>
            <a:off x="5267325" y="2510368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00A6B2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04" name="v title 1"/>
          <p:cNvSpPr>
            <a:spLocks noGrp="1"/>
          </p:cNvSpPr>
          <p:nvPr/>
        </p:nvSpPr>
        <p:spPr>
          <a:xfrm>
            <a:off x="5813424" y="2525186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提交接口</a:t>
            </a:r>
          </a:p>
        </p:txBody>
      </p:sp>
      <p:sp>
        <p:nvSpPr>
          <p:cNvPr id="105" name="v body 1"/>
          <p:cNvSpPr>
            <a:spLocks noGrp="1"/>
          </p:cNvSpPr>
          <p:nvPr/>
        </p:nvSpPr>
        <p:spPr>
          <a:xfrm>
            <a:off x="5813424" y="2753786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做题页调用</a:t>
            </a:r>
            <a:r>
              <a:rPr sz="760" b="0" dirty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 /</a:t>
            </a:r>
            <a:r>
              <a:rPr sz="760" b="0" dirty="0" err="1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submissions，传入语言和源码</a:t>
            </a:r>
            <a:r>
              <a:rPr sz="760" b="0" dirty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106" name="v divider 1"/>
          <p:cNvSpPr>
            <a:spLocks noGrp="1"/>
          </p:cNvSpPr>
          <p:nvPr/>
        </p:nvSpPr>
        <p:spPr>
          <a:xfrm>
            <a:off x="5267324" y="2934230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08" name="v badge 2"/>
          <p:cNvSpPr>
            <a:spLocks noGrp="1"/>
          </p:cNvSpPr>
          <p:nvPr/>
        </p:nvSpPr>
        <p:spPr>
          <a:xfrm>
            <a:off x="5267325" y="3024718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2F80ED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9" name="v title 2"/>
          <p:cNvSpPr>
            <a:spLocks noGrp="1"/>
          </p:cNvSpPr>
          <p:nvPr/>
        </p:nvSpPr>
        <p:spPr>
          <a:xfrm>
            <a:off x="5813424" y="3039536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入库排队</a:t>
            </a:r>
          </a:p>
        </p:txBody>
      </p:sp>
      <p:sp>
        <p:nvSpPr>
          <p:cNvPr id="110" name="v body 2"/>
          <p:cNvSpPr>
            <a:spLocks noGrp="1"/>
          </p:cNvSpPr>
          <p:nvPr/>
        </p:nvSpPr>
        <p:spPr>
          <a:xfrm>
            <a:off x="5813424" y="3268136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提交表记录 QUEUED，同时更新题目提交数和尝试进度。</a:t>
            </a:r>
          </a:p>
        </p:txBody>
      </p:sp>
      <p:sp>
        <p:nvSpPr>
          <p:cNvPr id="111" name="v divider 2"/>
          <p:cNvSpPr>
            <a:spLocks noGrp="1"/>
          </p:cNvSpPr>
          <p:nvPr/>
        </p:nvSpPr>
        <p:spPr>
          <a:xfrm>
            <a:off x="5267324" y="3443818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13" name="v badge 3"/>
          <p:cNvSpPr>
            <a:spLocks noGrp="1"/>
          </p:cNvSpPr>
          <p:nvPr/>
        </p:nvSpPr>
        <p:spPr>
          <a:xfrm>
            <a:off x="5267325" y="3539068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4F46E5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4" name="v title 3"/>
          <p:cNvSpPr>
            <a:spLocks noGrp="1"/>
          </p:cNvSpPr>
          <p:nvPr/>
        </p:nvSpPr>
        <p:spPr>
          <a:xfrm>
            <a:off x="5813424" y="3553886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后台执行</a:t>
            </a:r>
          </a:p>
        </p:txBody>
      </p:sp>
      <p:sp>
        <p:nvSpPr>
          <p:cNvPr id="115" name="v body 3"/>
          <p:cNvSpPr>
            <a:spLocks noGrp="1"/>
          </p:cNvSpPr>
          <p:nvPr/>
        </p:nvSpPr>
        <p:spPr>
          <a:xfrm>
            <a:off x="5813424" y="3782486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事务提交后进入判题线程池，状态切到 RUNNING。</a:t>
            </a:r>
          </a:p>
        </p:txBody>
      </p:sp>
      <p:sp>
        <p:nvSpPr>
          <p:cNvPr id="116" name="v divider 3"/>
          <p:cNvSpPr>
            <a:spLocks noGrp="1"/>
          </p:cNvSpPr>
          <p:nvPr/>
        </p:nvSpPr>
        <p:spPr>
          <a:xfrm>
            <a:off x="5267324" y="3976971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18" name="v badge 4"/>
          <p:cNvSpPr>
            <a:spLocks noGrp="1"/>
          </p:cNvSpPr>
          <p:nvPr/>
        </p:nvSpPr>
        <p:spPr>
          <a:xfrm>
            <a:off x="5267325" y="4053418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19" name="v title 4"/>
          <p:cNvSpPr>
            <a:spLocks noGrp="1"/>
          </p:cNvSpPr>
          <p:nvPr/>
        </p:nvSpPr>
        <p:spPr>
          <a:xfrm>
            <a:off x="5813424" y="4068236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容器判题</a:t>
            </a:r>
          </a:p>
        </p:txBody>
      </p:sp>
      <p:sp>
        <p:nvSpPr>
          <p:cNvPr id="120" name="v body 4"/>
          <p:cNvSpPr>
            <a:spLocks noGrp="1"/>
          </p:cNvSpPr>
          <p:nvPr/>
        </p:nvSpPr>
        <p:spPr>
          <a:xfrm>
            <a:off x="5813424" y="4296836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DockerCodeExecutionService 在无网络、限资源的临时容器内编译运行。</a:t>
            </a:r>
          </a:p>
        </p:txBody>
      </p:sp>
      <p:sp>
        <p:nvSpPr>
          <p:cNvPr id="121" name="v divider 4"/>
          <p:cNvSpPr>
            <a:spLocks noGrp="1"/>
          </p:cNvSpPr>
          <p:nvPr/>
        </p:nvSpPr>
        <p:spPr>
          <a:xfrm>
            <a:off x="5267323" y="4485618"/>
            <a:ext cx="5572125" cy="28575"/>
          </a:xfrm>
          <a:prstGeom prst="rect">
            <a:avLst/>
          </a:prstGeom>
          <a:solidFill>
            <a:srgbClr val="E5EDF5"/>
          </a:solidFill>
          <a:ln w="9525">
            <a:noFill/>
          </a:ln>
        </p:spPr>
      </p:sp>
      <p:sp>
        <p:nvSpPr>
          <p:cNvPr id="123" name="v badge 5"/>
          <p:cNvSpPr>
            <a:spLocks noGrp="1"/>
          </p:cNvSpPr>
          <p:nvPr/>
        </p:nvSpPr>
        <p:spPr>
          <a:xfrm>
            <a:off x="5267325" y="4567768"/>
            <a:ext cx="381000" cy="381000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200000"/>
              </a:lnSpc>
              <a:buNone/>
              <a:def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24" name="v title 5"/>
          <p:cNvSpPr>
            <a:spLocks noGrp="1"/>
          </p:cNvSpPr>
          <p:nvPr/>
        </p:nvSpPr>
        <p:spPr>
          <a:xfrm>
            <a:off x="5813424" y="4582586"/>
            <a:ext cx="1524000" cy="20955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8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结果展示</a:t>
            </a:r>
          </a:p>
        </p:txBody>
      </p:sp>
      <p:sp>
        <p:nvSpPr>
          <p:cNvPr id="125" name="v body 5"/>
          <p:cNvSpPr>
            <a:spLocks noGrp="1"/>
          </p:cNvSpPr>
          <p:nvPr/>
        </p:nvSpPr>
        <p:spPr>
          <a:xfrm>
            <a:off x="5813424" y="4811186"/>
            <a:ext cx="4686300" cy="266700"/>
          </a:xfrm>
          <a:prstGeom prst="rect">
            <a:avLst/>
          </a:prstGeom>
          <a:noFill/>
          <a:ln w="9525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6000"/>
              </a:lnSpc>
              <a:buNone/>
              <a:def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60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结果写入数据库，前端按提交 ID 轮询并展示状态和用例细节。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8B1E224-5360-4C00-9B5A-10A4FEFF3784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E5DB23E-66DD-4A31-A725-6CF04AC94D1B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07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13142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本框 21">
            <a:extLst>
              <a:ext uri="{FF2B5EF4-FFF2-40B4-BE49-F238E27FC236}">
                <a16:creationId xmlns:a16="http://schemas.microsoft.com/office/drawing/2014/main" id="{0E33A588-5FF5-458A-99B1-699202E638F5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权限与账号：</a:t>
            </a:r>
            <a:r>
              <a:rPr lang="en-US" altLang="zh-CN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JWT </a:t>
            </a:r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登录态 </a:t>
            </a:r>
            <a:r>
              <a:rPr lang="en-US" altLang="zh-CN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+ USER / ADMIN </a:t>
            </a:r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边界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7D35433E-4D6D-42A1-BD97-3F5F2CFA80B2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认证负责“是谁”，角色负责“能访问哪些页面和接口”。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D566AC3-B49B-419B-B8F8-21F82AF4D6BB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D8BF0763-CC23-4685-B622-35CCF1DFA933}"/>
              </a:ext>
            </a:extLst>
          </p:cNvPr>
          <p:cNvSpPr/>
          <p:nvPr/>
        </p:nvSpPr>
        <p:spPr>
          <a:xfrm>
            <a:off x="1397000" y="1841500"/>
            <a:ext cx="609600" cy="609600"/>
          </a:xfrm>
          <a:prstGeom prst="ellipse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C28B9D8-6B5A-45FD-B065-4DC4A58A96A9}"/>
              </a:ext>
            </a:extLst>
          </p:cNvPr>
          <p:cNvSpPr txBox="1"/>
          <p:nvPr/>
        </p:nvSpPr>
        <p:spPr>
          <a:xfrm>
            <a:off x="1638479" y="2020195"/>
            <a:ext cx="177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1</a:t>
            </a:r>
            <a:endParaRPr lang="zh-CN" altLang="en-US" sz="1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D8D3C83D-1291-4DF5-96A8-488120215B41}"/>
              </a:ext>
            </a:extLst>
          </p:cNvPr>
          <p:cNvSpPr txBox="1"/>
          <p:nvPr/>
        </p:nvSpPr>
        <p:spPr>
          <a:xfrm>
            <a:off x="1075267" y="26035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登录认证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0F762AF-DB5A-48EB-9D6A-ACED682BB666}"/>
              </a:ext>
            </a:extLst>
          </p:cNvPr>
          <p:cNvSpPr/>
          <p:nvPr/>
        </p:nvSpPr>
        <p:spPr>
          <a:xfrm>
            <a:off x="2133600" y="2133600"/>
            <a:ext cx="1168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5BE371C-EF5F-4327-B7EB-0319EF88A6BC}"/>
              </a:ext>
            </a:extLst>
          </p:cNvPr>
          <p:cNvSpPr/>
          <p:nvPr/>
        </p:nvSpPr>
        <p:spPr>
          <a:xfrm>
            <a:off x="3429000" y="1841500"/>
            <a:ext cx="609600" cy="609600"/>
          </a:xfrm>
          <a:prstGeom prst="ellipse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A420BA13-D63C-49C5-9434-9943B60D0A96}"/>
              </a:ext>
            </a:extLst>
          </p:cNvPr>
          <p:cNvSpPr txBox="1"/>
          <p:nvPr/>
        </p:nvSpPr>
        <p:spPr>
          <a:xfrm>
            <a:off x="3670479" y="2020195"/>
            <a:ext cx="177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endParaRPr lang="zh-CN" altLang="en-US" sz="1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B950B5C9-0406-4743-B9A0-93B98D7DE0B4}"/>
              </a:ext>
            </a:extLst>
          </p:cNvPr>
          <p:cNvSpPr txBox="1"/>
          <p:nvPr/>
        </p:nvSpPr>
        <p:spPr>
          <a:xfrm>
            <a:off x="3107267" y="26035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签发访问令牌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84B61B9-0329-4064-A0F3-AD944F678D1D}"/>
              </a:ext>
            </a:extLst>
          </p:cNvPr>
          <p:cNvSpPr/>
          <p:nvPr/>
        </p:nvSpPr>
        <p:spPr>
          <a:xfrm>
            <a:off x="4165600" y="2133600"/>
            <a:ext cx="1168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11D00F16-92E0-432D-BB81-FBE56134C0FF}"/>
              </a:ext>
            </a:extLst>
          </p:cNvPr>
          <p:cNvSpPr/>
          <p:nvPr/>
        </p:nvSpPr>
        <p:spPr>
          <a:xfrm>
            <a:off x="5461000" y="1841500"/>
            <a:ext cx="609600" cy="609600"/>
          </a:xfrm>
          <a:prstGeom prst="ellipse">
            <a:avLst/>
          </a:prstGeom>
          <a:solidFill>
            <a:srgbClr val="545AD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F6B4FC7-43E6-4721-97E8-2998CB88EF84}"/>
              </a:ext>
            </a:extLst>
          </p:cNvPr>
          <p:cNvSpPr txBox="1"/>
          <p:nvPr/>
        </p:nvSpPr>
        <p:spPr>
          <a:xfrm>
            <a:off x="5702479" y="2020195"/>
            <a:ext cx="177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endParaRPr lang="zh-CN" altLang="en-US" sz="1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726919E-F5C2-4929-AECE-77BB962D5695}"/>
              </a:ext>
            </a:extLst>
          </p:cNvPr>
          <p:cNvSpPr txBox="1"/>
          <p:nvPr/>
        </p:nvSpPr>
        <p:spPr>
          <a:xfrm>
            <a:off x="5139267" y="26035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路由守卫校验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D7574C6-6252-4133-A91C-435C59C48AA5}"/>
              </a:ext>
            </a:extLst>
          </p:cNvPr>
          <p:cNvSpPr/>
          <p:nvPr/>
        </p:nvSpPr>
        <p:spPr>
          <a:xfrm>
            <a:off x="6197600" y="2133600"/>
            <a:ext cx="1168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C7938872-5A06-4D2D-8EA3-C4BE0609FC35}"/>
              </a:ext>
            </a:extLst>
          </p:cNvPr>
          <p:cNvSpPr/>
          <p:nvPr/>
        </p:nvSpPr>
        <p:spPr>
          <a:xfrm>
            <a:off x="7493000" y="1841500"/>
            <a:ext cx="609600" cy="609600"/>
          </a:xfrm>
          <a:prstGeom prst="ellipse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370DA941-471F-4742-926F-9915D6C03CDC}"/>
              </a:ext>
            </a:extLst>
          </p:cNvPr>
          <p:cNvSpPr txBox="1"/>
          <p:nvPr/>
        </p:nvSpPr>
        <p:spPr>
          <a:xfrm>
            <a:off x="7734479" y="2020195"/>
            <a:ext cx="177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endParaRPr lang="zh-CN" altLang="en-US" sz="1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21E86536-1FC5-4133-BD42-CFC9F50B6D68}"/>
              </a:ext>
            </a:extLst>
          </p:cNvPr>
          <p:cNvSpPr txBox="1"/>
          <p:nvPr/>
        </p:nvSpPr>
        <p:spPr>
          <a:xfrm>
            <a:off x="7171267" y="26035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接口角色校验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1A155CC-EFAC-4DEE-A366-E228BE87BADA}"/>
              </a:ext>
            </a:extLst>
          </p:cNvPr>
          <p:cNvSpPr/>
          <p:nvPr/>
        </p:nvSpPr>
        <p:spPr>
          <a:xfrm>
            <a:off x="8229600" y="2133600"/>
            <a:ext cx="1168400" cy="25400"/>
          </a:xfrm>
          <a:prstGeom prst="rect">
            <a:avLst/>
          </a:prstGeom>
          <a:solidFill>
            <a:srgbClr val="B8C9D7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9F1002C2-E822-448C-90C3-85A17FBB8F6A}"/>
              </a:ext>
            </a:extLst>
          </p:cNvPr>
          <p:cNvSpPr/>
          <p:nvPr/>
        </p:nvSpPr>
        <p:spPr>
          <a:xfrm>
            <a:off x="9525000" y="1841500"/>
            <a:ext cx="609600" cy="609600"/>
          </a:xfrm>
          <a:prstGeom prst="ellipse">
            <a:avLst/>
          </a:prstGeom>
          <a:solidFill>
            <a:srgbClr val="F59D0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B9A1DDF-546A-463C-8CE5-2EC3557B0953}"/>
              </a:ext>
            </a:extLst>
          </p:cNvPr>
          <p:cNvSpPr txBox="1"/>
          <p:nvPr/>
        </p:nvSpPr>
        <p:spPr>
          <a:xfrm>
            <a:off x="9766479" y="2020195"/>
            <a:ext cx="1778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600" b="1">
                <a:solidFill>
                  <a:srgbClr val="FFFFFF"/>
                </a:solidFill>
                <a:latin typeface="Microsoft YaHei" panose="020B0503020204020204" pitchFamily="34" charset="-122"/>
              </a:rPr>
              <a:t>5</a:t>
            </a:r>
            <a:endParaRPr lang="zh-CN" altLang="en-US" sz="1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A36E5E6B-34B1-4705-B4EE-5029EC73BD44}"/>
              </a:ext>
            </a:extLst>
          </p:cNvPr>
          <p:cNvSpPr txBox="1"/>
          <p:nvPr/>
        </p:nvSpPr>
        <p:spPr>
          <a:xfrm>
            <a:off x="9203267" y="2603500"/>
            <a:ext cx="1270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刷新</a:t>
            </a:r>
            <a:r>
              <a:rPr lang="en-US" altLang="zh-CN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退出处理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E330C3C3-AEF6-412B-A0B2-FE1A1130D11A}"/>
              </a:ext>
            </a:extLst>
          </p:cNvPr>
          <p:cNvSpPr/>
          <p:nvPr/>
        </p:nvSpPr>
        <p:spPr>
          <a:xfrm>
            <a:off x="1778000" y="3581400"/>
            <a:ext cx="3619500" cy="1676400"/>
          </a:xfrm>
          <a:prstGeom prst="roundRect">
            <a:avLst/>
          </a:prstGeom>
          <a:solidFill>
            <a:srgbClr val="FCFBF2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1EE800C-9841-474E-8D26-9E11189808BC}"/>
              </a:ext>
            </a:extLst>
          </p:cNvPr>
          <p:cNvSpPr/>
          <p:nvPr/>
        </p:nvSpPr>
        <p:spPr>
          <a:xfrm>
            <a:off x="1854200" y="3708400"/>
            <a:ext cx="50800" cy="142240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F42CF98-AFF5-4D5B-8384-B94B50834CC8}"/>
              </a:ext>
            </a:extLst>
          </p:cNvPr>
          <p:cNvSpPr txBox="1"/>
          <p:nvPr/>
        </p:nvSpPr>
        <p:spPr>
          <a:xfrm>
            <a:off x="3028947" y="3808508"/>
            <a:ext cx="114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rgbClr val="0AA0A9"/>
                </a:solidFill>
                <a:latin typeface="Microsoft YaHei" panose="020B0503020204020204" pitchFamily="34" charset="-122"/>
              </a:rPr>
              <a:t>USER</a:t>
            </a:r>
            <a:endParaRPr lang="zh-CN" altLang="en-US" sz="2000" b="1" dirty="0">
              <a:solidFill>
                <a:srgbClr val="0AA0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D7DDB14B-7249-474B-A95D-3B505302198C}"/>
              </a:ext>
            </a:extLst>
          </p:cNvPr>
          <p:cNvSpPr txBox="1"/>
          <p:nvPr/>
        </p:nvSpPr>
        <p:spPr>
          <a:xfrm>
            <a:off x="2616197" y="4419597"/>
            <a:ext cx="19685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300" dirty="0">
                <a:solidFill>
                  <a:srgbClr val="091424"/>
                </a:solidFill>
                <a:latin typeface="Microsoft YaHei" panose="020B0503020204020204" pitchFamily="34" charset="-122"/>
              </a:rPr>
              <a:t>题库浏览
在线做题与提交
个人中心与训练看板</a:t>
            </a:r>
          </a:p>
        </p:txBody>
      </p:sp>
      <p:sp>
        <p:nvSpPr>
          <p:cNvPr id="48" name="矩形: 圆角 47">
            <a:extLst>
              <a:ext uri="{FF2B5EF4-FFF2-40B4-BE49-F238E27FC236}">
                <a16:creationId xmlns:a16="http://schemas.microsoft.com/office/drawing/2014/main" id="{519743E1-BE2A-40B6-B60B-1076629A2318}"/>
              </a:ext>
            </a:extLst>
          </p:cNvPr>
          <p:cNvSpPr/>
          <p:nvPr/>
        </p:nvSpPr>
        <p:spPr>
          <a:xfrm>
            <a:off x="6794500" y="3581400"/>
            <a:ext cx="3619500" cy="1676400"/>
          </a:xfrm>
          <a:prstGeom prst="roundRect">
            <a:avLst/>
          </a:prstGeom>
          <a:solidFill>
            <a:srgbClr val="FDFAF7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6B71F72-D64D-436A-AE13-20E701FC40B5}"/>
              </a:ext>
            </a:extLst>
          </p:cNvPr>
          <p:cNvSpPr/>
          <p:nvPr/>
        </p:nvSpPr>
        <p:spPr>
          <a:xfrm>
            <a:off x="6870700" y="3708400"/>
            <a:ext cx="50800" cy="1422400"/>
          </a:xfrm>
          <a:prstGeom prst="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71B62415-8DDC-4181-8BD3-535829D8C6CE}"/>
              </a:ext>
            </a:extLst>
          </p:cNvPr>
          <p:cNvSpPr txBox="1"/>
          <p:nvPr/>
        </p:nvSpPr>
        <p:spPr>
          <a:xfrm>
            <a:off x="7994647" y="3814229"/>
            <a:ext cx="1397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altLang="zh-CN" sz="2000" b="1" dirty="0">
                <a:solidFill>
                  <a:srgbClr val="216BB0"/>
                </a:solidFill>
                <a:latin typeface="Microsoft YaHei" panose="020B0503020204020204" pitchFamily="34" charset="-122"/>
              </a:rPr>
              <a:t>ADMIN</a:t>
            </a:r>
            <a:endParaRPr lang="zh-CN" altLang="en-US" sz="2000" b="1" dirty="0">
              <a:solidFill>
                <a:srgbClr val="216BB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D4413CB-E6AB-4BEF-B818-2C05DA8E931A}"/>
              </a:ext>
            </a:extLst>
          </p:cNvPr>
          <p:cNvSpPr txBox="1"/>
          <p:nvPr/>
        </p:nvSpPr>
        <p:spPr>
          <a:xfrm>
            <a:off x="7645397" y="4419597"/>
            <a:ext cx="2095500" cy="6001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1300" dirty="0">
                <a:solidFill>
                  <a:srgbClr val="091424"/>
                </a:solidFill>
                <a:latin typeface="Microsoft YaHei" panose="020B0503020204020204" pitchFamily="34" charset="-122"/>
              </a:rPr>
              <a:t>用户与题目维护
测试用例和标签维护
判题环境检查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254F2DB3-18DF-4019-AB17-C87CFD802456}"/>
              </a:ext>
            </a:extLst>
          </p:cNvPr>
          <p:cNvSpPr/>
          <p:nvPr/>
        </p:nvSpPr>
        <p:spPr>
          <a:xfrm>
            <a:off x="2159000" y="5715000"/>
            <a:ext cx="7874000" cy="406400"/>
          </a:xfrm>
          <a:prstGeom prst="roundRect">
            <a:avLst/>
          </a:prstGeom>
          <a:solidFill>
            <a:srgbClr val="FCFBF2"/>
          </a:solidFill>
          <a:ln>
            <a:solidFill>
              <a:srgbClr val="EFEC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70C660F-DAE5-4637-8065-377E57846736}"/>
              </a:ext>
            </a:extLst>
          </p:cNvPr>
          <p:cNvSpPr txBox="1"/>
          <p:nvPr/>
        </p:nvSpPr>
        <p:spPr>
          <a:xfrm>
            <a:off x="2667000" y="5842000"/>
            <a:ext cx="6858000" cy="14619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50" b="1" dirty="0">
                <a:solidFill>
                  <a:srgbClr val="091424"/>
                </a:solidFill>
                <a:latin typeface="Microsoft YaHei" panose="020B0503020204020204" pitchFamily="34" charset="-122"/>
              </a:rPr>
              <a:t>权限边界：普通用户不能进入后台，管理员可以访问管理端。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355A5E4-5100-4097-904D-0B5F6D97F833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977C06A-D27A-432A-A101-6EE9D713953C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08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23275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B4DD586F-0797-4636-BF30-182C53D09A92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 dirty="0">
                <a:solidFill>
                  <a:srgbClr val="091424"/>
                </a:solidFill>
                <a:latin typeface="Microsoft YaHei" panose="020B0503020204020204" pitchFamily="34" charset="-122"/>
              </a:rPr>
              <a:t>数据库设计：按业务域说清表的职责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FA28D1C-C558-466B-AEAA-567ABE8CB9E7}"/>
              </a:ext>
            </a:extLst>
          </p:cNvPr>
          <p:cNvSpPr txBox="1"/>
          <p:nvPr/>
        </p:nvSpPr>
        <p:spPr>
          <a:xfrm>
            <a:off x="609600" y="946466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数据库设计围绕题库、提交、训练和权限等业务域展开，核心表结构由 </a:t>
            </a:r>
            <a:r>
              <a:rPr lang="en-US" altLang="zh-CN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Flyway </a:t>
            </a:r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迁移脚本统一维护。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7888AAA-9BD2-48D7-80C8-E8B1F3EADE95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E3FBB92-1262-4A73-A205-69128B5E382C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6511B5C-E6ED-4167-96E1-1DE9DDDD58AA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09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579266-EA61-446E-8A19-61A8782F4B69}"/>
              </a:ext>
            </a:extLst>
          </p:cNvPr>
          <p:cNvSpPr/>
          <p:nvPr/>
        </p:nvSpPr>
        <p:spPr>
          <a:xfrm>
            <a:off x="889000" y="1782241"/>
            <a:ext cx="10414000" cy="3911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4DEE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43AE1F9-DB1E-41C0-88DC-EC1C0B2011CE}"/>
              </a:ext>
            </a:extLst>
          </p:cNvPr>
          <p:cNvSpPr/>
          <p:nvPr/>
        </p:nvSpPr>
        <p:spPr>
          <a:xfrm>
            <a:off x="889000" y="1782241"/>
            <a:ext cx="10414000" cy="482600"/>
          </a:xfrm>
          <a:prstGeom prst="rect">
            <a:avLst/>
          </a:prstGeom>
          <a:solidFill>
            <a:srgbClr val="F7F7F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C436E42-F5C2-4D1B-8C93-91B2E718437D}"/>
              </a:ext>
            </a:extLst>
          </p:cNvPr>
          <p:cNvSpPr txBox="1"/>
          <p:nvPr/>
        </p:nvSpPr>
        <p:spPr>
          <a:xfrm>
            <a:off x="1206500" y="1934641"/>
            <a:ext cx="152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业务域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1BADABC-DD79-438C-A3C0-7D6935306512}"/>
              </a:ext>
            </a:extLst>
          </p:cNvPr>
          <p:cNvSpPr txBox="1"/>
          <p:nvPr/>
        </p:nvSpPr>
        <p:spPr>
          <a:xfrm>
            <a:off x="3175000" y="1934641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主要表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522B2B12-41AC-47A7-83A0-A1BEB1D975B0}"/>
              </a:ext>
            </a:extLst>
          </p:cNvPr>
          <p:cNvSpPr txBox="1"/>
          <p:nvPr/>
        </p:nvSpPr>
        <p:spPr>
          <a:xfrm>
            <a:off x="7112000" y="1934641"/>
            <a:ext cx="330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5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作用</a:t>
            </a: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08A76495-CE7D-4310-B38F-5AA5B1560542}"/>
              </a:ext>
            </a:extLst>
          </p:cNvPr>
          <p:cNvCxnSpPr/>
          <p:nvPr/>
        </p:nvCxnSpPr>
        <p:spPr>
          <a:xfrm>
            <a:off x="889000" y="2264841"/>
            <a:ext cx="10414000" cy="0"/>
          </a:xfrm>
          <a:prstGeom prst="line">
            <a:avLst/>
          </a:prstGeom>
          <a:ln w="10160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矩形 49">
            <a:extLst>
              <a:ext uri="{FF2B5EF4-FFF2-40B4-BE49-F238E27FC236}">
                <a16:creationId xmlns:a16="http://schemas.microsoft.com/office/drawing/2014/main" id="{A9890C79-E954-41EB-86EC-48B09C8B7DE7}"/>
              </a:ext>
            </a:extLst>
          </p:cNvPr>
          <p:cNvSpPr/>
          <p:nvPr/>
        </p:nvSpPr>
        <p:spPr>
          <a:xfrm>
            <a:off x="1117600" y="2421474"/>
            <a:ext cx="50800" cy="241300"/>
          </a:xfrm>
          <a:prstGeom prst="rect">
            <a:avLst/>
          </a:prstGeom>
          <a:solidFill>
            <a:srgbClr val="13A6AA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1FB2DC5-4517-469A-A2DA-64EE0538FE8F}"/>
              </a:ext>
            </a:extLst>
          </p:cNvPr>
          <p:cNvSpPr txBox="1"/>
          <p:nvPr/>
        </p:nvSpPr>
        <p:spPr>
          <a:xfrm>
            <a:off x="1270000" y="24553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题库与测试用例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D7DAADE-3020-4D01-A2EF-7220BB6BE0F0}"/>
              </a:ext>
            </a:extLst>
          </p:cNvPr>
          <p:cNvSpPr txBox="1"/>
          <p:nvPr/>
        </p:nvSpPr>
        <p:spPr>
          <a:xfrm>
            <a:off x="3175000" y="2455342"/>
            <a:ext cx="3810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problem / tag / problem_tag / problem_test_case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088CB78-D854-4862-AD08-5595DD497672}"/>
              </a:ext>
            </a:extLst>
          </p:cNvPr>
          <p:cNvSpPr txBox="1"/>
          <p:nvPr/>
        </p:nvSpPr>
        <p:spPr>
          <a:xfrm>
            <a:off x="7112000" y="2455342"/>
            <a:ext cx="3619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管理题目、标签与判题用例</a:t>
            </a:r>
          </a:p>
        </p:txBody>
      </p: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2C9E9F4-9665-4D46-ACC7-47905D53D642}"/>
              </a:ext>
            </a:extLst>
          </p:cNvPr>
          <p:cNvCxnSpPr/>
          <p:nvPr/>
        </p:nvCxnSpPr>
        <p:spPr>
          <a:xfrm>
            <a:off x="1117600" y="2836341"/>
            <a:ext cx="9956800" cy="0"/>
          </a:xfrm>
          <a:prstGeom prst="line">
            <a:avLst/>
          </a:prstGeom>
          <a:ln w="8255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>
            <a:extLst>
              <a:ext uri="{FF2B5EF4-FFF2-40B4-BE49-F238E27FC236}">
                <a16:creationId xmlns:a16="http://schemas.microsoft.com/office/drawing/2014/main" id="{13EF781A-ECAB-4788-9350-744B62136783}"/>
              </a:ext>
            </a:extLst>
          </p:cNvPr>
          <p:cNvSpPr/>
          <p:nvPr/>
        </p:nvSpPr>
        <p:spPr>
          <a:xfrm>
            <a:off x="1117600" y="2992974"/>
            <a:ext cx="50800" cy="241300"/>
          </a:xfrm>
          <a:prstGeom prst="rect">
            <a:avLst/>
          </a:prstGeom>
          <a:solidFill>
            <a:srgbClr val="2A6FB3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6A9C910C-6709-43D8-B428-E2077F69E329}"/>
              </a:ext>
            </a:extLst>
          </p:cNvPr>
          <p:cNvSpPr txBox="1"/>
          <p:nvPr/>
        </p:nvSpPr>
        <p:spPr>
          <a:xfrm>
            <a:off x="1270000" y="30268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提交与判题结果</a:t>
            </a: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DE3C8717-4715-45EC-8C98-9E034343F3DF}"/>
              </a:ext>
            </a:extLst>
          </p:cNvPr>
          <p:cNvSpPr txBox="1"/>
          <p:nvPr/>
        </p:nvSpPr>
        <p:spPr>
          <a:xfrm>
            <a:off x="3175000" y="3026842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submission / submission_case_result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E22A36D5-9E16-4CB9-A206-DB00C9C769B3}"/>
              </a:ext>
            </a:extLst>
          </p:cNvPr>
          <p:cNvSpPr txBox="1"/>
          <p:nvPr/>
        </p:nvSpPr>
        <p:spPr>
          <a:xfrm>
            <a:off x="7112000" y="3026842"/>
            <a:ext cx="3619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记录提交状态和逐用例结果</a:t>
            </a:r>
          </a:p>
        </p:txBody>
      </p:sp>
      <p:cxnSp>
        <p:nvCxnSpPr>
          <p:cNvPr id="59" name="直接连接符 58">
            <a:extLst>
              <a:ext uri="{FF2B5EF4-FFF2-40B4-BE49-F238E27FC236}">
                <a16:creationId xmlns:a16="http://schemas.microsoft.com/office/drawing/2014/main" id="{EF6A46EC-2E8D-4400-ABD6-197D8771EEC9}"/>
              </a:ext>
            </a:extLst>
          </p:cNvPr>
          <p:cNvCxnSpPr/>
          <p:nvPr/>
        </p:nvCxnSpPr>
        <p:spPr>
          <a:xfrm>
            <a:off x="1117600" y="3407841"/>
            <a:ext cx="9956800" cy="0"/>
          </a:xfrm>
          <a:prstGeom prst="line">
            <a:avLst/>
          </a:prstGeom>
          <a:ln w="8255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A81D3BFD-2EDC-46C7-9BDA-1275861C5732}"/>
              </a:ext>
            </a:extLst>
          </p:cNvPr>
          <p:cNvSpPr/>
          <p:nvPr/>
        </p:nvSpPr>
        <p:spPr>
          <a:xfrm>
            <a:off x="1117600" y="3564474"/>
            <a:ext cx="50800" cy="241300"/>
          </a:xfrm>
          <a:prstGeom prst="rect">
            <a:avLst/>
          </a:prstGeom>
          <a:solidFill>
            <a:srgbClr val="5A56D8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70E70BC-27BC-43AD-A66E-401B1FE4BE7D}"/>
              </a:ext>
            </a:extLst>
          </p:cNvPr>
          <p:cNvSpPr txBox="1"/>
          <p:nvPr/>
        </p:nvSpPr>
        <p:spPr>
          <a:xfrm>
            <a:off x="1270000" y="35983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训练与代码草稿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2FD68952-0F8B-4132-899A-63B52642B1D9}"/>
              </a:ext>
            </a:extLst>
          </p:cNvPr>
          <p:cNvSpPr txBox="1"/>
          <p:nvPr/>
        </p:nvSpPr>
        <p:spPr>
          <a:xfrm>
            <a:off x="3175000" y="3598342"/>
            <a:ext cx="3810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user_problem_progress / problem_code_draft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B32B5B34-FD1A-4985-9E07-E51DC5304AE4}"/>
              </a:ext>
            </a:extLst>
          </p:cNvPr>
          <p:cNvSpPr txBox="1"/>
          <p:nvPr/>
        </p:nvSpPr>
        <p:spPr>
          <a:xfrm>
            <a:off x="7112000" y="3598342"/>
            <a:ext cx="3619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支撑训练看板和编辑器自动恢复</a:t>
            </a:r>
          </a:p>
        </p:txBody>
      </p:sp>
      <p:cxnSp>
        <p:nvCxnSpPr>
          <p:cNvPr id="64" name="直接连接符 63">
            <a:extLst>
              <a:ext uri="{FF2B5EF4-FFF2-40B4-BE49-F238E27FC236}">
                <a16:creationId xmlns:a16="http://schemas.microsoft.com/office/drawing/2014/main" id="{BD4F1C4C-C1F9-46B3-AC16-74F37440ACD4}"/>
              </a:ext>
            </a:extLst>
          </p:cNvPr>
          <p:cNvCxnSpPr/>
          <p:nvPr/>
        </p:nvCxnSpPr>
        <p:spPr>
          <a:xfrm>
            <a:off x="1117600" y="3979341"/>
            <a:ext cx="9956800" cy="0"/>
          </a:xfrm>
          <a:prstGeom prst="line">
            <a:avLst/>
          </a:prstGeom>
          <a:ln w="8255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矩形 64">
            <a:extLst>
              <a:ext uri="{FF2B5EF4-FFF2-40B4-BE49-F238E27FC236}">
                <a16:creationId xmlns:a16="http://schemas.microsoft.com/office/drawing/2014/main" id="{4200D864-3152-41BE-92BA-6B1B6A89955C}"/>
              </a:ext>
            </a:extLst>
          </p:cNvPr>
          <p:cNvSpPr/>
          <p:nvPr/>
        </p:nvSpPr>
        <p:spPr>
          <a:xfrm>
            <a:off x="1117600" y="4135974"/>
            <a:ext cx="50800" cy="241300"/>
          </a:xfrm>
          <a:prstGeom prst="rect">
            <a:avLst/>
          </a:prstGeom>
          <a:solidFill>
            <a:srgbClr val="18B97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22C98090-1085-4602-8704-6A6CE8061ACE}"/>
              </a:ext>
            </a:extLst>
          </p:cNvPr>
          <p:cNvSpPr txBox="1"/>
          <p:nvPr/>
        </p:nvSpPr>
        <p:spPr>
          <a:xfrm>
            <a:off x="1270000" y="41698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用户与权限</a:t>
            </a: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FB0131CD-A167-461F-9908-DE128B43744D}"/>
              </a:ext>
            </a:extLst>
          </p:cNvPr>
          <p:cNvSpPr txBox="1"/>
          <p:nvPr/>
        </p:nvSpPr>
        <p:spPr>
          <a:xfrm>
            <a:off x="3175000" y="4169842"/>
            <a:ext cx="3810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user / user_profile / role / user_role / permission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994B7BEE-9ADC-4FCE-9EF1-B84439907F7A}"/>
              </a:ext>
            </a:extLst>
          </p:cNvPr>
          <p:cNvSpPr txBox="1"/>
          <p:nvPr/>
        </p:nvSpPr>
        <p:spPr>
          <a:xfrm>
            <a:off x="7112000" y="4169842"/>
            <a:ext cx="36195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管理登录身份、个人资料和权限边界</a:t>
            </a: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1AB8F013-9C36-4C22-B9C3-34323317E6CD}"/>
              </a:ext>
            </a:extLst>
          </p:cNvPr>
          <p:cNvCxnSpPr/>
          <p:nvPr/>
        </p:nvCxnSpPr>
        <p:spPr>
          <a:xfrm>
            <a:off x="1117600" y="4550841"/>
            <a:ext cx="9956800" cy="0"/>
          </a:xfrm>
          <a:prstGeom prst="line">
            <a:avLst/>
          </a:prstGeom>
          <a:ln w="8255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矩形 69">
            <a:extLst>
              <a:ext uri="{FF2B5EF4-FFF2-40B4-BE49-F238E27FC236}">
                <a16:creationId xmlns:a16="http://schemas.microsoft.com/office/drawing/2014/main" id="{68F1C320-E88A-46F5-AEBE-BDA4D8D78D2B}"/>
              </a:ext>
            </a:extLst>
          </p:cNvPr>
          <p:cNvSpPr/>
          <p:nvPr/>
        </p:nvSpPr>
        <p:spPr>
          <a:xfrm>
            <a:off x="1117600" y="4707474"/>
            <a:ext cx="50800" cy="241300"/>
          </a:xfrm>
          <a:prstGeom prst="rect">
            <a:avLst/>
          </a:prstGeom>
          <a:solidFill>
            <a:srgbClr val="F4A00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C78F739E-3237-41F9-956F-B503DF8A1724}"/>
              </a:ext>
            </a:extLst>
          </p:cNvPr>
          <p:cNvSpPr txBox="1"/>
          <p:nvPr/>
        </p:nvSpPr>
        <p:spPr>
          <a:xfrm>
            <a:off x="1270000" y="47413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组织教学域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06A9F6B5-D867-4D24-AFA6-54462DD282C1}"/>
              </a:ext>
            </a:extLst>
          </p:cNvPr>
          <p:cNvSpPr txBox="1"/>
          <p:nvPr/>
        </p:nvSpPr>
        <p:spPr>
          <a:xfrm>
            <a:off x="3175000" y="4741342"/>
            <a:ext cx="38100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school / department / class / class_user / class_teacher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F97F55DD-627D-45E0-AE26-503FB8AE120B}"/>
              </a:ext>
            </a:extLst>
          </p:cNvPr>
          <p:cNvSpPr txBox="1"/>
          <p:nvPr/>
        </p:nvSpPr>
        <p:spPr>
          <a:xfrm>
            <a:off x="7112000" y="4741342"/>
            <a:ext cx="3619500" cy="553998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保留组织扩展关系，不作为当前主线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4FDCD99A-D309-4203-B782-D06301E01811}"/>
              </a:ext>
            </a:extLst>
          </p:cNvPr>
          <p:cNvCxnSpPr/>
          <p:nvPr/>
        </p:nvCxnSpPr>
        <p:spPr>
          <a:xfrm>
            <a:off x="1117600" y="5122341"/>
            <a:ext cx="9956800" cy="0"/>
          </a:xfrm>
          <a:prstGeom prst="line">
            <a:avLst/>
          </a:prstGeom>
          <a:ln w="8255">
            <a:solidFill>
              <a:srgbClr val="D4DE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矩形 74">
            <a:extLst>
              <a:ext uri="{FF2B5EF4-FFF2-40B4-BE49-F238E27FC236}">
                <a16:creationId xmlns:a16="http://schemas.microsoft.com/office/drawing/2014/main" id="{E01ABCDC-B2BB-41A1-BF68-41CB9CE33164}"/>
              </a:ext>
            </a:extLst>
          </p:cNvPr>
          <p:cNvSpPr/>
          <p:nvPr/>
        </p:nvSpPr>
        <p:spPr>
          <a:xfrm>
            <a:off x="1117600" y="5278974"/>
            <a:ext cx="50800" cy="241300"/>
          </a:xfrm>
          <a:prstGeom prst="rect">
            <a:avLst/>
          </a:prstGeom>
          <a:solidFill>
            <a:srgbClr val="4C7DE2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70772FD9-A2A2-4665-8D63-DC9108E36045}"/>
              </a:ext>
            </a:extLst>
          </p:cNvPr>
          <p:cNvSpPr txBox="1"/>
          <p:nvPr/>
        </p:nvSpPr>
        <p:spPr>
          <a:xfrm>
            <a:off x="1270000" y="5312842"/>
            <a:ext cx="1714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1020" b="1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账号安全补充</a:t>
            </a: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702B3414-B331-4CF8-907D-367DCC847C78}"/>
              </a:ext>
            </a:extLst>
          </p:cNvPr>
          <p:cNvSpPr txBox="1"/>
          <p:nvPr/>
        </p:nvSpPr>
        <p:spPr>
          <a:xfrm>
            <a:off x="3175000" y="5312842"/>
            <a:ext cx="381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altLang="zh-CN" sz="980">
                <a:solidFill>
                  <a:srgbClr val="07112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password_reset_request</a:t>
            </a:r>
            <a:endParaRPr lang="zh-CN" altLang="en-US" sz="980">
              <a:solidFill>
                <a:srgbClr val="07112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D8B922FE-9D3B-4095-ACAB-78FDD78358F6}"/>
              </a:ext>
            </a:extLst>
          </p:cNvPr>
          <p:cNvSpPr txBox="1"/>
          <p:nvPr/>
        </p:nvSpPr>
        <p:spPr>
          <a:xfrm>
            <a:off x="7112000" y="5312842"/>
            <a:ext cx="3619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zh-CN" altLang="en-US" sz="950">
                <a:solidFill>
                  <a:srgbClr val="47658A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保存忘记密码的审批请求</a:t>
            </a:r>
          </a:p>
        </p:txBody>
      </p:sp>
    </p:spTree>
    <p:extLst>
      <p:ext uri="{BB962C8B-B14F-4D97-AF65-F5344CB8AC3E}">
        <p14:creationId xmlns:p14="http://schemas.microsoft.com/office/powerpoint/2010/main" val="1048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A4B197DD-BA3B-44C7-977A-69EEFD7732C4}"/>
              </a:ext>
            </a:extLst>
          </p:cNvPr>
          <p:cNvSpPr/>
          <p:nvPr/>
        </p:nvSpPr>
        <p:spPr>
          <a:xfrm>
            <a:off x="7874000" y="1714500"/>
            <a:ext cx="3429000" cy="203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2B6CC8FD-ABBC-4303-9517-6A0A75B58F04}"/>
              </a:ext>
            </a:extLst>
          </p:cNvPr>
          <p:cNvSpPr/>
          <p:nvPr/>
        </p:nvSpPr>
        <p:spPr>
          <a:xfrm>
            <a:off x="4508500" y="1714500"/>
            <a:ext cx="2794000" cy="203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3D54943-0446-4A90-B3F1-032D920649D1}"/>
              </a:ext>
            </a:extLst>
          </p:cNvPr>
          <p:cNvSpPr/>
          <p:nvPr/>
        </p:nvSpPr>
        <p:spPr>
          <a:xfrm>
            <a:off x="889000" y="1714500"/>
            <a:ext cx="3175000" cy="2032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F684CAB-6E96-487A-9551-A046137E3F24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普通用户功能：完成从筛题到训练统计的闭环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F3DF63D1-05C7-4E90-B012-B9E7B9460A47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页面展示图，覆盖用户训练全过程。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C040ECC-68E2-42D7-8141-F1D8F62712C6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1C48986B-52F0-4187-84B8-F119B6D0D7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600" y="1843475"/>
            <a:ext cx="2584604" cy="1794863"/>
          </a:xfrm>
          <a:prstGeom prst="rect">
            <a:avLst/>
          </a:prstGeom>
        </p:spPr>
      </p:pic>
      <p:sp>
        <p:nvSpPr>
          <p:cNvPr id="34" name="文本框 33">
            <a:extLst>
              <a:ext uri="{FF2B5EF4-FFF2-40B4-BE49-F238E27FC236}">
                <a16:creationId xmlns:a16="http://schemas.microsoft.com/office/drawing/2014/main" id="{4645A983-C17C-477A-B890-449EF7605ADA}"/>
              </a:ext>
            </a:extLst>
          </p:cNvPr>
          <p:cNvSpPr txBox="1"/>
          <p:nvPr/>
        </p:nvSpPr>
        <p:spPr>
          <a:xfrm>
            <a:off x="1457402" y="3818489"/>
            <a:ext cx="1905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5-6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题库筛选与搜索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51A00043-5103-44C8-A62E-8572C9A38DE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250" y="1942633"/>
            <a:ext cx="2476500" cy="1556378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3F3DFE26-5194-4A95-B1C4-71A690342A21}"/>
              </a:ext>
            </a:extLst>
          </p:cNvPr>
          <p:cNvSpPr txBox="1"/>
          <p:nvPr/>
        </p:nvSpPr>
        <p:spPr>
          <a:xfrm>
            <a:off x="4984750" y="3848261"/>
            <a:ext cx="18415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图</a:t>
            </a:r>
            <a:r>
              <a:rPr lang="en-US" altLang="zh-CN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5-10 </a:t>
            </a:r>
            <a:r>
              <a:rPr lang="zh-CN" altLang="en-US" sz="880" dirty="0">
                <a:solidFill>
                  <a:srgbClr val="4F6B8A"/>
                </a:solidFill>
                <a:latin typeface="Microsoft YaHei" panose="020B0503020204020204" pitchFamily="34" charset="-122"/>
              </a:rPr>
              <a:t>做题页代码编辑</a:t>
            </a:r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35F4CB93-7178-46D6-BAB2-34D91F7799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636" y="1795168"/>
            <a:ext cx="2723727" cy="1891476"/>
          </a:xfrm>
          <a:prstGeom prst="rect">
            <a:avLst/>
          </a:prstGeom>
        </p:spPr>
      </p:pic>
      <p:sp>
        <p:nvSpPr>
          <p:cNvPr id="42" name="文本框 41">
            <a:extLst>
              <a:ext uri="{FF2B5EF4-FFF2-40B4-BE49-F238E27FC236}">
                <a16:creationId xmlns:a16="http://schemas.microsoft.com/office/drawing/2014/main" id="{C7A0CD83-3EA8-4D84-82F6-0F41BA49FCE9}"/>
              </a:ext>
            </a:extLst>
          </p:cNvPr>
          <p:cNvSpPr txBox="1"/>
          <p:nvPr/>
        </p:nvSpPr>
        <p:spPr>
          <a:xfrm>
            <a:off x="8763000" y="3840545"/>
            <a:ext cx="1651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5-18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训练看板统计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96EBCEC9-CAA5-49A8-B423-D7D1AAF41E30}"/>
              </a:ext>
            </a:extLst>
          </p:cNvPr>
          <p:cNvSpPr/>
          <p:nvPr/>
        </p:nvSpPr>
        <p:spPr>
          <a:xfrm>
            <a:off x="1117600" y="4445000"/>
            <a:ext cx="24765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F68A6C7-53C8-4AA2-A352-799CED0057CB}"/>
              </a:ext>
            </a:extLst>
          </p:cNvPr>
          <p:cNvSpPr/>
          <p:nvPr/>
        </p:nvSpPr>
        <p:spPr>
          <a:xfrm>
            <a:off x="1193800" y="4572000"/>
            <a:ext cx="50800" cy="63500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22D0E7B-5781-47D5-A858-D1A5A4D3FCC1}"/>
              </a:ext>
            </a:extLst>
          </p:cNvPr>
          <p:cNvSpPr txBox="1"/>
          <p:nvPr/>
        </p:nvSpPr>
        <p:spPr>
          <a:xfrm>
            <a:off x="1363135" y="4580464"/>
            <a:ext cx="190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题库浏览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04D224F3-B622-4B80-8FAE-0DAE0F738246}"/>
              </a:ext>
            </a:extLst>
          </p:cNvPr>
          <p:cNvSpPr txBox="1"/>
          <p:nvPr/>
        </p:nvSpPr>
        <p:spPr>
          <a:xfrm>
            <a:off x="1363135" y="4948764"/>
            <a:ext cx="2032000" cy="2831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20">
                <a:solidFill>
                  <a:srgbClr val="4F6B8A"/>
                </a:solidFill>
                <a:latin typeface="Microsoft YaHei" panose="020B0503020204020204" pitchFamily="34" charset="-122"/>
              </a:rPr>
              <a:t>按题号、关键词、难度、标签和完成状态筛选题目。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5E4DDA89-8C63-4882-AE78-6B5697890486}"/>
              </a:ext>
            </a:extLst>
          </p:cNvPr>
          <p:cNvSpPr/>
          <p:nvPr/>
        </p:nvSpPr>
        <p:spPr>
          <a:xfrm>
            <a:off x="4864100" y="4445000"/>
            <a:ext cx="24765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0D071C53-5080-416A-B1AA-03E4C9B39B8E}"/>
              </a:ext>
            </a:extLst>
          </p:cNvPr>
          <p:cNvSpPr/>
          <p:nvPr/>
        </p:nvSpPr>
        <p:spPr>
          <a:xfrm>
            <a:off x="4940300" y="4572000"/>
            <a:ext cx="50800" cy="635000"/>
          </a:xfrm>
          <a:prstGeom prst="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B0C8873A-1586-4440-80C9-94CDF7034880}"/>
              </a:ext>
            </a:extLst>
          </p:cNvPr>
          <p:cNvSpPr txBox="1"/>
          <p:nvPr/>
        </p:nvSpPr>
        <p:spPr>
          <a:xfrm>
            <a:off x="5109635" y="4580464"/>
            <a:ext cx="190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在线做题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F5D1C029-6C02-4D67-9CBF-9783192BE137}"/>
              </a:ext>
            </a:extLst>
          </p:cNvPr>
          <p:cNvSpPr txBox="1"/>
          <p:nvPr/>
        </p:nvSpPr>
        <p:spPr>
          <a:xfrm>
            <a:off x="5109635" y="4948764"/>
            <a:ext cx="2032000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20">
                <a:solidFill>
                  <a:srgbClr val="4F6B8A"/>
                </a:solidFill>
                <a:latin typeface="Microsoft YaHei" panose="020B0503020204020204" pitchFamily="34" charset="-122"/>
              </a:rPr>
              <a:t>查看题面，编写多语言代码并运行调试。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AA748D84-11F0-47B5-85B9-991CF10A1422}"/>
              </a:ext>
            </a:extLst>
          </p:cNvPr>
          <p:cNvSpPr/>
          <p:nvPr/>
        </p:nvSpPr>
        <p:spPr>
          <a:xfrm>
            <a:off x="8610600" y="4445000"/>
            <a:ext cx="24765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67AD337-0D95-482A-8E02-8DC62C7E4C0C}"/>
              </a:ext>
            </a:extLst>
          </p:cNvPr>
          <p:cNvSpPr/>
          <p:nvPr/>
        </p:nvSpPr>
        <p:spPr>
          <a:xfrm>
            <a:off x="8686800" y="4572000"/>
            <a:ext cx="50800" cy="635000"/>
          </a:xfrm>
          <a:prstGeom prst="rect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1F84D848-1271-49F0-86DD-2D7EE53E8F1C}"/>
              </a:ext>
            </a:extLst>
          </p:cNvPr>
          <p:cNvSpPr txBox="1"/>
          <p:nvPr/>
        </p:nvSpPr>
        <p:spPr>
          <a:xfrm>
            <a:off x="8856135" y="4580464"/>
            <a:ext cx="1905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训练反馈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F92B83C8-6E83-4909-BFFE-C6BE69B71ED3}"/>
              </a:ext>
            </a:extLst>
          </p:cNvPr>
          <p:cNvSpPr txBox="1"/>
          <p:nvPr/>
        </p:nvSpPr>
        <p:spPr>
          <a:xfrm>
            <a:off x="8856135" y="4948764"/>
            <a:ext cx="2032000" cy="2831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20">
                <a:solidFill>
                  <a:srgbClr val="4F6B8A"/>
                </a:solidFill>
                <a:latin typeface="Microsoft YaHei" panose="020B0503020204020204" pitchFamily="34" charset="-122"/>
              </a:rPr>
              <a:t>查看通过率、提交记录、题目进度和近期训练情况。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15FCC7B-BC70-4F22-836B-1060B3C86A2B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 dirty="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 dirty="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AD065B5-ACB7-4210-B233-DFC5BC59536F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10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709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B66AE4FA-C5DA-42F3-B019-07CB30C7690A}"/>
              </a:ext>
            </a:extLst>
          </p:cNvPr>
          <p:cNvSpPr/>
          <p:nvPr/>
        </p:nvSpPr>
        <p:spPr>
          <a:xfrm>
            <a:off x="8534400" y="1587500"/>
            <a:ext cx="2794000" cy="2222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DDFFAF10-A827-4DE5-B876-99D051E42297}"/>
              </a:ext>
            </a:extLst>
          </p:cNvPr>
          <p:cNvSpPr/>
          <p:nvPr/>
        </p:nvSpPr>
        <p:spPr>
          <a:xfrm>
            <a:off x="4787900" y="1587500"/>
            <a:ext cx="3429000" cy="2222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D2D1F132-6845-4FB6-8BCA-C56A3D257ECC}"/>
              </a:ext>
            </a:extLst>
          </p:cNvPr>
          <p:cNvSpPr/>
          <p:nvPr/>
        </p:nvSpPr>
        <p:spPr>
          <a:xfrm>
            <a:off x="1041400" y="1587500"/>
            <a:ext cx="3429000" cy="22225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E3463A3-4CCD-4A1E-82DA-06074487604D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管理员功能：保障题库、用例和判题环境可维护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A0478A97-D6BA-4300-9E23-5420192E1E94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后台围绕用户、题目、测试用例、标签和判题环境展开。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2397D42-4BAF-452A-BF97-3A5EDD8B3529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5F542BE5-9FD6-41C9-B8CA-800B9EBA21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8983" y="1691315"/>
            <a:ext cx="2913833" cy="2023495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FC689235-F9B3-4328-B3F6-9C61AFD00F52}"/>
              </a:ext>
            </a:extLst>
          </p:cNvPr>
          <p:cNvSpPr txBox="1"/>
          <p:nvPr/>
        </p:nvSpPr>
        <p:spPr>
          <a:xfrm>
            <a:off x="1765300" y="3887168"/>
            <a:ext cx="2032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5-19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题目列表维护</a:t>
            </a:r>
          </a:p>
        </p:txBody>
      </p:sp>
      <p:pic>
        <p:nvPicPr>
          <p:cNvPr id="40" name="图片 39">
            <a:extLst>
              <a:ext uri="{FF2B5EF4-FFF2-40B4-BE49-F238E27FC236}">
                <a16:creationId xmlns:a16="http://schemas.microsoft.com/office/drawing/2014/main" id="{360AFCB5-E2A3-45D1-9470-1C9FC8351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2482" y="1693282"/>
            <a:ext cx="2919992" cy="2027773"/>
          </a:xfrm>
          <a:prstGeom prst="rect">
            <a:avLst/>
          </a:prstGeom>
        </p:spPr>
      </p:pic>
      <p:sp>
        <p:nvSpPr>
          <p:cNvPr id="42" name="文本框 41">
            <a:extLst>
              <a:ext uri="{FF2B5EF4-FFF2-40B4-BE49-F238E27FC236}">
                <a16:creationId xmlns:a16="http://schemas.microsoft.com/office/drawing/2014/main" id="{47CD00EE-1191-4939-B522-5987C9ED47D0}"/>
              </a:ext>
            </a:extLst>
          </p:cNvPr>
          <p:cNvSpPr txBox="1"/>
          <p:nvPr/>
        </p:nvSpPr>
        <p:spPr>
          <a:xfrm>
            <a:off x="5575300" y="3887168"/>
            <a:ext cx="2032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5-20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题目编辑页面</a:t>
            </a: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E6A22186-F20D-448A-9B3D-1155E5E8CF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1262" y="1821088"/>
            <a:ext cx="2543341" cy="1766208"/>
          </a:xfrm>
          <a:prstGeom prst="rect">
            <a:avLst/>
          </a:prstGeom>
        </p:spPr>
      </p:pic>
      <p:sp>
        <p:nvSpPr>
          <p:cNvPr id="46" name="文本框 45">
            <a:extLst>
              <a:ext uri="{FF2B5EF4-FFF2-40B4-BE49-F238E27FC236}">
                <a16:creationId xmlns:a16="http://schemas.microsoft.com/office/drawing/2014/main" id="{2D64339A-D9D1-4B73-A80A-6A3128203943}"/>
              </a:ext>
            </a:extLst>
          </p:cNvPr>
          <p:cNvSpPr txBox="1"/>
          <p:nvPr/>
        </p:nvSpPr>
        <p:spPr>
          <a:xfrm>
            <a:off x="8940800" y="3887168"/>
            <a:ext cx="2032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论文图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5-24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判题环境检查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85C7EA8F-3F3A-48A9-97AB-954649B99171}"/>
              </a:ext>
            </a:extLst>
          </p:cNvPr>
          <p:cNvSpPr/>
          <p:nvPr/>
        </p:nvSpPr>
        <p:spPr>
          <a:xfrm>
            <a:off x="1092200" y="4635500"/>
            <a:ext cx="19050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B2E9A81D-3992-4720-8882-1F2B39CBBEF3}"/>
              </a:ext>
            </a:extLst>
          </p:cNvPr>
          <p:cNvSpPr/>
          <p:nvPr/>
        </p:nvSpPr>
        <p:spPr>
          <a:xfrm>
            <a:off x="1168400" y="4762500"/>
            <a:ext cx="50800" cy="63500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01E0F7A2-9BFE-44D6-BCBF-169880E9016C}"/>
              </a:ext>
            </a:extLst>
          </p:cNvPr>
          <p:cNvSpPr txBox="1"/>
          <p:nvPr/>
        </p:nvSpPr>
        <p:spPr>
          <a:xfrm>
            <a:off x="1299634" y="4758264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题目维护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8DE5D91B-1D05-4724-8E47-EBEF76769F9F}"/>
              </a:ext>
            </a:extLst>
          </p:cNvPr>
          <p:cNvSpPr txBox="1"/>
          <p:nvPr/>
        </p:nvSpPr>
        <p:spPr>
          <a:xfrm>
            <a:off x="1299634" y="5126564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00">
                <a:solidFill>
                  <a:srgbClr val="4F6B8A"/>
                </a:solidFill>
                <a:latin typeface="Microsoft YaHei" panose="020B0503020204020204" pitchFamily="34" charset="-122"/>
              </a:rPr>
              <a:t>创建草稿、编辑题面、发布或归档题目。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C9201C87-C815-4FB3-B0C4-3B38B7C51416}"/>
              </a:ext>
            </a:extLst>
          </p:cNvPr>
          <p:cNvSpPr/>
          <p:nvPr/>
        </p:nvSpPr>
        <p:spPr>
          <a:xfrm>
            <a:off x="3962400" y="4635500"/>
            <a:ext cx="19050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CC7F4D41-C377-4C41-ABA8-CF0B4B21FCD9}"/>
              </a:ext>
            </a:extLst>
          </p:cNvPr>
          <p:cNvSpPr/>
          <p:nvPr/>
        </p:nvSpPr>
        <p:spPr>
          <a:xfrm>
            <a:off x="4038600" y="4762500"/>
            <a:ext cx="50800" cy="635000"/>
          </a:xfrm>
          <a:prstGeom prst="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76163D8F-03B6-4AF5-A1B2-BC7CB8D2FB10}"/>
              </a:ext>
            </a:extLst>
          </p:cNvPr>
          <p:cNvSpPr txBox="1"/>
          <p:nvPr/>
        </p:nvSpPr>
        <p:spPr>
          <a:xfrm>
            <a:off x="4169834" y="4758264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用例维护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98ACB0B3-666D-49D3-972A-8FCEBB588949}"/>
              </a:ext>
            </a:extLst>
          </p:cNvPr>
          <p:cNvSpPr txBox="1"/>
          <p:nvPr/>
        </p:nvSpPr>
        <p:spPr>
          <a:xfrm>
            <a:off x="4169834" y="5126564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00">
                <a:solidFill>
                  <a:srgbClr val="4F6B8A"/>
                </a:solidFill>
                <a:latin typeface="Microsoft YaHei" panose="020B0503020204020204" pitchFamily="34" charset="-122"/>
              </a:rPr>
              <a:t>维护公开样例和隐藏用例，支撑正式判题。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B1BE68EE-67CA-488E-BC5D-34993C8391D6}"/>
              </a:ext>
            </a:extLst>
          </p:cNvPr>
          <p:cNvSpPr/>
          <p:nvPr/>
        </p:nvSpPr>
        <p:spPr>
          <a:xfrm>
            <a:off x="6832600" y="4635500"/>
            <a:ext cx="19050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02DC2EF-6301-4AE0-9790-76D04430C997}"/>
              </a:ext>
            </a:extLst>
          </p:cNvPr>
          <p:cNvSpPr/>
          <p:nvPr/>
        </p:nvSpPr>
        <p:spPr>
          <a:xfrm>
            <a:off x="6908800" y="4762500"/>
            <a:ext cx="50800" cy="635000"/>
          </a:xfrm>
          <a:prstGeom prst="rect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FC9C0AEE-1C8A-4A58-8016-2F97E35E7BEC}"/>
              </a:ext>
            </a:extLst>
          </p:cNvPr>
          <p:cNvSpPr txBox="1"/>
          <p:nvPr/>
        </p:nvSpPr>
        <p:spPr>
          <a:xfrm>
            <a:off x="7040034" y="4758264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标签维护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F91C50B8-44AB-4DAF-B8C9-11DEAC0ED42E}"/>
              </a:ext>
            </a:extLst>
          </p:cNvPr>
          <p:cNvSpPr txBox="1"/>
          <p:nvPr/>
        </p:nvSpPr>
        <p:spPr>
          <a:xfrm>
            <a:off x="7040034" y="5126564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00">
                <a:solidFill>
                  <a:srgbClr val="4F6B8A"/>
                </a:solidFill>
                <a:latin typeface="Microsoft YaHei" panose="020B0503020204020204" pitchFamily="34" charset="-122"/>
              </a:rPr>
              <a:t>标签新增、编辑、删除和题目绑定。</a:t>
            </a:r>
          </a:p>
        </p:txBody>
      </p:sp>
      <p:sp>
        <p:nvSpPr>
          <p:cNvPr id="59" name="矩形: 圆角 58">
            <a:extLst>
              <a:ext uri="{FF2B5EF4-FFF2-40B4-BE49-F238E27FC236}">
                <a16:creationId xmlns:a16="http://schemas.microsoft.com/office/drawing/2014/main" id="{9F256D6F-F502-49D2-8BA0-B5EA9C9FA03F}"/>
              </a:ext>
            </a:extLst>
          </p:cNvPr>
          <p:cNvSpPr/>
          <p:nvPr/>
        </p:nvSpPr>
        <p:spPr>
          <a:xfrm>
            <a:off x="9702800" y="4635500"/>
            <a:ext cx="1905000" cy="8890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5821151-FCC3-44FD-B4A3-E0CA311F8C56}"/>
              </a:ext>
            </a:extLst>
          </p:cNvPr>
          <p:cNvSpPr/>
          <p:nvPr/>
        </p:nvSpPr>
        <p:spPr>
          <a:xfrm>
            <a:off x="9779000" y="4762500"/>
            <a:ext cx="50800" cy="635000"/>
          </a:xfrm>
          <a:prstGeom prst="rect">
            <a:avLst/>
          </a:prstGeom>
          <a:solidFill>
            <a:srgbClr val="F59D0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166F8DD4-464D-4528-84AE-0CD6C9AF9D3B}"/>
              </a:ext>
            </a:extLst>
          </p:cNvPr>
          <p:cNvSpPr txBox="1"/>
          <p:nvPr/>
        </p:nvSpPr>
        <p:spPr>
          <a:xfrm>
            <a:off x="9910234" y="4758264"/>
            <a:ext cx="1397000" cy="2154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00" b="1">
                <a:solidFill>
                  <a:srgbClr val="091424"/>
                </a:solidFill>
                <a:latin typeface="Microsoft YaHei" panose="020B0503020204020204" pitchFamily="34" charset="-122"/>
              </a:rPr>
              <a:t>环境检查</a:t>
            </a: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688A0D58-9994-4BE6-BF50-08F5EFEDC709}"/>
              </a:ext>
            </a:extLst>
          </p:cNvPr>
          <p:cNvSpPr txBox="1"/>
          <p:nvPr/>
        </p:nvSpPr>
        <p:spPr>
          <a:xfrm>
            <a:off x="9910234" y="5126564"/>
            <a:ext cx="1498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900">
                <a:solidFill>
                  <a:srgbClr val="4F6B8A"/>
                </a:solidFill>
                <a:latin typeface="Microsoft YaHei" panose="020B0503020204020204" pitchFamily="34" charset="-122"/>
              </a:rPr>
              <a:t>检查 </a:t>
            </a:r>
            <a:r>
              <a:rPr lang="en-US" altLang="zh-CN" sz="900">
                <a:solidFill>
                  <a:srgbClr val="4F6B8A"/>
                </a:solidFill>
                <a:latin typeface="Microsoft YaHei" panose="020B0503020204020204" pitchFamily="34" charset="-122"/>
              </a:rPr>
              <a:t>Docker</a:t>
            </a:r>
            <a:r>
              <a:rPr lang="zh-CN" altLang="en-US" sz="900">
                <a:solidFill>
                  <a:srgbClr val="4F6B8A"/>
                </a:solidFill>
                <a:latin typeface="Microsoft YaHei" panose="020B0503020204020204" pitchFamily="34" charset="-122"/>
              </a:rPr>
              <a:t>、镜像和语言运行环境。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1C98078-D964-4782-8F2D-27F0A3DDC7F2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5BC17F9-49A7-4D44-9D5D-E54AE384B21E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11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43994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文本框 29">
            <a:extLst>
              <a:ext uri="{FF2B5EF4-FFF2-40B4-BE49-F238E27FC236}">
                <a16:creationId xmlns:a16="http://schemas.microsoft.com/office/drawing/2014/main" id="{778EC27B-AEE1-4482-93C1-EAC334EC4F7E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测试验证：用功能、接口、判题和权限测试支撑结论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D95E44B-D25B-471F-8033-D58549B983E9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>
                <a:solidFill>
                  <a:srgbClr val="4F6B8A"/>
                </a:solidFill>
                <a:latin typeface="Microsoft YaHei" panose="020B0503020204020204" pitchFamily="34" charset="-122"/>
              </a:rPr>
              <a:t>系统测试重点验证核心链路是否真实可用。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82A99072-B9BE-4D71-A790-54D600101AC8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47417D4-C83F-44FF-904A-E8F921EC768D}"/>
              </a:ext>
            </a:extLst>
          </p:cNvPr>
          <p:cNvSpPr/>
          <p:nvPr/>
        </p:nvSpPr>
        <p:spPr>
          <a:xfrm>
            <a:off x="1016000" y="1587500"/>
            <a:ext cx="2032000" cy="838200"/>
          </a:xfrm>
          <a:prstGeom prst="roundRect">
            <a:avLst/>
          </a:prstGeom>
          <a:solidFill>
            <a:srgbClr val="FCFBF4"/>
          </a:solidFill>
          <a:ln>
            <a:solidFill>
              <a:srgbClr val="EFED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CB427AD-E89F-484F-B1B3-B5456B752349}"/>
              </a:ext>
            </a:extLst>
          </p:cNvPr>
          <p:cNvSpPr txBox="1"/>
          <p:nvPr/>
        </p:nvSpPr>
        <p:spPr>
          <a:xfrm>
            <a:off x="1295400" y="1803400"/>
            <a:ext cx="4445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200" b="1">
                <a:solidFill>
                  <a:srgbClr val="0AA0A9"/>
                </a:solidFill>
                <a:latin typeface="Microsoft YaHei" panose="020B0503020204020204" pitchFamily="34" charset="-122"/>
              </a:rPr>
              <a:t>14</a:t>
            </a:r>
            <a:endParaRPr lang="zh-CN" altLang="en-US" sz="2200" b="1">
              <a:solidFill>
                <a:srgbClr val="0AA0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BDC3FF87-E27F-44F6-9097-2FC683086326}"/>
              </a:ext>
            </a:extLst>
          </p:cNvPr>
          <p:cNvSpPr txBox="1"/>
          <p:nvPr/>
        </p:nvSpPr>
        <p:spPr>
          <a:xfrm>
            <a:off x="1905000" y="1739900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 b="1">
                <a:solidFill>
                  <a:srgbClr val="091424"/>
                </a:solidFill>
                <a:latin typeface="Microsoft YaHei" panose="020B0503020204020204" pitchFamily="34" charset="-122"/>
              </a:rPr>
              <a:t>功能测试用例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6EA3525A-ACEE-42D4-AB50-DF55F07F1230}"/>
              </a:ext>
            </a:extLst>
          </p:cNvPr>
          <p:cNvSpPr txBox="1"/>
          <p:nvPr/>
        </p:nvSpPr>
        <p:spPr>
          <a:xfrm>
            <a:off x="1905000" y="2006600"/>
            <a:ext cx="1041400" cy="2523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20">
                <a:solidFill>
                  <a:srgbClr val="4F6B8A"/>
                </a:solidFill>
                <a:latin typeface="Microsoft YaHei" panose="020B0503020204020204" pitchFamily="34" charset="-122"/>
              </a:rPr>
              <a:t>登录、题库、做题、后台维护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72DDF26-FD40-4298-8FCB-1E9ABF927B77}"/>
              </a:ext>
            </a:extLst>
          </p:cNvPr>
          <p:cNvSpPr/>
          <p:nvPr/>
        </p:nvSpPr>
        <p:spPr>
          <a:xfrm>
            <a:off x="3810000" y="1587500"/>
            <a:ext cx="2032000" cy="838200"/>
          </a:xfrm>
          <a:prstGeom prst="roundRect">
            <a:avLst/>
          </a:prstGeom>
          <a:solidFill>
            <a:srgbClr val="FCFBF4"/>
          </a:solidFill>
          <a:ln>
            <a:solidFill>
              <a:srgbClr val="EFED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3168E8EA-CAF0-4FEA-BB8F-8B29FC00CA2C}"/>
              </a:ext>
            </a:extLst>
          </p:cNvPr>
          <p:cNvSpPr txBox="1"/>
          <p:nvPr/>
        </p:nvSpPr>
        <p:spPr>
          <a:xfrm>
            <a:off x="4089400" y="1803400"/>
            <a:ext cx="4445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200" b="1">
                <a:solidFill>
                  <a:srgbClr val="216BB0"/>
                </a:solidFill>
                <a:latin typeface="Microsoft YaHei" panose="020B0503020204020204" pitchFamily="34" charset="-122"/>
              </a:rPr>
              <a:t>12</a:t>
            </a:r>
            <a:endParaRPr lang="zh-CN" altLang="en-US" sz="2200" b="1">
              <a:solidFill>
                <a:srgbClr val="216BB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C996A403-083C-40F7-B0E0-AC06254F20BA}"/>
              </a:ext>
            </a:extLst>
          </p:cNvPr>
          <p:cNvSpPr txBox="1"/>
          <p:nvPr/>
        </p:nvSpPr>
        <p:spPr>
          <a:xfrm>
            <a:off x="4699000" y="1739900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 b="1">
                <a:solidFill>
                  <a:srgbClr val="091424"/>
                </a:solidFill>
                <a:latin typeface="Microsoft YaHei" panose="020B0503020204020204" pitchFamily="34" charset="-122"/>
              </a:rPr>
              <a:t>核心接口测试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1FE74E0-48D0-4690-AABA-2EBEEF55E95B}"/>
              </a:ext>
            </a:extLst>
          </p:cNvPr>
          <p:cNvSpPr txBox="1"/>
          <p:nvPr/>
        </p:nvSpPr>
        <p:spPr>
          <a:xfrm>
            <a:off x="4699000" y="2006600"/>
            <a:ext cx="1041400" cy="2523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20">
                <a:solidFill>
                  <a:srgbClr val="4F6B8A"/>
                </a:solidFill>
                <a:latin typeface="Microsoft YaHei" panose="020B0503020204020204" pitchFamily="34" charset="-122"/>
              </a:rPr>
              <a:t>认证、题库、提交、管理端接口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C6E519C2-3007-4FA9-9157-473E4F032D06}"/>
              </a:ext>
            </a:extLst>
          </p:cNvPr>
          <p:cNvSpPr/>
          <p:nvPr/>
        </p:nvSpPr>
        <p:spPr>
          <a:xfrm>
            <a:off x="6604000" y="1587500"/>
            <a:ext cx="2032000" cy="838200"/>
          </a:xfrm>
          <a:prstGeom prst="roundRect">
            <a:avLst/>
          </a:prstGeom>
          <a:solidFill>
            <a:srgbClr val="FCFBF4"/>
          </a:solidFill>
          <a:ln>
            <a:solidFill>
              <a:srgbClr val="EFED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27CD29C6-FC6B-49BA-82A9-65B85F3E57C6}"/>
              </a:ext>
            </a:extLst>
          </p:cNvPr>
          <p:cNvSpPr txBox="1"/>
          <p:nvPr/>
        </p:nvSpPr>
        <p:spPr>
          <a:xfrm>
            <a:off x="6883400" y="1803400"/>
            <a:ext cx="4445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200" b="1">
                <a:solidFill>
                  <a:srgbClr val="0AA0A9"/>
                </a:solidFill>
                <a:latin typeface="Microsoft YaHei" panose="020B0503020204020204" pitchFamily="34" charset="-122"/>
              </a:rPr>
              <a:t>7</a:t>
            </a:r>
            <a:endParaRPr lang="zh-CN" altLang="en-US" sz="2200" b="1">
              <a:solidFill>
                <a:srgbClr val="0AA0A9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4A5B28DB-4763-4CA9-8E5E-ADC3C82B9094}"/>
              </a:ext>
            </a:extLst>
          </p:cNvPr>
          <p:cNvSpPr txBox="1"/>
          <p:nvPr/>
        </p:nvSpPr>
        <p:spPr>
          <a:xfrm>
            <a:off x="7493000" y="1739900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 b="1">
                <a:solidFill>
                  <a:srgbClr val="091424"/>
                </a:solidFill>
                <a:latin typeface="Microsoft YaHei" panose="020B0503020204020204" pitchFamily="34" charset="-122"/>
              </a:rPr>
              <a:t>判题流程场景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756D1932-903D-4959-84E1-A7407AF109A6}"/>
              </a:ext>
            </a:extLst>
          </p:cNvPr>
          <p:cNvSpPr txBox="1"/>
          <p:nvPr/>
        </p:nvSpPr>
        <p:spPr>
          <a:xfrm>
            <a:off x="7493000" y="2006600"/>
            <a:ext cx="1041400" cy="2523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820">
                <a:solidFill>
                  <a:srgbClr val="4F6B8A"/>
                </a:solidFill>
                <a:latin typeface="Microsoft YaHei" panose="020B0503020204020204" pitchFamily="34" charset="-122"/>
              </a:rPr>
              <a:t>AC / WA / CE / RE / </a:t>
            </a:r>
            <a:r>
              <a:rPr lang="zh-CN" altLang="en-US" sz="820">
                <a:solidFill>
                  <a:srgbClr val="4F6B8A"/>
                </a:solidFill>
                <a:latin typeface="Microsoft YaHei" panose="020B0503020204020204" pitchFamily="34" charset="-122"/>
              </a:rPr>
              <a:t>隐藏用例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9DE1FCDE-5A4F-4D86-A381-D544C803511E}"/>
              </a:ext>
            </a:extLst>
          </p:cNvPr>
          <p:cNvSpPr/>
          <p:nvPr/>
        </p:nvSpPr>
        <p:spPr>
          <a:xfrm>
            <a:off x="9398000" y="1587500"/>
            <a:ext cx="2032000" cy="838200"/>
          </a:xfrm>
          <a:prstGeom prst="roundRect">
            <a:avLst/>
          </a:prstGeom>
          <a:solidFill>
            <a:srgbClr val="FCFBF4"/>
          </a:solidFill>
          <a:ln>
            <a:solidFill>
              <a:srgbClr val="EFEDC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AE09B6A8-2641-46B0-A435-551C2EA99981}"/>
              </a:ext>
            </a:extLst>
          </p:cNvPr>
          <p:cNvSpPr txBox="1"/>
          <p:nvPr/>
        </p:nvSpPr>
        <p:spPr>
          <a:xfrm>
            <a:off x="9677400" y="1803400"/>
            <a:ext cx="444500" cy="3385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2200" b="1">
                <a:solidFill>
                  <a:srgbClr val="216BB0"/>
                </a:solidFill>
                <a:latin typeface="Microsoft YaHei" panose="020B0503020204020204" pitchFamily="34" charset="-122"/>
              </a:rPr>
              <a:t>6</a:t>
            </a:r>
            <a:endParaRPr lang="zh-CN" altLang="en-US" sz="2200" b="1">
              <a:solidFill>
                <a:srgbClr val="216BB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A70DAE33-2E92-4500-9EAF-964F624300DD}"/>
              </a:ext>
            </a:extLst>
          </p:cNvPr>
          <p:cNvSpPr txBox="1"/>
          <p:nvPr/>
        </p:nvSpPr>
        <p:spPr>
          <a:xfrm>
            <a:off x="10287000" y="1739900"/>
            <a:ext cx="10668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 b="1">
                <a:solidFill>
                  <a:srgbClr val="091424"/>
                </a:solidFill>
                <a:latin typeface="Microsoft YaHei" panose="020B0503020204020204" pitchFamily="34" charset="-122"/>
              </a:rPr>
              <a:t>权限测试场景</a:t>
            </a: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74D11E3-51DB-4729-8E2D-D5F31D5068BB}"/>
              </a:ext>
            </a:extLst>
          </p:cNvPr>
          <p:cNvSpPr txBox="1"/>
          <p:nvPr/>
        </p:nvSpPr>
        <p:spPr>
          <a:xfrm>
            <a:off x="10287000" y="2006600"/>
            <a:ext cx="1041400" cy="2523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20">
                <a:solidFill>
                  <a:srgbClr val="4F6B8A"/>
                </a:solidFill>
                <a:latin typeface="Microsoft YaHei" panose="020B0503020204020204" pitchFamily="34" charset="-122"/>
              </a:rPr>
              <a:t>匿名、普通用户、管理员边界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E1124326-DBCB-4630-82E0-17753316832A}"/>
              </a:ext>
            </a:extLst>
          </p:cNvPr>
          <p:cNvSpPr/>
          <p:nvPr/>
        </p:nvSpPr>
        <p:spPr>
          <a:xfrm>
            <a:off x="1079500" y="2857500"/>
            <a:ext cx="2349500" cy="889000"/>
          </a:xfrm>
          <a:prstGeom prst="roundRect">
            <a:avLst/>
          </a:prstGeom>
          <a:solidFill>
            <a:srgbClr val="FCFBF8"/>
          </a:solidFill>
          <a:ln>
            <a:solidFill>
              <a:srgbClr val="EEE3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2B4F93C-DE25-4A65-B735-D8B4609131D6}"/>
              </a:ext>
            </a:extLst>
          </p:cNvPr>
          <p:cNvSpPr/>
          <p:nvPr/>
        </p:nvSpPr>
        <p:spPr>
          <a:xfrm>
            <a:off x="1155700" y="2984500"/>
            <a:ext cx="50800" cy="63500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77F3801F-72A1-4495-9226-5FEEED8B8C05}"/>
              </a:ext>
            </a:extLst>
          </p:cNvPr>
          <p:cNvSpPr txBox="1"/>
          <p:nvPr/>
        </p:nvSpPr>
        <p:spPr>
          <a:xfrm>
            <a:off x="1295400" y="3009900"/>
            <a:ext cx="1841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功能可用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4861B263-418E-4AEF-8DDD-76A0DB195E6E}"/>
              </a:ext>
            </a:extLst>
          </p:cNvPr>
          <p:cNvSpPr txBox="1"/>
          <p:nvPr/>
        </p:nvSpPr>
        <p:spPr>
          <a:xfrm>
            <a:off x="1295400" y="3314700"/>
            <a:ext cx="1841500" cy="2708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普通用户训练和后台维护闭环通过测试。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228858DE-0E3A-4DAE-AD79-8C8CD31D245E}"/>
              </a:ext>
            </a:extLst>
          </p:cNvPr>
          <p:cNvSpPr/>
          <p:nvPr/>
        </p:nvSpPr>
        <p:spPr>
          <a:xfrm>
            <a:off x="3619500" y="2857500"/>
            <a:ext cx="2349500" cy="889000"/>
          </a:xfrm>
          <a:prstGeom prst="roundRect">
            <a:avLst/>
          </a:prstGeom>
          <a:solidFill>
            <a:srgbClr val="FCFBF8"/>
          </a:solidFill>
          <a:ln>
            <a:solidFill>
              <a:srgbClr val="EEE3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C43398F4-0FDC-426D-B14E-874C7BC93E01}"/>
              </a:ext>
            </a:extLst>
          </p:cNvPr>
          <p:cNvSpPr/>
          <p:nvPr/>
        </p:nvSpPr>
        <p:spPr>
          <a:xfrm>
            <a:off x="3695700" y="2984500"/>
            <a:ext cx="50800" cy="635000"/>
          </a:xfrm>
          <a:prstGeom prst="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CC8F383C-5600-4379-B5A4-40E44021F601}"/>
              </a:ext>
            </a:extLst>
          </p:cNvPr>
          <p:cNvSpPr txBox="1"/>
          <p:nvPr/>
        </p:nvSpPr>
        <p:spPr>
          <a:xfrm>
            <a:off x="3835400" y="3009900"/>
            <a:ext cx="1841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接口可验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DB36AFF7-5D15-4624-8A6D-E0B492622CC1}"/>
              </a:ext>
            </a:extLst>
          </p:cNvPr>
          <p:cNvSpPr txBox="1"/>
          <p:nvPr/>
        </p:nvSpPr>
        <p:spPr>
          <a:xfrm>
            <a:off x="3835400" y="3314700"/>
            <a:ext cx="1841500" cy="2708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/api/problems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与 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/submissions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等核心接口返回成功。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1A9DC20C-38B1-467A-90AE-26B9367BEB53}"/>
              </a:ext>
            </a:extLst>
          </p:cNvPr>
          <p:cNvSpPr/>
          <p:nvPr/>
        </p:nvSpPr>
        <p:spPr>
          <a:xfrm>
            <a:off x="6159500" y="2857500"/>
            <a:ext cx="2349500" cy="889000"/>
          </a:xfrm>
          <a:prstGeom prst="roundRect">
            <a:avLst/>
          </a:prstGeom>
          <a:solidFill>
            <a:srgbClr val="FCFBF8"/>
          </a:solidFill>
          <a:ln>
            <a:solidFill>
              <a:srgbClr val="EEE3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AEEAB83-7BA5-4E0A-92F8-04DFD6A310D3}"/>
              </a:ext>
            </a:extLst>
          </p:cNvPr>
          <p:cNvSpPr/>
          <p:nvPr/>
        </p:nvSpPr>
        <p:spPr>
          <a:xfrm>
            <a:off x="6235700" y="2984500"/>
            <a:ext cx="50800" cy="635000"/>
          </a:xfrm>
          <a:prstGeom prst="rect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ADB7711B-8E93-475C-B9E3-FDD0F6257752}"/>
              </a:ext>
            </a:extLst>
          </p:cNvPr>
          <p:cNvSpPr txBox="1"/>
          <p:nvPr/>
        </p:nvSpPr>
        <p:spPr>
          <a:xfrm>
            <a:off x="6375400" y="3009900"/>
            <a:ext cx="1841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判题有效</a:t>
            </a: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F41D5CBE-1B21-4A37-A7EA-C18212AF8AB7}"/>
              </a:ext>
            </a:extLst>
          </p:cNvPr>
          <p:cNvSpPr txBox="1"/>
          <p:nvPr/>
        </p:nvSpPr>
        <p:spPr>
          <a:xfrm>
            <a:off x="6375400" y="3314700"/>
            <a:ext cx="1841500" cy="2708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AC / WA / CE / RE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与隐藏用例场景可复现。</a:t>
            </a:r>
          </a:p>
        </p:txBody>
      </p:sp>
      <p:sp>
        <p:nvSpPr>
          <p:cNvPr id="57" name="矩形: 圆角 56">
            <a:extLst>
              <a:ext uri="{FF2B5EF4-FFF2-40B4-BE49-F238E27FC236}">
                <a16:creationId xmlns:a16="http://schemas.microsoft.com/office/drawing/2014/main" id="{0DC8DD9C-8594-44E1-8AC7-6A7FB98B5D7E}"/>
              </a:ext>
            </a:extLst>
          </p:cNvPr>
          <p:cNvSpPr/>
          <p:nvPr/>
        </p:nvSpPr>
        <p:spPr>
          <a:xfrm>
            <a:off x="8699500" y="2857500"/>
            <a:ext cx="2349500" cy="889000"/>
          </a:xfrm>
          <a:prstGeom prst="roundRect">
            <a:avLst/>
          </a:prstGeom>
          <a:solidFill>
            <a:srgbClr val="FCFBF8"/>
          </a:solidFill>
          <a:ln>
            <a:solidFill>
              <a:srgbClr val="EEE3C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DD39280-3E83-49CB-9475-561D62FCFF36}"/>
              </a:ext>
            </a:extLst>
          </p:cNvPr>
          <p:cNvSpPr/>
          <p:nvPr/>
        </p:nvSpPr>
        <p:spPr>
          <a:xfrm>
            <a:off x="8775700" y="2984500"/>
            <a:ext cx="50800" cy="635000"/>
          </a:xfrm>
          <a:prstGeom prst="rect">
            <a:avLst/>
          </a:prstGeom>
          <a:solidFill>
            <a:srgbClr val="F59D0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7B083C0-8B28-4B75-8808-A2C3281A78A4}"/>
              </a:ext>
            </a:extLst>
          </p:cNvPr>
          <p:cNvSpPr txBox="1"/>
          <p:nvPr/>
        </p:nvSpPr>
        <p:spPr>
          <a:xfrm>
            <a:off x="8915400" y="3009900"/>
            <a:ext cx="18415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b="1">
                <a:solidFill>
                  <a:srgbClr val="091424"/>
                </a:solidFill>
                <a:latin typeface="Microsoft YaHei" panose="020B0503020204020204" pitchFamily="34" charset="-122"/>
              </a:rPr>
              <a:t>权限清楚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5E3C28C2-E616-49D1-8A51-0593479D3600}"/>
              </a:ext>
            </a:extLst>
          </p:cNvPr>
          <p:cNvSpPr txBox="1"/>
          <p:nvPr/>
        </p:nvSpPr>
        <p:spPr>
          <a:xfrm>
            <a:off x="8915400" y="3314700"/>
            <a:ext cx="1841500" cy="2708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匿名、普通用户和管理员边界符合设计。</a:t>
            </a:r>
          </a:p>
        </p:txBody>
      </p:sp>
      <p:pic>
        <p:nvPicPr>
          <p:cNvPr id="63" name="图片 62">
            <a:extLst>
              <a:ext uri="{FF2B5EF4-FFF2-40B4-BE49-F238E27FC236}">
                <a16:creationId xmlns:a16="http://schemas.microsoft.com/office/drawing/2014/main" id="{4943B7B8-51ED-4445-BAA9-5170718B27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000" y="4023730"/>
            <a:ext cx="4108834" cy="1483746"/>
          </a:xfrm>
          <a:prstGeom prst="rect">
            <a:avLst/>
          </a:prstGeom>
        </p:spPr>
      </p:pic>
      <p:sp>
        <p:nvSpPr>
          <p:cNvPr id="65" name="文本框 64">
            <a:extLst>
              <a:ext uri="{FF2B5EF4-FFF2-40B4-BE49-F238E27FC236}">
                <a16:creationId xmlns:a16="http://schemas.microsoft.com/office/drawing/2014/main" id="{B7D38520-10D5-4B33-AE0B-56ACE2804092}"/>
              </a:ext>
            </a:extLst>
          </p:cNvPr>
          <p:cNvSpPr txBox="1"/>
          <p:nvPr/>
        </p:nvSpPr>
        <p:spPr>
          <a:xfrm>
            <a:off x="2349500" y="5664200"/>
            <a:ext cx="2667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6-16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提交代码接口响应测试</a:t>
            </a:r>
          </a:p>
        </p:txBody>
      </p:sp>
      <p:pic>
        <p:nvPicPr>
          <p:cNvPr id="67" name="图片 66">
            <a:extLst>
              <a:ext uri="{FF2B5EF4-FFF2-40B4-BE49-F238E27FC236}">
                <a16:creationId xmlns:a16="http://schemas.microsoft.com/office/drawing/2014/main" id="{AD836E33-4477-404C-AF51-D159B7AF53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6150" y="3967259"/>
            <a:ext cx="2101850" cy="1530218"/>
          </a:xfrm>
          <a:prstGeom prst="rect">
            <a:avLst/>
          </a:prstGeom>
        </p:spPr>
      </p:pic>
      <p:sp>
        <p:nvSpPr>
          <p:cNvPr id="69" name="文本框 68">
            <a:extLst>
              <a:ext uri="{FF2B5EF4-FFF2-40B4-BE49-F238E27FC236}">
                <a16:creationId xmlns:a16="http://schemas.microsoft.com/office/drawing/2014/main" id="{622EEC1E-3A8E-4A21-9F7F-16D99B31FBB5}"/>
              </a:ext>
            </a:extLst>
          </p:cNvPr>
          <p:cNvSpPr txBox="1"/>
          <p:nvPr/>
        </p:nvSpPr>
        <p:spPr>
          <a:xfrm>
            <a:off x="7620000" y="5664200"/>
            <a:ext cx="2794000" cy="1354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图</a:t>
            </a:r>
            <a:r>
              <a:rPr lang="en-US" altLang="zh-CN" sz="880">
                <a:solidFill>
                  <a:srgbClr val="4F6B8A"/>
                </a:solidFill>
                <a:latin typeface="Microsoft YaHei" panose="020B0503020204020204" pitchFamily="34" charset="-122"/>
              </a:rPr>
              <a:t>6-23 </a:t>
            </a:r>
            <a:r>
              <a:rPr lang="zh-CN" altLang="en-US" sz="880">
                <a:solidFill>
                  <a:srgbClr val="4F6B8A"/>
                </a:solidFill>
                <a:latin typeface="Microsoft YaHei" panose="020B0503020204020204" pitchFamily="34" charset="-122"/>
              </a:rPr>
              <a:t>判题环境健康检查测试</a:t>
            </a:r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C0395ED7-AF2A-412F-9377-6891A81FC014}"/>
              </a:ext>
            </a:extLst>
          </p:cNvPr>
          <p:cNvSpPr txBox="1"/>
          <p:nvPr/>
        </p:nvSpPr>
        <p:spPr>
          <a:xfrm>
            <a:off x="3492500" y="6159500"/>
            <a:ext cx="5334000" cy="1692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测试结论：普通用户训练闭环、管理员维护闭环和 </a:t>
            </a:r>
            <a:r>
              <a:rPr lang="en-US" altLang="zh-CN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Docker </a:t>
            </a:r>
            <a:r>
              <a:rPr lang="zh-CN" altLang="en-US" sz="1100" b="1">
                <a:solidFill>
                  <a:srgbClr val="091424"/>
                </a:solidFill>
                <a:latin typeface="Microsoft YaHei" panose="020B0503020204020204" pitchFamily="34" charset="-122"/>
              </a:rPr>
              <a:t>判题环境检查均按设计运行。</a:t>
            </a: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7C653D86-97BA-4BA5-AFE4-A8B00B93A75F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164EE807-6B00-4BE9-95C3-C9E88626726C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12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483416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文本框 23">
            <a:extLst>
              <a:ext uri="{FF2B5EF4-FFF2-40B4-BE49-F238E27FC236}">
                <a16:creationId xmlns:a16="http://schemas.microsoft.com/office/drawing/2014/main" id="{FBBD9DB4-E22B-4015-8BFB-6A7D3B1C9BA4}"/>
              </a:ext>
            </a:extLst>
          </p:cNvPr>
          <p:cNvSpPr txBox="1"/>
          <p:nvPr/>
        </p:nvSpPr>
        <p:spPr>
          <a:xfrm>
            <a:off x="609600" y="444500"/>
            <a:ext cx="104140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2600" b="1">
                <a:solidFill>
                  <a:srgbClr val="091424"/>
                </a:solidFill>
                <a:latin typeface="Microsoft YaHei" panose="020B0503020204020204" pitchFamily="34" charset="-122"/>
              </a:rPr>
              <a:t>项目成果：核心功能闭环已形成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5974BA74-8D45-4DD2-ACE7-1EC960FC5779}"/>
              </a:ext>
            </a:extLst>
          </p:cNvPr>
          <p:cNvSpPr txBox="1"/>
          <p:nvPr/>
        </p:nvSpPr>
        <p:spPr>
          <a:xfrm>
            <a:off x="635000" y="939800"/>
            <a:ext cx="9906000" cy="1923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250" dirty="0">
                <a:solidFill>
                  <a:srgbClr val="4F6B8A"/>
                </a:solidFill>
                <a:latin typeface="Microsoft YaHei" panose="020B0503020204020204" pitchFamily="34" charset="-122"/>
              </a:rPr>
              <a:t>系统已完成核心业务闭环，并通过功能页面、接口测试和判题环境检测验证主要流程可用。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EC07E61-5F31-4330-8ECC-E4E594A930ED}"/>
              </a:ext>
            </a:extLst>
          </p:cNvPr>
          <p:cNvSpPr/>
          <p:nvPr/>
        </p:nvSpPr>
        <p:spPr>
          <a:xfrm>
            <a:off x="609600" y="1257300"/>
            <a:ext cx="914400" cy="3175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592ABA5F-9D6A-4FA6-8CC5-0ADAC5BDC5DC}"/>
              </a:ext>
            </a:extLst>
          </p:cNvPr>
          <p:cNvSpPr/>
          <p:nvPr/>
        </p:nvSpPr>
        <p:spPr>
          <a:xfrm>
            <a:off x="787400" y="1714500"/>
            <a:ext cx="10604500" cy="736600"/>
          </a:xfrm>
          <a:prstGeom prst="roundRect">
            <a:avLst/>
          </a:prstGeom>
          <a:solidFill>
            <a:srgbClr val="091424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9A9F021-EF0C-4468-8AB1-3C9E533B261B}"/>
              </a:ext>
            </a:extLst>
          </p:cNvPr>
          <p:cNvSpPr txBox="1"/>
          <p:nvPr/>
        </p:nvSpPr>
        <p:spPr>
          <a:xfrm>
            <a:off x="2794000" y="1955800"/>
            <a:ext cx="66040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700" b="1">
                <a:solidFill>
                  <a:srgbClr val="FFFFFF"/>
                </a:solidFill>
                <a:latin typeface="Microsoft YaHei" panose="020B0503020204020204" pitchFamily="34" charset="-122"/>
              </a:rPr>
              <a:t>一条主线：用户完成算法训练，管理员持续维护训练内容和判题环境。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3FA40C88-0A8E-4FD4-BB94-053815A54424}"/>
              </a:ext>
            </a:extLst>
          </p:cNvPr>
          <p:cNvSpPr/>
          <p:nvPr/>
        </p:nvSpPr>
        <p:spPr>
          <a:xfrm>
            <a:off x="1041400" y="3386669"/>
            <a:ext cx="2921000" cy="1422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9A5DBD7-B53A-4D50-81B8-6D687387D23C}"/>
              </a:ext>
            </a:extLst>
          </p:cNvPr>
          <p:cNvSpPr/>
          <p:nvPr/>
        </p:nvSpPr>
        <p:spPr>
          <a:xfrm>
            <a:off x="1117600" y="3513669"/>
            <a:ext cx="50800" cy="1168400"/>
          </a:xfrm>
          <a:prstGeom prst="rect">
            <a:avLst/>
          </a:prstGeom>
          <a:solidFill>
            <a:srgbClr val="0AA0A9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4B517EC-A326-4B27-B327-CB0FEA4F2ACB}"/>
              </a:ext>
            </a:extLst>
          </p:cNvPr>
          <p:cNvSpPr txBox="1"/>
          <p:nvPr/>
        </p:nvSpPr>
        <p:spPr>
          <a:xfrm>
            <a:off x="1270000" y="3666069"/>
            <a:ext cx="203200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50" b="1">
                <a:solidFill>
                  <a:srgbClr val="091424"/>
                </a:solidFill>
                <a:latin typeface="Microsoft YaHei" panose="020B0503020204020204" pitchFamily="34" charset="-122"/>
              </a:rPr>
              <a:t>功能成果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4378A72-27E2-4075-902C-796726EA16F4}"/>
              </a:ext>
            </a:extLst>
          </p:cNvPr>
          <p:cNvSpPr txBox="1"/>
          <p:nvPr/>
        </p:nvSpPr>
        <p:spPr>
          <a:xfrm>
            <a:off x="1270000" y="4123269"/>
            <a:ext cx="23495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>
                <a:solidFill>
                  <a:srgbClr val="4F6B8A"/>
                </a:solidFill>
                <a:latin typeface="Microsoft YaHei" panose="020B0503020204020204" pitchFamily="34" charset="-122"/>
              </a:rPr>
              <a:t>登录注册、题库浏览、在线做题、代码运行、提交判题、训练看板、后台维护。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19C105BD-17E8-486E-9F70-50038B70DD06}"/>
              </a:ext>
            </a:extLst>
          </p:cNvPr>
          <p:cNvSpPr/>
          <p:nvPr/>
        </p:nvSpPr>
        <p:spPr>
          <a:xfrm>
            <a:off x="4635500" y="3386669"/>
            <a:ext cx="2921000" cy="1422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BD23D6D-200D-4982-98D4-DF9BD36E7CD0}"/>
              </a:ext>
            </a:extLst>
          </p:cNvPr>
          <p:cNvSpPr/>
          <p:nvPr/>
        </p:nvSpPr>
        <p:spPr>
          <a:xfrm>
            <a:off x="4711700" y="3513669"/>
            <a:ext cx="50800" cy="1168400"/>
          </a:xfrm>
          <a:prstGeom prst="rect">
            <a:avLst/>
          </a:prstGeom>
          <a:solidFill>
            <a:srgbClr val="216BB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388DF6FD-ACFC-4919-AAE9-1B43EB68BF6E}"/>
              </a:ext>
            </a:extLst>
          </p:cNvPr>
          <p:cNvSpPr txBox="1"/>
          <p:nvPr/>
        </p:nvSpPr>
        <p:spPr>
          <a:xfrm>
            <a:off x="4864100" y="3666069"/>
            <a:ext cx="203200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50" b="1">
                <a:solidFill>
                  <a:srgbClr val="091424"/>
                </a:solidFill>
                <a:latin typeface="Microsoft YaHei" panose="020B0503020204020204" pitchFamily="34" charset="-122"/>
              </a:rPr>
              <a:t>工程成果</a:t>
            </a: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1AF4CE49-52E9-404F-89C7-2FA443F9CA10}"/>
              </a:ext>
            </a:extLst>
          </p:cNvPr>
          <p:cNvSpPr txBox="1"/>
          <p:nvPr/>
        </p:nvSpPr>
        <p:spPr>
          <a:xfrm>
            <a:off x="4864100" y="4123269"/>
            <a:ext cx="2349500" cy="48474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1050">
                <a:solidFill>
                  <a:srgbClr val="4F6B8A"/>
                </a:solidFill>
                <a:latin typeface="Microsoft YaHei" panose="020B0503020204020204" pitchFamily="34" charset="-122"/>
              </a:rPr>
              <a:t>Vue 3 + SpringBoot </a:t>
            </a:r>
            <a:r>
              <a:rPr lang="zh-CN" altLang="en-US" sz="1050">
                <a:solidFill>
                  <a:srgbClr val="4F6B8A"/>
                </a:solidFill>
                <a:latin typeface="Microsoft YaHei" panose="020B0503020204020204" pitchFamily="34" charset="-122"/>
              </a:rPr>
              <a:t>前后端分离，</a:t>
            </a:r>
            <a:r>
              <a:rPr lang="en-US" altLang="zh-CN" sz="1050">
                <a:solidFill>
                  <a:srgbClr val="4F6B8A"/>
                </a:solidFill>
                <a:latin typeface="Microsoft YaHei" panose="020B0503020204020204" pitchFamily="34" charset="-122"/>
              </a:rPr>
              <a:t>JWT </a:t>
            </a:r>
            <a:r>
              <a:rPr lang="zh-CN" altLang="en-US" sz="1050">
                <a:solidFill>
                  <a:srgbClr val="4F6B8A"/>
                </a:solidFill>
                <a:latin typeface="Microsoft YaHei" panose="020B0503020204020204" pitchFamily="34" charset="-122"/>
              </a:rPr>
              <a:t>权限控制，</a:t>
            </a:r>
            <a:r>
              <a:rPr lang="en-US" altLang="zh-CN" sz="1050">
                <a:solidFill>
                  <a:srgbClr val="4F6B8A"/>
                </a:solidFill>
                <a:latin typeface="Microsoft YaHei" panose="020B0503020204020204" pitchFamily="34" charset="-122"/>
              </a:rPr>
              <a:t>MySQL/Redis/Docker </a:t>
            </a:r>
            <a:r>
              <a:rPr lang="zh-CN" altLang="en-US" sz="1050">
                <a:solidFill>
                  <a:srgbClr val="4F6B8A"/>
                </a:solidFill>
                <a:latin typeface="Microsoft YaHei" panose="020B0503020204020204" pitchFamily="34" charset="-122"/>
              </a:rPr>
              <a:t>协同。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B7032BFF-87EE-4762-8A57-9407CF289A88}"/>
              </a:ext>
            </a:extLst>
          </p:cNvPr>
          <p:cNvSpPr/>
          <p:nvPr/>
        </p:nvSpPr>
        <p:spPr>
          <a:xfrm>
            <a:off x="8229600" y="3386669"/>
            <a:ext cx="2921000" cy="142240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2CED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7FB9366-7A1B-4503-B24F-5FE44E6D2612}"/>
              </a:ext>
            </a:extLst>
          </p:cNvPr>
          <p:cNvSpPr/>
          <p:nvPr/>
        </p:nvSpPr>
        <p:spPr>
          <a:xfrm>
            <a:off x="8305800" y="3513669"/>
            <a:ext cx="50800" cy="1168400"/>
          </a:xfrm>
          <a:prstGeom prst="rect">
            <a:avLst/>
          </a:prstGeom>
          <a:solidFill>
            <a:srgbClr val="18BB7D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A4ABD6EF-D6A4-45F5-B702-15F459792D0C}"/>
              </a:ext>
            </a:extLst>
          </p:cNvPr>
          <p:cNvSpPr txBox="1"/>
          <p:nvPr/>
        </p:nvSpPr>
        <p:spPr>
          <a:xfrm>
            <a:off x="8458200" y="3666069"/>
            <a:ext cx="203200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450" b="1">
                <a:solidFill>
                  <a:srgbClr val="091424"/>
                </a:solidFill>
                <a:latin typeface="Microsoft YaHei" panose="020B0503020204020204" pitchFamily="34" charset="-122"/>
              </a:rPr>
              <a:t>验证成果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BC25BFC8-98E7-4E33-B7BE-3F58A6CAEBF3}"/>
              </a:ext>
            </a:extLst>
          </p:cNvPr>
          <p:cNvSpPr txBox="1"/>
          <p:nvPr/>
        </p:nvSpPr>
        <p:spPr>
          <a:xfrm>
            <a:off x="8458200" y="4123269"/>
            <a:ext cx="2349500" cy="3231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zh-CN" altLang="en-US" sz="1050">
                <a:solidFill>
                  <a:srgbClr val="4F6B8A"/>
                </a:solidFill>
                <a:latin typeface="Microsoft YaHei" panose="020B0503020204020204" pitchFamily="34" charset="-122"/>
              </a:rPr>
              <a:t>功能测试、接口测试、判题流程测试、权限测试和自动化测试形成验证依据。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B96CB0E-4449-4F72-B0F1-DD01D6BCBC9D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C5F8371-A0AE-4B3F-98E9-8C9D9990D2F5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13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060890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0580CCC1-87F4-4B36-A884-F60DE3320A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76200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不足与展望：从本地演示走向更强平台能力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6B4469C-AC66-4D96-9F79-E5E63A38F5B4}"/>
              </a:ext>
            </a:extLst>
          </p:cNvPr>
          <p:cNvSpPr>
            <a:spLocks noGrp="1"/>
          </p:cNvSpPr>
          <p:nvPr/>
        </p:nvSpPr>
        <p:spPr>
          <a:xfrm>
            <a:off x="628650" y="904875"/>
            <a:ext cx="7429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5000"/>
              </a:lnSpc>
              <a:buNone/>
              <a:def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27D98"/>
                </a:solidFill>
                <a:latin typeface="Microsoft YaHei"/>
                <a:ea typeface="Microsoft YaHei"/>
                <a:cs typeface="Microsoft YaHei"/>
              </a:rPr>
              <a:t>当前重点是核心闭环；后续优化围绕规模、安全和管理效率展开。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6F4001D9-A87F-4D27-ACA6-E811A38E12FA}"/>
              </a:ext>
            </a:extLst>
          </p:cNvPr>
          <p:cNvSpPr>
            <a:spLocks noGrp="1"/>
          </p:cNvSpPr>
          <p:nvPr/>
        </p:nvSpPr>
        <p:spPr>
          <a:xfrm>
            <a:off x="609600" y="1257300"/>
            <a:ext cx="876300" cy="3810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6DDA44CE-93E7-43FE-BC20-50C6B5D1CB17}"/>
              </a:ext>
            </a:extLst>
          </p:cNvPr>
          <p:cNvSpPr>
            <a:spLocks noGrp="1"/>
          </p:cNvSpPr>
          <p:nvPr/>
        </p:nvSpPr>
        <p:spPr>
          <a:xfrm>
            <a:off x="12192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00A6B2"/>
          </a:solidFill>
          <a:ln w="0">
            <a:noFill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CC8DCEF-E969-4D08-8C79-324BB6D5B8E2}"/>
              </a:ext>
            </a:extLst>
          </p:cNvPr>
          <p:cNvSpPr>
            <a:spLocks noGrp="1"/>
          </p:cNvSpPr>
          <p:nvPr/>
        </p:nvSpPr>
        <p:spPr>
          <a:xfrm>
            <a:off x="12192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B9C72A1-CF92-4407-8546-4A296276D19D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分布式判题队列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B0D4A8-3B58-4337-A3BB-263C98506964}"/>
              </a:ext>
            </a:extLst>
          </p:cNvPr>
          <p:cNvSpPr>
            <a:spLocks noGrp="1"/>
          </p:cNvSpPr>
          <p:nvPr/>
        </p:nvSpPr>
        <p:spPr>
          <a:xfrm>
            <a:off x="6953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引入任务队列或调度组件，提高并发提交下的吞吐能力。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C22615F-D5B7-4304-872D-3E52785C78B9}"/>
              </a:ext>
            </a:extLst>
          </p:cNvPr>
          <p:cNvSpPr>
            <a:spLocks noGrp="1"/>
          </p:cNvSpPr>
          <p:nvPr/>
        </p:nvSpPr>
        <p:spPr>
          <a:xfrm>
            <a:off x="201930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4C9290B-7CEE-4DE6-AD7C-1D3FE0F758CB}"/>
              </a:ext>
            </a:extLst>
          </p:cNvPr>
          <p:cNvSpPr>
            <a:spLocks noGrp="1"/>
          </p:cNvSpPr>
          <p:nvPr/>
        </p:nvSpPr>
        <p:spPr>
          <a:xfrm>
            <a:off x="321945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1769AA"/>
          </a:solidFill>
          <a:ln w="0">
            <a:noFill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EA31C1D-E1A1-4EB8-98BF-47FEA2302F6F}"/>
              </a:ext>
            </a:extLst>
          </p:cNvPr>
          <p:cNvSpPr>
            <a:spLocks noGrp="1"/>
          </p:cNvSpPr>
          <p:nvPr/>
        </p:nvSpPr>
        <p:spPr>
          <a:xfrm>
            <a:off x="321945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42A517-A824-419C-9042-2E17A0C99972}"/>
              </a:ext>
            </a:extLst>
          </p:cNvPr>
          <p:cNvSpPr>
            <a:spLocks noGrp="1"/>
          </p:cNvSpPr>
          <p:nvPr/>
        </p:nvSpPr>
        <p:spPr>
          <a:xfrm>
            <a:off x="276225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安全沙盒强化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96465C-9522-4644-A656-60C1C224A820}"/>
              </a:ext>
            </a:extLst>
          </p:cNvPr>
          <p:cNvSpPr>
            <a:spLocks noGrp="1"/>
          </p:cNvSpPr>
          <p:nvPr/>
        </p:nvSpPr>
        <p:spPr>
          <a:xfrm>
            <a:off x="269557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继续限制网络、文件系统、系统调用和容器资源。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59E5F0D-3E3B-4E71-AD3F-797EB9330E23}"/>
              </a:ext>
            </a:extLst>
          </p:cNvPr>
          <p:cNvSpPr>
            <a:spLocks noGrp="1"/>
          </p:cNvSpPr>
          <p:nvPr/>
        </p:nvSpPr>
        <p:spPr>
          <a:xfrm>
            <a:off x="401955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8BCE162-E2B9-410E-8DDA-EFB18F20E56F}"/>
              </a:ext>
            </a:extLst>
          </p:cNvPr>
          <p:cNvSpPr>
            <a:spLocks noGrp="1"/>
          </p:cNvSpPr>
          <p:nvPr/>
        </p:nvSpPr>
        <p:spPr>
          <a:xfrm>
            <a:off x="52197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0">
            <a:noFill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31B1F8A-D09E-4455-A17C-89872960A1B3}"/>
              </a:ext>
            </a:extLst>
          </p:cNvPr>
          <p:cNvSpPr>
            <a:spLocks noGrp="1"/>
          </p:cNvSpPr>
          <p:nvPr/>
        </p:nvSpPr>
        <p:spPr>
          <a:xfrm>
            <a:off x="52197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F50E8F1-1FB5-47F4-9ED0-2392B5F7F61B}"/>
              </a:ext>
            </a:extLst>
          </p:cNvPr>
          <p:cNvSpPr>
            <a:spLocks noGrp="1"/>
          </p:cNvSpPr>
          <p:nvPr/>
        </p:nvSpPr>
        <p:spPr>
          <a:xfrm>
            <a:off x="47625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竞赛与排行榜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81297D2-9E5F-4F35-B940-766B2D8C8563}"/>
              </a:ext>
            </a:extLst>
          </p:cNvPr>
          <p:cNvSpPr>
            <a:spLocks noGrp="1"/>
          </p:cNvSpPr>
          <p:nvPr/>
        </p:nvSpPr>
        <p:spPr>
          <a:xfrm>
            <a:off x="46958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在现有提交和题库基础上扩展限时比赛和排名统计。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A7D95AF6-8F06-4221-9BF4-477A7AEEFE91}"/>
              </a:ext>
            </a:extLst>
          </p:cNvPr>
          <p:cNvSpPr>
            <a:spLocks noGrp="1"/>
          </p:cNvSpPr>
          <p:nvPr/>
        </p:nvSpPr>
        <p:spPr>
          <a:xfrm>
            <a:off x="601980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2A5376D-2108-4494-9978-6F4F945852CC}"/>
              </a:ext>
            </a:extLst>
          </p:cNvPr>
          <p:cNvSpPr>
            <a:spLocks noGrp="1"/>
          </p:cNvSpPr>
          <p:nvPr/>
        </p:nvSpPr>
        <p:spPr>
          <a:xfrm>
            <a:off x="721995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0">
            <a:noFill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52DCE5E-FFB8-4410-8BEA-43D2CF0C2409}"/>
              </a:ext>
            </a:extLst>
          </p:cNvPr>
          <p:cNvSpPr>
            <a:spLocks noGrp="1"/>
          </p:cNvSpPr>
          <p:nvPr/>
        </p:nvSpPr>
        <p:spPr>
          <a:xfrm>
            <a:off x="721995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B913002-EDD1-4B3E-83E8-520326852AF5}"/>
              </a:ext>
            </a:extLst>
          </p:cNvPr>
          <p:cNvSpPr>
            <a:spLocks noGrp="1"/>
          </p:cNvSpPr>
          <p:nvPr/>
        </p:nvSpPr>
        <p:spPr>
          <a:xfrm>
            <a:off x="676275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题库批量维护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4BC41D3-0582-4158-8551-F92DF6F01EAF}"/>
              </a:ext>
            </a:extLst>
          </p:cNvPr>
          <p:cNvSpPr>
            <a:spLocks noGrp="1"/>
          </p:cNvSpPr>
          <p:nvPr/>
        </p:nvSpPr>
        <p:spPr>
          <a:xfrm>
            <a:off x="669607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增加批量导入、题面版本记录、测试用例文件上传。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027718A-961E-42B6-A412-407FBA6A66A1}"/>
              </a:ext>
            </a:extLst>
          </p:cNvPr>
          <p:cNvSpPr>
            <a:spLocks noGrp="1"/>
          </p:cNvSpPr>
          <p:nvPr/>
        </p:nvSpPr>
        <p:spPr>
          <a:xfrm>
            <a:off x="8020050" y="2295525"/>
            <a:ext cx="1123950" cy="28575"/>
          </a:xfrm>
          <a:prstGeom prst="roundRect">
            <a:avLst>
              <a:gd name="adj" fmla="val 50000"/>
            </a:avLst>
          </a:prstGeom>
          <a:solidFill>
            <a:srgbClr val="C9DDE8"/>
          </a:solidFill>
          <a:ln w="0">
            <a:noFill/>
          </a:ln>
        </p:spPr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0A1245E3-0EFD-4FFE-BE79-FE81BB72BDED}"/>
              </a:ext>
            </a:extLst>
          </p:cNvPr>
          <p:cNvSpPr>
            <a:spLocks noGrp="1"/>
          </p:cNvSpPr>
          <p:nvPr/>
        </p:nvSpPr>
        <p:spPr>
          <a:xfrm>
            <a:off x="9220200" y="1952625"/>
            <a:ext cx="704850" cy="70485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0">
            <a:noFill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C5F3DC7-4A08-46E9-9F61-6FB13F0102E3}"/>
              </a:ext>
            </a:extLst>
          </p:cNvPr>
          <p:cNvSpPr>
            <a:spLocks noGrp="1"/>
          </p:cNvSpPr>
          <p:nvPr/>
        </p:nvSpPr>
        <p:spPr>
          <a:xfrm>
            <a:off x="9220200" y="2105025"/>
            <a:ext cx="704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5492"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ED246BA-028B-4821-9FEC-7886388220BF}"/>
              </a:ext>
            </a:extLst>
          </p:cNvPr>
          <p:cNvSpPr>
            <a:spLocks noGrp="1"/>
          </p:cNvSpPr>
          <p:nvPr/>
        </p:nvSpPr>
        <p:spPr>
          <a:xfrm>
            <a:off x="8763000" y="2905125"/>
            <a:ext cx="1619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训练数据分析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E6636EE-70EE-4313-B0EE-C9BE5CD01D07}"/>
              </a:ext>
            </a:extLst>
          </p:cNvPr>
          <p:cNvSpPr>
            <a:spLocks noGrp="1"/>
          </p:cNvSpPr>
          <p:nvPr/>
        </p:nvSpPr>
        <p:spPr>
          <a:xfrm>
            <a:off x="8696325" y="3295650"/>
            <a:ext cx="17526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20000"/>
              </a:lnSpc>
              <a:buNone/>
              <a:def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334E68"/>
                </a:solidFill>
                <a:latin typeface="Microsoft YaHei"/>
                <a:ea typeface="Microsoft YaHei"/>
                <a:cs typeface="Microsoft YaHei"/>
              </a:rPr>
              <a:t>结合题目标签和提交历史，生成更细粒度能力分析。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EAA06E80-D99A-4579-AC9C-4AF5A33F4A2C}"/>
              </a:ext>
            </a:extLst>
          </p:cNvPr>
          <p:cNvSpPr>
            <a:spLocks noGrp="1"/>
          </p:cNvSpPr>
          <p:nvPr/>
        </p:nvSpPr>
        <p:spPr>
          <a:xfrm>
            <a:off x="1428750" y="4800600"/>
            <a:ext cx="9334500" cy="495300"/>
          </a:xfrm>
          <a:prstGeom prst="roundRect">
            <a:avLst>
              <a:gd name="adj" fmla="val 15385"/>
            </a:avLst>
          </a:prstGeom>
          <a:solidFill>
            <a:srgbClr val="F4FAFB"/>
          </a:solidFill>
          <a:ln w="9525">
            <a:solidFill>
              <a:srgbClr val="C7E9ED"/>
            </a:solidFill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BA71AF5-1E76-43A2-A05B-9C8141AE17CD}"/>
              </a:ext>
            </a:extLst>
          </p:cNvPr>
          <p:cNvSpPr>
            <a:spLocks noGrp="1"/>
          </p:cNvSpPr>
          <p:nvPr/>
        </p:nvSpPr>
        <p:spPr>
          <a:xfrm>
            <a:off x="1714500" y="4953000"/>
            <a:ext cx="8763000" cy="190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2751" lnSpcReduction="10000"/>
          </a:bodyPr>
          <a:lstStyle/>
          <a:p>
            <a:pPr algn="ctr">
              <a:lnSpc>
                <a:spcPct val="115000"/>
              </a:lnSpc>
              <a:buNone/>
              <a:defRPr sz="1275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dirty="0" err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总结：OJPT</a:t>
            </a:r>
            <a:r>
              <a:rPr sz="1275" b="1" dirty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275" b="1" dirty="0" err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已完成设计阶段的核心闭环，后续方向是规模化、安全性和训练分析能力提升</a:t>
            </a:r>
            <a:r>
              <a:rPr sz="1275" b="1" dirty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A44F134-BC3D-4047-8845-F28D402940D4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080FDE2-299C-41F5-ADE2-3562B8F5CF31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14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785127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BAC79317-A2AC-4CA7-BD4A-F21EF5B984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3"/>
          </a:solidFill>
          <a:ln w="0">
            <a:noFill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92E4078-2447-4430-B5D6-32C7E787E5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0"/>
          </a:xfrm>
          <a:prstGeom prst="rect">
            <a:avLst/>
          </a:prstGeom>
          <a:solidFill>
            <a:srgbClr val="00A6B2"/>
          </a:solidFill>
          <a:ln w="0">
            <a:noFill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42EA49-7DB6-4C2A-83B1-CD114CB0F60F}"/>
              </a:ext>
            </a:extLst>
          </p:cNvPr>
          <p:cNvSpPr>
            <a:spLocks noGrp="1"/>
          </p:cNvSpPr>
          <p:nvPr/>
        </p:nvSpPr>
        <p:spPr>
          <a:xfrm>
            <a:off x="0" y="2095500"/>
            <a:ext cx="12192000" cy="723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感谢聆听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C4EC98C-A8D6-4D37-AE7C-B8045DEFB884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800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DCEAF3"/>
                </a:solidFill>
                <a:latin typeface="Microsoft YaHei"/>
                <a:ea typeface="Microsoft YaHei"/>
                <a:cs typeface="Microsoft YaHei"/>
              </a:rPr>
              <a:t>恳请各位老师批评指正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79A6BA-DFCE-470F-B6F3-4F73BBBFB8A0}"/>
              </a:ext>
            </a:extLst>
          </p:cNvPr>
          <p:cNvSpPr>
            <a:spLocks noGrp="1"/>
          </p:cNvSpPr>
          <p:nvPr/>
        </p:nvSpPr>
        <p:spPr>
          <a:xfrm>
            <a:off x="0" y="3962400"/>
            <a:ext cx="12192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2100" b="1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dirty="0">
                <a:solidFill>
                  <a:srgbClr val="A7E7ED"/>
                </a:solidFill>
                <a:latin typeface="Microsoft YaHei"/>
                <a:ea typeface="Microsoft YaHei"/>
                <a:cs typeface="Microsoft YaHei"/>
              </a:rPr>
              <a:t>Q &amp; A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467E15-F5C8-450C-9E7A-C3AAC7065583}"/>
              </a:ext>
            </a:extLst>
          </p:cNvPr>
          <p:cNvSpPr>
            <a:spLocks noGrp="1"/>
          </p:cNvSpPr>
          <p:nvPr/>
        </p:nvSpPr>
        <p:spPr>
          <a:xfrm>
            <a:off x="0" y="5905500"/>
            <a:ext cx="12192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15000"/>
              </a:lnSpc>
              <a:buNone/>
              <a:defRPr sz="1125" b="0">
                <a:solidFill>
                  <a:srgbClr val="AFC7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AFC7D8"/>
                </a:solidFill>
                <a:latin typeface="Microsoft YaHei"/>
                <a:ea typeface="Microsoft YaHei"/>
                <a:cs typeface="Microsoft YaHei"/>
              </a:rPr>
              <a:t>汪鸿韬 | 22437043 | 计算机科学与技术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76134F6-8097-4DC3-B2C6-852DF8FC6AA6}"/>
              </a:ext>
            </a:extLst>
          </p:cNvPr>
          <p:cNvSpPr txBox="1"/>
          <p:nvPr/>
        </p:nvSpPr>
        <p:spPr>
          <a:xfrm>
            <a:off x="609600" y="6451600"/>
            <a:ext cx="3302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OJPT </a:t>
            </a:r>
            <a:r>
              <a:rPr lang="zh-CN" altLang="en-US" sz="780">
                <a:solidFill>
                  <a:srgbClr val="859AB2"/>
                </a:solidFill>
                <a:latin typeface="Microsoft YaHei" panose="020B0503020204020204" pitchFamily="34" charset="-122"/>
              </a:rPr>
              <a:t>在线算法题库系统毕业答辩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ECF0BD-961F-47CD-AE0B-52A4FCEFA83F}"/>
              </a:ext>
            </a:extLst>
          </p:cNvPr>
          <p:cNvSpPr txBox="1"/>
          <p:nvPr/>
        </p:nvSpPr>
        <p:spPr>
          <a:xfrm>
            <a:off x="11112500" y="6451600"/>
            <a:ext cx="635000" cy="12003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altLang="zh-CN" sz="780">
                <a:solidFill>
                  <a:srgbClr val="859AB2"/>
                </a:solidFill>
                <a:latin typeface="Microsoft YaHei" panose="020B0503020204020204" pitchFamily="34" charset="-122"/>
              </a:rPr>
              <a:t>15 / 15</a:t>
            </a:r>
            <a:endParaRPr lang="zh-CN" altLang="en-US" sz="780">
              <a:solidFill>
                <a:srgbClr val="859AB2"/>
              </a:solidFill>
              <a:latin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8767914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</TotalTime>
  <Words>1740</Words>
  <Application>Microsoft Office PowerPoint</Application>
  <DocSecurity>0</DocSecurity>
  <PresentationFormat>宽屏</PresentationFormat>
  <Paragraphs>291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20" baseType="lpstr">
      <vt:lpstr>Microsoft YaHei</vt:lpstr>
      <vt:lpstr>Arial</vt:lpstr>
      <vt:lpstr>Calibri</vt:lpstr>
      <vt:lpstr>Calibri Light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3432881734@qq.com</cp:lastModifiedBy>
  <cp:revision>20</cp:revision>
  <dcterms:created xsi:type="dcterms:W3CDTF">2026-05-12T13:29:20Z</dcterms:created>
  <dcterms:modified xsi:type="dcterms:W3CDTF">2026-05-14T08:30:38Z</dcterms:modified>
</cp:coreProperties>
</file>