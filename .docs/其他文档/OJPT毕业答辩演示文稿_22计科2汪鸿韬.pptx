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94" autoAdjust="0"/>
    <p:restoredTop sz="94658"/>
  </p:normalViewPr>
  <p:slideViewPr>
    <p:cSldViewPr snapToGrid="0">
      <p:cViewPr varScale="1">
        <p:scale>
          <a:sx n="161" d="100"/>
          <a:sy n="161" d="100"/>
        </p:scale>
        <p:origin x="228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各位老师好，我的毕业设计题目是面向编程竞赛的 SpringBoot 在线算法题库系统的设计与实现。下面我会用六分钟，围绕系统的判题训练闭环、关键实现和测试结果进行汇报。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本课题来自算法训练中的实际需求。人工评测效率低、环境不一致，训练过程和题库维护难以持续跟踪，所以系统重点解决自动评测和训练管理问题。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当前系统定位为个人算法训练平台，围绕普通用户和管理员两类角色组织功能。普通用户完成题库训练和判题提交，管理员负责题目、用户、测试用例和判题环境维护。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系统目标可以概括为一条完整业务闭环：用户从题库入口进入题目，编辑代码并先运行调试，再正式提交，由后端调度 Docker 判题，最后回写提交结果和训练进度。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总体架构采用前后端分离。前端负责页面交互，SpringBoot 后端提供接口和业务服务，MySQL 保存业务数据，Redis 管理登录态，Docker 隔离执行用户代码。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核心业务流程从用户进入题目开始。运行代码主要用于调试，可以使用样例或自定义输入；正式提交会创建提交记录，执行测试用例，并保存最终状态和逐用例结果。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判题模块是本项目重点。运行代码用于调试，不生成正式提交记录；正式提交会遍历测试用例，调用 Docker 执行程序，并保存 AC、WA、CE、RE 等结果。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账号与权限部分采用 JWT 登录态和基于角色的访问控制。普通用户可以完成题库、做题、个人中心等功能；管理员才可以进入后台维护用户、题目、标签和判题环境。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数据库围绕判题训练闭环建模。用户、题目、标签和测试用例支撑题库维护；提交、逐用例结果和用户做题进度支撑判题结果查询和训练统计。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普通用户侧展示完整训练流程。用户可以筛选题库、进入做题页、编辑并运行代码，最后在个人中心看到提交记录和训练统计。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管理员侧保障题库内容可维护。管理员可以维护用户状态，创建和编辑题目，维护公开样例和隐藏用例，管理标签，并检查 Docker 判题环境。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测试验证覆盖普通用户和管理员两条主线。论文中整理了功能测试、接口测试、判题流程测试、权限测试和自动化测试，结果表明主要功能能够按照设计要求运行。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本项目的成果可以概括为三个层面：功能上形成了用户训练和后台维护闭环，技术上完成了前后端分离、权限控制和 Docker 判题，文档上形成了论文、功能说明、截图和测试材料。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系统已满足毕业设计阶段的核心功能和演示要求。后续可以在分布式判题队列、安全沙盒、竞赛组织、题库批量维护和更细粒度的数据分析方面扩展。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以上就是我的毕业设计汇报。感谢各位老师的聆听，恳请老师批评指正。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AC8186-676F-4EE8-85A5-D874222F67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2C3B932-A25C-4462-9703-94FC0EF391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s/_rels/slide9.xml.rels><?xml version='1.0' encoding='UTF-8'?>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0FEAF11F-996A-472A-AD36-ED5FAE6BC5CB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40005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788" b="0">
                <a:solidFill>
                  <a:srgbClr val="8EA4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8EA4B8"/>
                </a:solidFill>
                <a:latin typeface="Microsoft YaHei"/>
                <a:ea typeface="Microsoft YaHei"/>
                <a:cs typeface="Microsoft YaHei"/>
              </a:rPr>
              <a:t>OJPT 在线算法题库系统毕业答辩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0BD8241-908D-45BF-9C2E-B83B6539818D}"/>
              </a:ext>
            </a:extLst>
          </p:cNvPr>
          <p:cNvSpPr>
            <a:spLocks noGrp="1"/>
          </p:cNvSpPr>
          <p:nvPr/>
        </p:nvSpPr>
        <p:spPr>
          <a:xfrm>
            <a:off x="10839450" y="6429375"/>
            <a:ext cx="762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15000"/>
              </a:lnSpc>
              <a:buNone/>
              <a:defRPr sz="788" b="0">
                <a:solidFill>
                  <a:srgbClr val="8EA4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8EA4B8"/>
                </a:solidFill>
                <a:latin typeface="Microsoft YaHei"/>
                <a:ea typeface="Microsoft YaHei"/>
                <a:cs typeface="Microsoft YaHei"/>
              </a:rPr>
              <a:t>01 / 15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780CC0F-1CF5-4512-B965-5CCC2825F2E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BFD"/>
          </a:solidFill>
          <a:ln w="0">
            <a:noFill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03B7AD1-CE46-4320-8E5D-1B746373E05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4095750" cy="6858000"/>
          </a:xfrm>
          <a:prstGeom prst="rect">
            <a:avLst/>
          </a:prstGeom>
          <a:solidFill>
            <a:srgbClr val="0B1F33"/>
          </a:solidFill>
          <a:ln w="0">
            <a:noFill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0957102-0FB8-4DCE-AED9-7005491B8C93}"/>
              </a:ext>
            </a:extLst>
          </p:cNvPr>
          <p:cNvSpPr>
            <a:spLocks noGrp="1"/>
          </p:cNvSpPr>
          <p:nvPr/>
        </p:nvSpPr>
        <p:spPr>
          <a:xfrm>
            <a:off x="4095750" y="0"/>
            <a:ext cx="114300" cy="6858000"/>
          </a:xfrm>
          <a:prstGeom prst="rect">
            <a:avLst/>
          </a:prstGeom>
          <a:solidFill>
            <a:srgbClr val="00A6B2"/>
          </a:solidFill>
          <a:ln w="0">
            <a:noFill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FA9E5C5-314D-4C15-AE72-AD717E4C9938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1800" b="1">
                <a:solidFill>
                  <a:srgbClr val="A7E7E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A7E7ED"/>
                </a:solidFill>
                <a:latin typeface="Microsoft YaHei"/>
                <a:ea typeface="Microsoft YaHei"/>
                <a:cs typeface="Microsoft YaHei"/>
              </a:rPr>
              <a:t>毕业设计答辩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9A1395B-7457-4F44-AE02-C72726EB4C99}"/>
              </a:ext>
            </a:extLst>
          </p:cNvPr>
          <p:cNvSpPr>
            <a:spLocks noGrp="1"/>
          </p:cNvSpPr>
          <p:nvPr/>
        </p:nvSpPr>
        <p:spPr>
          <a:xfrm>
            <a:off x="609600" y="1352550"/>
            <a:ext cx="3143250" cy="1600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23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面向编程竞赛的</a:t>
            </a:r>
          </a:p>
          <a:p>
            <a:pPr algn="l">
              <a:lnSpc>
                <a:spcPct val="108000"/>
              </a:lnSpc>
              <a:buNone/>
              <a:defRPr sz="23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SpringBoot 在线算法</a:t>
            </a:r>
          </a:p>
          <a:p>
            <a:pPr algn="l">
              <a:lnSpc>
                <a:spcPct val="108000"/>
              </a:lnSpc>
              <a:buNone/>
              <a:defRPr sz="23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题库系统的设计与实现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38E29EC-CC8D-4DA6-BAFC-1717D756243F}"/>
              </a:ext>
            </a:extLst>
          </p:cNvPr>
          <p:cNvSpPr>
            <a:spLocks noGrp="1"/>
          </p:cNvSpPr>
          <p:nvPr/>
        </p:nvSpPr>
        <p:spPr>
          <a:xfrm>
            <a:off x="628650" y="3105150"/>
            <a:ext cx="53340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1275" b="0">
                <a:solidFill>
                  <a:srgbClr val="CFEAF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CFEAF2"/>
                </a:solidFill>
                <a:latin typeface="Microsoft YaHei"/>
                <a:ea typeface="Microsoft YaHei"/>
                <a:cs typeface="Microsoft YaHei"/>
              </a:rPr>
              <a:t>Open Judge Platform for Training (OJPT)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213A614-E3A8-4FA3-9564-39A3232DAA05}"/>
              </a:ext>
            </a:extLst>
          </p:cNvPr>
          <p:cNvSpPr>
            <a:spLocks noGrp="1"/>
          </p:cNvSpPr>
          <p:nvPr/>
        </p:nvSpPr>
        <p:spPr>
          <a:xfrm>
            <a:off x="628650" y="4333875"/>
            <a:ext cx="3429000" cy="1238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35000"/>
              </a:lnSpc>
              <a:buNone/>
              <a:defRPr sz="1275" b="0">
                <a:solidFill>
                  <a:srgbClr val="DCEAF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DCEAF3"/>
                </a:solidFill>
                <a:latin typeface="Microsoft YaHei"/>
                <a:ea typeface="Microsoft YaHei"/>
                <a:cs typeface="Microsoft YaHei"/>
              </a:rPr>
              <a:t>学生姓名：汪鸿韬</a:t>
            </a:r>
          </a:p>
          <a:p>
            <a:pPr algn="l">
              <a:lnSpc>
                <a:spcPct val="135000"/>
              </a:lnSpc>
              <a:buNone/>
              <a:defRPr sz="1275" b="0">
                <a:solidFill>
                  <a:srgbClr val="DCEAF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DCEAF3"/>
                </a:solidFill>
                <a:latin typeface="Microsoft YaHei"/>
                <a:ea typeface="Microsoft YaHei"/>
                <a:cs typeface="Microsoft YaHei"/>
              </a:rPr>
              <a:t>学号：22437043</a:t>
            </a:r>
          </a:p>
          <a:p>
            <a:pPr algn="l">
              <a:lnSpc>
                <a:spcPct val="135000"/>
              </a:lnSpc>
              <a:buNone/>
              <a:defRPr sz="1275" b="0">
                <a:solidFill>
                  <a:srgbClr val="DCEAF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DCEAF3"/>
                </a:solidFill>
                <a:latin typeface="Microsoft YaHei"/>
                <a:ea typeface="Microsoft YaHei"/>
                <a:cs typeface="Microsoft YaHei"/>
              </a:rPr>
              <a:t>专业：计算机科学与技术</a:t>
            </a:r>
          </a:p>
          <a:p>
            <a:pPr algn="l">
              <a:lnSpc>
                <a:spcPct val="135000"/>
              </a:lnSpc>
              <a:buNone/>
              <a:defRPr sz="1275" b="0">
                <a:solidFill>
                  <a:srgbClr val="DCEAF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DCEAF3"/>
                </a:solidFill>
                <a:latin typeface="Microsoft YaHei"/>
                <a:ea typeface="Microsoft YaHei"/>
                <a:cs typeface="Microsoft YaHei"/>
              </a:rPr>
              <a:t>指导教师：王晨 讲师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A14B1809-03E8-410A-AF58-A95004CD9DF1}"/>
              </a:ext>
            </a:extLst>
          </p:cNvPr>
          <p:cNvSpPr>
            <a:spLocks noGrp="1"/>
          </p:cNvSpPr>
          <p:nvPr/>
        </p:nvSpPr>
        <p:spPr>
          <a:xfrm>
            <a:off x="4876800" y="914400"/>
            <a:ext cx="6191250" cy="400050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</p:spPr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3"/>
          <a:srcRect t="6357" b="6357"/>
          <a:stretch>
            <a:fillRect/>
          </a:stretch>
        </p:blipFill>
        <p:spPr>
          <a:xfrm>
            <a:off x="4876800" y="914400"/>
            <a:ext cx="6191250" cy="3752850"/>
          </a:xfrm>
          <a:prstGeom prst="roundRect">
            <a:avLst>
              <a:gd name="adj" fmla="val 1523"/>
            </a:avLst>
          </a:prstGeom>
        </p:spPr>
      </p:pic>
      <p:sp>
        <p:nvSpPr>
          <p:cNvPr id="12" name="矩形 11">
            <a:extLst>
              <a:ext uri="{FF2B5EF4-FFF2-40B4-BE49-F238E27FC236}">
                <a16:creationId xmlns:a16="http://schemas.microsoft.com/office/drawing/2014/main" id="{ECF9827F-1474-4E8C-880C-117CF6C52E76}"/>
              </a:ext>
            </a:extLst>
          </p:cNvPr>
          <p:cNvSpPr>
            <a:spLocks noGrp="1"/>
          </p:cNvSpPr>
          <p:nvPr/>
        </p:nvSpPr>
        <p:spPr>
          <a:xfrm>
            <a:off x="4991100" y="4667250"/>
            <a:ext cx="59626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5000"/>
              </a:lnSpc>
              <a:buNone/>
              <a:defRPr sz="788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rPr>
              <a:t>项目运行界面：题库入口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79D57DC-B2D3-4DB3-BCB0-06ECC31A1742}"/>
              </a:ext>
            </a:extLst>
          </p:cNvPr>
          <p:cNvSpPr>
            <a:spLocks noGrp="1"/>
          </p:cNvSpPr>
          <p:nvPr/>
        </p:nvSpPr>
        <p:spPr>
          <a:xfrm>
            <a:off x="5105400" y="5334000"/>
            <a:ext cx="56197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5000"/>
              </a:lnSpc>
              <a:buNone/>
              <a:defRPr sz="135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系统核心：题库训练、代码评测与结果反馈闭环</a:t>
            </a:r>
          </a:p>
        </p:txBody>
      </p:sp>
    </p:spTree>
    <p:extLst>
      <p:ext uri="{BB962C8B-B14F-4D97-AF65-F5344CB8AC3E}">
        <p14:creationId xmlns:p14="http://schemas.microsoft.com/office/powerpoint/2010/main" val="6248623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19">
            <a:extLst>
              <a:ext uri="{FF2B5EF4-FFF2-40B4-BE49-F238E27FC236}">
                <a16:creationId xmlns:a16="http://schemas.microsoft.com/office/drawing/2014/main" id="{5B7CFF5A-709C-4F2F-B419-710C555A2E65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40005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788" b="0">
                <a:solidFill>
                  <a:srgbClr val="8EA4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8EA4B8"/>
                </a:solidFill>
                <a:latin typeface="Microsoft YaHei"/>
                <a:ea typeface="Microsoft YaHei"/>
                <a:cs typeface="Microsoft YaHei"/>
              </a:rPr>
              <a:t>OJPT 在线算法题库系统毕业答辩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F50E82E-BFF8-40CB-8538-6DC8E95DDF1F}"/>
              </a:ext>
            </a:extLst>
          </p:cNvPr>
          <p:cNvSpPr>
            <a:spLocks noGrp="1"/>
          </p:cNvSpPr>
          <p:nvPr/>
        </p:nvSpPr>
        <p:spPr>
          <a:xfrm>
            <a:off x="10839450" y="6429375"/>
            <a:ext cx="762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15000"/>
              </a:lnSpc>
              <a:buNone/>
              <a:defRPr sz="788" b="0">
                <a:solidFill>
                  <a:srgbClr val="8EA4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8EA4B8"/>
                </a:solidFill>
                <a:latin typeface="Microsoft YaHei"/>
                <a:ea typeface="Microsoft YaHei"/>
                <a:cs typeface="Microsoft YaHei"/>
              </a:rPr>
              <a:t>02 / 15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C7CA55B-9797-4E4E-995D-DC22FD948D8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7620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240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选题背景：人工评测难以支撑持续算法训练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B10A8A0-B7BC-4A6D-9C52-2A239E06877C}"/>
              </a:ext>
            </a:extLst>
          </p:cNvPr>
          <p:cNvSpPr>
            <a:spLocks noGrp="1"/>
          </p:cNvSpPr>
          <p:nvPr/>
        </p:nvSpPr>
        <p:spPr>
          <a:xfrm>
            <a:off x="628650" y="904875"/>
            <a:ext cx="7429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1125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rPr>
              <a:t>从代码执行、结果反馈到训练记录，需要一个可追踪的在线评测平台。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937A891-03C7-46BB-9F9C-C5923F29B7E7}"/>
              </a:ext>
            </a:extLst>
          </p:cNvPr>
          <p:cNvSpPr>
            <a:spLocks noGrp="1"/>
          </p:cNvSpPr>
          <p:nvPr/>
        </p:nvSpPr>
        <p:spPr>
          <a:xfrm>
            <a:off x="609600" y="1257300"/>
            <a:ext cx="876300" cy="38100"/>
          </a:xfrm>
          <a:prstGeom prst="roundRect">
            <a:avLst>
              <a:gd name="adj" fmla="val 50000"/>
            </a:avLst>
          </a:prstGeom>
          <a:solidFill>
            <a:srgbClr val="00A6B2"/>
          </a:solidFill>
          <a:ln w="0">
            <a:noFill/>
          </a:ln>
        </p:spPr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9906272C-04FE-4987-9C3C-714729EBE336}"/>
              </a:ext>
            </a:extLst>
          </p:cNvPr>
          <p:cNvSpPr>
            <a:spLocks noGrp="1"/>
          </p:cNvSpPr>
          <p:nvPr/>
        </p:nvSpPr>
        <p:spPr>
          <a:xfrm>
            <a:off x="742950" y="1733550"/>
            <a:ext cx="3143250" cy="2238375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</p:spPr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9348D748-03B2-4F0E-A16D-94940070941F}"/>
              </a:ext>
            </a:extLst>
          </p:cNvPr>
          <p:cNvSpPr>
            <a:spLocks noGrp="1"/>
          </p:cNvSpPr>
          <p:nvPr/>
        </p:nvSpPr>
        <p:spPr>
          <a:xfrm>
            <a:off x="742950" y="1733550"/>
            <a:ext cx="57150" cy="2238375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0">
            <a:noFill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D00F2E0-B35E-4DCB-BEE5-2A475D42369A}"/>
              </a:ext>
            </a:extLst>
          </p:cNvPr>
          <p:cNvSpPr>
            <a:spLocks noGrp="1"/>
          </p:cNvSpPr>
          <p:nvPr/>
        </p:nvSpPr>
        <p:spPr>
          <a:xfrm>
            <a:off x="933450" y="1905000"/>
            <a:ext cx="2762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135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人工评测效率低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F544FA9-8235-4CEC-9F5E-7B9D87795939}"/>
              </a:ext>
            </a:extLst>
          </p:cNvPr>
          <p:cNvSpPr>
            <a:spLocks noGrp="1"/>
          </p:cNvSpPr>
          <p:nvPr/>
        </p:nvSpPr>
        <p:spPr>
          <a:xfrm>
            <a:off x="933450" y="2247900"/>
            <a:ext cx="2762250" cy="1590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8000"/>
              </a:lnSpc>
              <a:buNone/>
              <a:defRPr sz="1088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需要下载代码、准备输入输出、人工运行并记录结果，提交量一多就难以及时反馈。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002C524E-50C5-40A2-9D56-1A61D026A136}"/>
              </a:ext>
            </a:extLst>
          </p:cNvPr>
          <p:cNvSpPr>
            <a:spLocks noGrp="1"/>
          </p:cNvSpPr>
          <p:nvPr/>
        </p:nvSpPr>
        <p:spPr>
          <a:xfrm>
            <a:off x="4533900" y="1733550"/>
            <a:ext cx="3143250" cy="2238375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</p:spPr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8999D754-67CF-415C-976B-744AE88E36DE}"/>
              </a:ext>
            </a:extLst>
          </p:cNvPr>
          <p:cNvSpPr>
            <a:spLocks noGrp="1"/>
          </p:cNvSpPr>
          <p:nvPr/>
        </p:nvSpPr>
        <p:spPr>
          <a:xfrm>
            <a:off x="4533900" y="1733550"/>
            <a:ext cx="57150" cy="2238375"/>
          </a:xfrm>
          <a:prstGeom prst="roundRect">
            <a:avLst>
              <a:gd name="adj" fmla="val 50000"/>
            </a:avLst>
          </a:prstGeom>
          <a:solidFill>
            <a:srgbClr val="00A6B2"/>
          </a:solidFill>
          <a:ln w="0">
            <a:noFill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AE545D8-4FAC-4597-8739-8C9C1775E8E3}"/>
              </a:ext>
            </a:extLst>
          </p:cNvPr>
          <p:cNvSpPr>
            <a:spLocks noGrp="1"/>
          </p:cNvSpPr>
          <p:nvPr/>
        </p:nvSpPr>
        <p:spPr>
          <a:xfrm>
            <a:off x="4724400" y="1905000"/>
            <a:ext cx="2762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135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训练过程难追踪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4D017D0-121C-4645-9C62-BE63992D4518}"/>
              </a:ext>
            </a:extLst>
          </p:cNvPr>
          <p:cNvSpPr>
            <a:spLocks noGrp="1"/>
          </p:cNvSpPr>
          <p:nvPr/>
        </p:nvSpPr>
        <p:spPr>
          <a:xfrm>
            <a:off x="4724400" y="2247900"/>
            <a:ext cx="2762250" cy="1590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8000"/>
              </a:lnSpc>
              <a:buNone/>
              <a:defRPr sz="1088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用户做题进度、提交历史、错误类型和通过情况分散，缺少持续训练数据。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82B8D26F-8C7D-4E31-B6EA-BEC6F4D5C254}"/>
              </a:ext>
            </a:extLst>
          </p:cNvPr>
          <p:cNvSpPr>
            <a:spLocks noGrp="1"/>
          </p:cNvSpPr>
          <p:nvPr/>
        </p:nvSpPr>
        <p:spPr>
          <a:xfrm>
            <a:off x="8324850" y="1733550"/>
            <a:ext cx="3143250" cy="2238375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</p:spPr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45E91E03-8BF6-4442-949E-2AF0A26FBCC5}"/>
              </a:ext>
            </a:extLst>
          </p:cNvPr>
          <p:cNvSpPr>
            <a:spLocks noGrp="1"/>
          </p:cNvSpPr>
          <p:nvPr/>
        </p:nvSpPr>
        <p:spPr>
          <a:xfrm>
            <a:off x="8324850" y="1733550"/>
            <a:ext cx="57150" cy="2238375"/>
          </a:xfrm>
          <a:prstGeom prst="roundRect">
            <a:avLst>
              <a:gd name="adj" fmla="val 50000"/>
            </a:avLst>
          </a:prstGeom>
          <a:solidFill>
            <a:srgbClr val="1769AA"/>
          </a:solidFill>
          <a:ln w="0">
            <a:noFill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7531AC7-15A9-4069-ABB4-2D1238547731}"/>
              </a:ext>
            </a:extLst>
          </p:cNvPr>
          <p:cNvSpPr>
            <a:spLocks noGrp="1"/>
          </p:cNvSpPr>
          <p:nvPr/>
        </p:nvSpPr>
        <p:spPr>
          <a:xfrm>
            <a:off x="8515350" y="1905000"/>
            <a:ext cx="2762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135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题库维护要系统化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EFAAC1F-3091-4016-A670-726204AA1C01}"/>
              </a:ext>
            </a:extLst>
          </p:cNvPr>
          <p:cNvSpPr>
            <a:spLocks noGrp="1"/>
          </p:cNvSpPr>
          <p:nvPr/>
        </p:nvSpPr>
        <p:spPr>
          <a:xfrm>
            <a:off x="8515350" y="2247900"/>
            <a:ext cx="2762250" cy="1590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8000"/>
              </a:lnSpc>
              <a:buNone/>
              <a:defRPr sz="1088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题面、标签、难度、测试用例和判题环境需要统一管理，减少维护成本。</a:t>
            </a: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C3B64105-A907-4E45-B399-DE0655097721}"/>
              </a:ext>
            </a:extLst>
          </p:cNvPr>
          <p:cNvSpPr>
            <a:spLocks noGrp="1"/>
          </p:cNvSpPr>
          <p:nvPr/>
        </p:nvSpPr>
        <p:spPr>
          <a:xfrm>
            <a:off x="1381125" y="4533900"/>
            <a:ext cx="9429750" cy="857250"/>
          </a:xfrm>
          <a:prstGeom prst="roundRect">
            <a:avLst>
              <a:gd name="adj" fmla="val 8889"/>
            </a:avLst>
          </a:prstGeom>
          <a:solidFill>
            <a:srgbClr val="E6F7FA"/>
          </a:solidFill>
          <a:ln w="9525">
            <a:solidFill>
              <a:srgbClr val="BDEEF2"/>
            </a:solidFill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4FE55DD-45CD-4690-96EC-1682893313D3}"/>
              </a:ext>
            </a:extLst>
          </p:cNvPr>
          <p:cNvSpPr>
            <a:spLocks noGrp="1"/>
          </p:cNvSpPr>
          <p:nvPr/>
        </p:nvSpPr>
        <p:spPr>
          <a:xfrm>
            <a:off x="1752600" y="4781550"/>
            <a:ext cx="86868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5000"/>
              </a:lnSpc>
              <a:buNone/>
              <a:defRPr sz="150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系统围绕题库训练、在线做题、Docker判题、结果反馈和训练统计形成完整业务闭环。</a:t>
            </a:r>
          </a:p>
        </p:txBody>
      </p:sp>
    </p:spTree>
    <p:extLst>
      <p:ext uri="{BB962C8B-B14F-4D97-AF65-F5344CB8AC3E}">
        <p14:creationId xmlns:p14="http://schemas.microsoft.com/office/powerpoint/2010/main" val="15314889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25A769AC-48C2-4BC5-A05B-2B731B72EDE5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40005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788" b="0">
                <a:solidFill>
                  <a:srgbClr val="8EA4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8EA4B8"/>
                </a:solidFill>
                <a:latin typeface="Microsoft YaHei"/>
                <a:ea typeface="Microsoft YaHei"/>
                <a:cs typeface="Microsoft YaHei"/>
              </a:rPr>
              <a:t>OJPT 在线算法题库系统毕业答辩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757D405-52BB-4765-9D3D-7544D75FAB6C}"/>
              </a:ext>
            </a:extLst>
          </p:cNvPr>
          <p:cNvSpPr>
            <a:spLocks noGrp="1"/>
          </p:cNvSpPr>
          <p:nvPr/>
        </p:nvSpPr>
        <p:spPr>
          <a:xfrm>
            <a:off x="10839450" y="6429375"/>
            <a:ext cx="762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15000"/>
              </a:lnSpc>
              <a:buNone/>
              <a:defRPr sz="788" b="0">
                <a:solidFill>
                  <a:srgbClr val="8EA4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8EA4B8"/>
                </a:solidFill>
                <a:latin typeface="Microsoft YaHei"/>
                <a:ea typeface="Microsoft YaHei"/>
                <a:cs typeface="Microsoft YaHei"/>
              </a:rPr>
              <a:t>03 / 15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3DC5807-ADAB-45DB-AD04-4BDBF9D6F30C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7620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240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项目定位：聚焦个人训练和后台维护两条主线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DF64D11-B9EF-45AD-9EE7-E85387CD2819}"/>
              </a:ext>
            </a:extLst>
          </p:cNvPr>
          <p:cNvSpPr>
            <a:spLocks noGrp="1"/>
          </p:cNvSpPr>
          <p:nvPr/>
        </p:nvSpPr>
        <p:spPr>
          <a:xfrm>
            <a:off x="628650" y="904875"/>
            <a:ext cx="7429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1125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rPr>
              <a:t>系统以 USER 和 ADMIN 两类角色组织核心功能。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229B02D0-2381-4761-AC05-A364920CF7C4}"/>
              </a:ext>
            </a:extLst>
          </p:cNvPr>
          <p:cNvSpPr>
            <a:spLocks noGrp="1"/>
          </p:cNvSpPr>
          <p:nvPr/>
        </p:nvSpPr>
        <p:spPr>
          <a:xfrm>
            <a:off x="609600" y="1257300"/>
            <a:ext cx="876300" cy="38100"/>
          </a:xfrm>
          <a:prstGeom prst="roundRect">
            <a:avLst>
              <a:gd name="adj" fmla="val 50000"/>
            </a:avLst>
          </a:prstGeom>
          <a:solidFill>
            <a:srgbClr val="00A6B2"/>
          </a:solidFill>
          <a:ln w="0">
            <a:noFill/>
          </a:ln>
        </p:spPr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093E9944-E27D-4CCA-8A68-7595B900F9C7}"/>
              </a:ext>
            </a:extLst>
          </p:cNvPr>
          <p:cNvSpPr>
            <a:spLocks noGrp="1"/>
          </p:cNvSpPr>
          <p:nvPr/>
        </p:nvSpPr>
        <p:spPr>
          <a:xfrm>
            <a:off x="876300" y="1847850"/>
            <a:ext cx="2714625" cy="2095500"/>
          </a:xfrm>
          <a:prstGeom prst="roundRect">
            <a:avLst>
              <a:gd name="adj" fmla="val 3636"/>
            </a:avLst>
          </a:prstGeom>
          <a:solidFill>
            <a:srgbClr val="F0FBFC"/>
          </a:solidFill>
          <a:ln w="9525">
            <a:solidFill>
              <a:srgbClr val="BDEEF2"/>
            </a:solidFill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AC8686E-9141-480A-B6B1-C42FE89DF510}"/>
              </a:ext>
            </a:extLst>
          </p:cNvPr>
          <p:cNvSpPr>
            <a:spLocks noGrp="1"/>
          </p:cNvSpPr>
          <p:nvPr/>
        </p:nvSpPr>
        <p:spPr>
          <a:xfrm>
            <a:off x="876300" y="2171700"/>
            <a:ext cx="2714625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8344"/>
          </a:bodyPr>
          <a:lstStyle/>
          <a:p>
            <a:pPr algn="ctr">
              <a:lnSpc>
                <a:spcPct val="115000"/>
              </a:lnSpc>
              <a:buNone/>
              <a:defRPr sz="2100" b="1">
                <a:solidFill>
                  <a:srgbClr val="00A6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0A6B2"/>
                </a:solidFill>
                <a:latin typeface="Microsoft YaHei"/>
                <a:ea typeface="Microsoft YaHei"/>
                <a:cs typeface="Microsoft YaHei"/>
              </a:rPr>
              <a:t>USER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F162522-F9DB-4CD3-BC5C-741F26310D80}"/>
              </a:ext>
            </a:extLst>
          </p:cNvPr>
          <p:cNvSpPr>
            <a:spLocks noGrp="1"/>
          </p:cNvSpPr>
          <p:nvPr/>
        </p:nvSpPr>
        <p:spPr>
          <a:xfrm>
            <a:off x="1238250" y="2781300"/>
            <a:ext cx="200025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89074" lnSpcReduction="20000"/>
          </a:bodyPr>
          <a:lstStyle/>
          <a:p>
            <a:pPr algn="ctr">
              <a:lnSpc>
                <a:spcPct val="125000"/>
              </a:lnSpc>
              <a:buNone/>
              <a:defRPr sz="135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浏览题库</a:t>
            </a:r>
          </a:p>
          <a:p>
            <a:pPr algn="ctr">
              <a:lnSpc>
                <a:spcPct val="125000"/>
              </a:lnSpc>
              <a:buNone/>
              <a:defRPr sz="135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在线做题</a:t>
            </a:r>
          </a:p>
          <a:p>
            <a:pPr algn="ctr">
              <a:lnSpc>
                <a:spcPct val="125000"/>
              </a:lnSpc>
              <a:buNone/>
              <a:defRPr sz="135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运行样例</a:t>
            </a:r>
          </a:p>
          <a:p>
            <a:pPr algn="ctr">
              <a:lnSpc>
                <a:spcPct val="125000"/>
              </a:lnSpc>
              <a:buNone/>
              <a:defRPr sz="135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提交判题</a:t>
            </a:r>
          </a:p>
          <a:p>
            <a:pPr algn="ctr">
              <a:lnSpc>
                <a:spcPct val="125000"/>
              </a:lnSpc>
              <a:buNone/>
              <a:defRPr sz="135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查看训练数据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8592A87-5A8B-4228-B9F3-9F47E34D8624}"/>
              </a:ext>
            </a:extLst>
          </p:cNvPr>
          <p:cNvSpPr>
            <a:spLocks noGrp="1"/>
          </p:cNvSpPr>
          <p:nvPr/>
        </p:nvSpPr>
        <p:spPr>
          <a:xfrm>
            <a:off x="4743450" y="1695450"/>
            <a:ext cx="2724150" cy="2381250"/>
          </a:xfrm>
          <a:prstGeom prst="roundRect">
            <a:avLst>
              <a:gd name="adj" fmla="val 3200"/>
            </a:avLst>
          </a:prstGeom>
          <a:solidFill>
            <a:srgbClr val="0B1F33"/>
          </a:solidFill>
          <a:ln w="0">
            <a:noFill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80E7840-E515-47D7-8F96-4725C6DEC53B}"/>
              </a:ext>
            </a:extLst>
          </p:cNvPr>
          <p:cNvSpPr>
            <a:spLocks noGrp="1"/>
          </p:cNvSpPr>
          <p:nvPr/>
        </p:nvSpPr>
        <p:spPr>
          <a:xfrm>
            <a:off x="5029200" y="2419350"/>
            <a:ext cx="21526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2000"/>
              </a:lnSpc>
              <a:buNone/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OJPT</a:t>
            </a:r>
          </a:p>
          <a:p>
            <a:pPr algn="ctr">
              <a:lnSpc>
                <a:spcPct val="112000"/>
              </a:lnSpc>
              <a:buNone/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在线编程训练平台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5BD62D88-6F8D-4EBE-B730-F560F2BFC5AB}"/>
              </a:ext>
            </a:extLst>
          </p:cNvPr>
          <p:cNvSpPr>
            <a:spLocks noGrp="1"/>
          </p:cNvSpPr>
          <p:nvPr/>
        </p:nvSpPr>
        <p:spPr>
          <a:xfrm>
            <a:off x="5476875" y="3371850"/>
            <a:ext cx="1257300" cy="266700"/>
          </a:xfrm>
          <a:prstGeom prst="roundRect">
            <a:avLst>
              <a:gd name="adj" fmla="val 28571"/>
            </a:avLst>
          </a:prstGeom>
          <a:solidFill>
            <a:srgbClr val="E9FBFD"/>
          </a:solidFill>
          <a:ln w="9525">
            <a:solidFill>
              <a:srgbClr val="BDEEF2"/>
            </a:solidFill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9D94C18-43BC-488E-AF92-556534D95E97}"/>
              </a:ext>
            </a:extLst>
          </p:cNvPr>
          <p:cNvSpPr>
            <a:spLocks noGrp="1"/>
          </p:cNvSpPr>
          <p:nvPr/>
        </p:nvSpPr>
        <p:spPr>
          <a:xfrm>
            <a:off x="5476875" y="3419475"/>
            <a:ext cx="12573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5000"/>
              </a:lnSpc>
              <a:buNone/>
              <a:defRPr sz="825" b="1">
                <a:solidFill>
                  <a:srgbClr val="00A6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00A6B2"/>
                </a:solidFill>
                <a:latin typeface="Microsoft YaHei"/>
                <a:ea typeface="Microsoft YaHei"/>
                <a:cs typeface="Microsoft YaHei"/>
              </a:rPr>
              <a:t>训练闭环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6E4AF315-36CF-4531-AE0B-AA40B1E3A1FB}"/>
              </a:ext>
            </a:extLst>
          </p:cNvPr>
          <p:cNvSpPr>
            <a:spLocks noGrp="1"/>
          </p:cNvSpPr>
          <p:nvPr/>
        </p:nvSpPr>
        <p:spPr>
          <a:xfrm>
            <a:off x="8610600" y="1847850"/>
            <a:ext cx="2714625" cy="2095500"/>
          </a:xfrm>
          <a:prstGeom prst="roundRect">
            <a:avLst>
              <a:gd name="adj" fmla="val 3636"/>
            </a:avLst>
          </a:prstGeom>
          <a:solidFill>
            <a:srgbClr val="F6F8FB"/>
          </a:solidFill>
          <a:ln w="9525">
            <a:solidFill>
              <a:srgbClr val="D9E2EC"/>
            </a:solidFill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BEBDDDC-649B-4098-B026-FAECD0EFF73D}"/>
              </a:ext>
            </a:extLst>
          </p:cNvPr>
          <p:cNvSpPr>
            <a:spLocks noGrp="1"/>
          </p:cNvSpPr>
          <p:nvPr/>
        </p:nvSpPr>
        <p:spPr>
          <a:xfrm>
            <a:off x="8610600" y="2171700"/>
            <a:ext cx="2714625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8344"/>
          </a:bodyPr>
          <a:lstStyle/>
          <a:p>
            <a:pPr algn="ctr">
              <a:lnSpc>
                <a:spcPct val="115000"/>
              </a:lnSpc>
              <a:buNone/>
              <a:defRPr sz="2100" b="1">
                <a:solidFill>
                  <a:srgbClr val="1769A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69AA"/>
                </a:solidFill>
                <a:latin typeface="Microsoft YaHei"/>
                <a:ea typeface="Microsoft YaHei"/>
                <a:cs typeface="Microsoft YaHei"/>
              </a:rPr>
              <a:t>ADMIN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FC5A242-2A6B-45B0-94FF-D89BB8A177EA}"/>
              </a:ext>
            </a:extLst>
          </p:cNvPr>
          <p:cNvSpPr>
            <a:spLocks noGrp="1"/>
          </p:cNvSpPr>
          <p:nvPr/>
        </p:nvSpPr>
        <p:spPr>
          <a:xfrm>
            <a:off x="8972550" y="2781300"/>
            <a:ext cx="200025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89074" lnSpcReduction="20000"/>
          </a:bodyPr>
          <a:lstStyle/>
          <a:p>
            <a:pPr algn="ctr">
              <a:lnSpc>
                <a:spcPct val="125000"/>
              </a:lnSpc>
              <a:buNone/>
              <a:defRPr sz="135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用户维护</a:t>
            </a:r>
          </a:p>
          <a:p>
            <a:pPr algn="ctr">
              <a:lnSpc>
                <a:spcPct val="125000"/>
              </a:lnSpc>
              <a:buNone/>
              <a:defRPr sz="135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题目维护</a:t>
            </a:r>
          </a:p>
          <a:p>
            <a:pPr algn="ctr">
              <a:lnSpc>
                <a:spcPct val="125000"/>
              </a:lnSpc>
              <a:buNone/>
              <a:defRPr sz="135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测试用例维护</a:t>
            </a:r>
          </a:p>
          <a:p>
            <a:pPr algn="ctr">
              <a:lnSpc>
                <a:spcPct val="125000"/>
              </a:lnSpc>
              <a:buNone/>
              <a:defRPr sz="135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标签维护</a:t>
            </a:r>
          </a:p>
          <a:p>
            <a:pPr algn="ctr">
              <a:lnSpc>
                <a:spcPct val="125000"/>
              </a:lnSpc>
              <a:buNone/>
              <a:defRPr sz="135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判题环境检查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04508985-A1B9-41CC-98A8-0127A8BBF777}"/>
              </a:ext>
            </a:extLst>
          </p:cNvPr>
          <p:cNvSpPr>
            <a:spLocks noGrp="1"/>
          </p:cNvSpPr>
          <p:nvPr/>
        </p:nvSpPr>
        <p:spPr>
          <a:xfrm>
            <a:off x="3695700" y="2876550"/>
            <a:ext cx="876300" cy="28575"/>
          </a:xfrm>
          <a:prstGeom prst="roundRect">
            <a:avLst>
              <a:gd name="adj" fmla="val 50000"/>
            </a:avLst>
          </a:prstGeom>
          <a:solidFill>
            <a:srgbClr val="B8DDE5"/>
          </a:solidFill>
          <a:ln w="0">
            <a:noFill/>
          </a:ln>
        </p:spPr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123E7CE0-486C-4B5A-9D7B-DDC231F73D1D}"/>
              </a:ext>
            </a:extLst>
          </p:cNvPr>
          <p:cNvSpPr>
            <a:spLocks noGrp="1"/>
          </p:cNvSpPr>
          <p:nvPr/>
        </p:nvSpPr>
        <p:spPr>
          <a:xfrm>
            <a:off x="7620000" y="2876550"/>
            <a:ext cx="876300" cy="28575"/>
          </a:xfrm>
          <a:prstGeom prst="roundRect">
            <a:avLst>
              <a:gd name="adj" fmla="val 50000"/>
            </a:avLst>
          </a:prstGeom>
          <a:solidFill>
            <a:srgbClr val="B8DDE5"/>
          </a:solidFill>
          <a:ln w="0">
            <a:noFill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925CE53-C2EA-452B-BEC3-06315F207061}"/>
              </a:ext>
            </a:extLst>
          </p:cNvPr>
          <p:cNvSpPr>
            <a:spLocks noGrp="1"/>
          </p:cNvSpPr>
          <p:nvPr/>
        </p:nvSpPr>
        <p:spPr>
          <a:xfrm>
            <a:off x="1809750" y="5010150"/>
            <a:ext cx="85725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5000"/>
              </a:lnSpc>
              <a:buNone/>
              <a:defRPr sz="135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系统以普通用户训练和管理员维护为主线，功能说明与论文内容保持一致。</a:t>
            </a:r>
          </a:p>
        </p:txBody>
      </p:sp>
    </p:spTree>
    <p:extLst>
      <p:ext uri="{BB962C8B-B14F-4D97-AF65-F5344CB8AC3E}">
        <p14:creationId xmlns:p14="http://schemas.microsoft.com/office/powerpoint/2010/main" val="5742629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矩形 37">
            <a:extLst>
              <a:ext uri="{FF2B5EF4-FFF2-40B4-BE49-F238E27FC236}">
                <a16:creationId xmlns:a16="http://schemas.microsoft.com/office/drawing/2014/main" id="{E717619A-F6EE-43D5-B1ED-6FE76FF9B736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40005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788" b="0">
                <a:solidFill>
                  <a:srgbClr val="8EA4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8EA4B8"/>
                </a:solidFill>
                <a:latin typeface="Microsoft YaHei"/>
                <a:ea typeface="Microsoft YaHei"/>
                <a:cs typeface="Microsoft YaHei"/>
              </a:rPr>
              <a:t>OJPT 在线算法题库系统毕业答辩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8C8B298-369B-4031-8E3E-A6A44350E12D}"/>
              </a:ext>
            </a:extLst>
          </p:cNvPr>
          <p:cNvSpPr>
            <a:spLocks noGrp="1"/>
          </p:cNvSpPr>
          <p:nvPr/>
        </p:nvSpPr>
        <p:spPr>
          <a:xfrm>
            <a:off x="10839450" y="6429375"/>
            <a:ext cx="762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15000"/>
              </a:lnSpc>
              <a:buNone/>
              <a:defRPr sz="788" b="0">
                <a:solidFill>
                  <a:srgbClr val="8EA4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8EA4B8"/>
                </a:solidFill>
                <a:latin typeface="Microsoft YaHei"/>
                <a:ea typeface="Microsoft YaHei"/>
                <a:cs typeface="Microsoft YaHei"/>
              </a:rPr>
              <a:t>04 / 15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E96C5DF-1E1A-4669-A388-06E3249D5AA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7620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240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系统目标：完成可演示、可验证的判题训练闭环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0B4BC3A-0BA6-4A18-925D-4722305D889A}"/>
              </a:ext>
            </a:extLst>
          </p:cNvPr>
          <p:cNvSpPr>
            <a:spLocks noGrp="1"/>
          </p:cNvSpPr>
          <p:nvPr/>
        </p:nvSpPr>
        <p:spPr>
          <a:xfrm>
            <a:off x="628650" y="904875"/>
            <a:ext cx="7429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1125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rPr>
              <a:t>目标不是追求大平台规模，而是把在线判题系统的关键链路做完整。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EF530FD-FAF2-4998-95A5-0B7F9F1FCAE9}"/>
              </a:ext>
            </a:extLst>
          </p:cNvPr>
          <p:cNvSpPr>
            <a:spLocks noGrp="1"/>
          </p:cNvSpPr>
          <p:nvPr/>
        </p:nvSpPr>
        <p:spPr>
          <a:xfrm>
            <a:off x="609600" y="1257300"/>
            <a:ext cx="876300" cy="38100"/>
          </a:xfrm>
          <a:prstGeom prst="roundRect">
            <a:avLst>
              <a:gd name="adj" fmla="val 50000"/>
            </a:avLst>
          </a:prstGeom>
          <a:solidFill>
            <a:srgbClr val="00A6B2"/>
          </a:solidFill>
          <a:ln w="0">
            <a:noFill/>
          </a:ln>
        </p:spPr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C7359272-050D-4488-AAFF-0EE8867734D6}"/>
              </a:ext>
            </a:extLst>
          </p:cNvPr>
          <p:cNvSpPr>
            <a:spLocks noGrp="1"/>
          </p:cNvSpPr>
          <p:nvPr/>
        </p:nvSpPr>
        <p:spPr>
          <a:xfrm>
            <a:off x="1539875" y="1809750"/>
            <a:ext cx="571500" cy="571500"/>
          </a:xfrm>
          <a:prstGeom prst="roundRect">
            <a:avLst>
              <a:gd name="adj" fmla="val 50000"/>
            </a:avLst>
          </a:prstGeom>
          <a:solidFill>
            <a:srgbClr val="00A6B2"/>
          </a:solidFill>
          <a:ln w="0">
            <a:noFill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E0A1457-EF2C-4AAB-BE30-A9EB283CD26C}"/>
              </a:ext>
            </a:extLst>
          </p:cNvPr>
          <p:cNvSpPr>
            <a:spLocks noGrp="1"/>
          </p:cNvSpPr>
          <p:nvPr/>
        </p:nvSpPr>
        <p:spPr>
          <a:xfrm>
            <a:off x="1539875" y="1924050"/>
            <a:ext cx="5715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5000"/>
              </a:lnSpc>
              <a:buNone/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463623C-8D1E-41EC-B4A1-3B8B4948AF62}"/>
              </a:ext>
            </a:extLst>
          </p:cNvPr>
          <p:cNvSpPr>
            <a:spLocks noGrp="1"/>
          </p:cNvSpPr>
          <p:nvPr/>
        </p:nvSpPr>
        <p:spPr>
          <a:xfrm>
            <a:off x="1047750" y="2514600"/>
            <a:ext cx="15557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5000"/>
              </a:lnSpc>
              <a:buNone/>
              <a:defRPr sz="105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题库筛选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86696A5E-953A-4177-9261-061B84BBDB5D}"/>
              </a:ext>
            </a:extLst>
          </p:cNvPr>
          <p:cNvSpPr>
            <a:spLocks noGrp="1"/>
          </p:cNvSpPr>
          <p:nvPr/>
        </p:nvSpPr>
        <p:spPr>
          <a:xfrm>
            <a:off x="2168525" y="2085975"/>
            <a:ext cx="1022350" cy="28575"/>
          </a:xfrm>
          <a:prstGeom prst="roundRect">
            <a:avLst>
              <a:gd name="adj" fmla="val 50000"/>
            </a:avLst>
          </a:prstGeom>
          <a:solidFill>
            <a:srgbClr val="B8DDE5"/>
          </a:solidFill>
          <a:ln w="0">
            <a:noFill/>
          </a:ln>
        </p:spPr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BE2D142D-5BDA-46A9-87F6-F9708648A22E}"/>
              </a:ext>
            </a:extLst>
          </p:cNvPr>
          <p:cNvSpPr>
            <a:spLocks noGrp="1"/>
          </p:cNvSpPr>
          <p:nvPr/>
        </p:nvSpPr>
        <p:spPr>
          <a:xfrm>
            <a:off x="3248025" y="1809750"/>
            <a:ext cx="571500" cy="571500"/>
          </a:xfrm>
          <a:prstGeom prst="roundRect">
            <a:avLst>
              <a:gd name="adj" fmla="val 50000"/>
            </a:avLst>
          </a:prstGeom>
          <a:solidFill>
            <a:srgbClr val="00A6B2"/>
          </a:solidFill>
          <a:ln w="0">
            <a:noFill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B06C44A-2B94-495C-9DC6-8AFD60DACF1A}"/>
              </a:ext>
            </a:extLst>
          </p:cNvPr>
          <p:cNvSpPr>
            <a:spLocks noGrp="1"/>
          </p:cNvSpPr>
          <p:nvPr/>
        </p:nvSpPr>
        <p:spPr>
          <a:xfrm>
            <a:off x="3248025" y="1924050"/>
            <a:ext cx="5715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5000"/>
              </a:lnSpc>
              <a:buNone/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A74D8CC-FB92-456B-874B-BD3E1A4F6E37}"/>
              </a:ext>
            </a:extLst>
          </p:cNvPr>
          <p:cNvSpPr>
            <a:spLocks noGrp="1"/>
          </p:cNvSpPr>
          <p:nvPr/>
        </p:nvSpPr>
        <p:spPr>
          <a:xfrm>
            <a:off x="2755900" y="2514600"/>
            <a:ext cx="15557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5000"/>
              </a:lnSpc>
              <a:buNone/>
              <a:defRPr sz="105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进入做题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BF9C5BAC-D74D-421B-908B-1829DB75DF1F}"/>
              </a:ext>
            </a:extLst>
          </p:cNvPr>
          <p:cNvSpPr>
            <a:spLocks noGrp="1"/>
          </p:cNvSpPr>
          <p:nvPr/>
        </p:nvSpPr>
        <p:spPr>
          <a:xfrm>
            <a:off x="3876675" y="2085975"/>
            <a:ext cx="1022350" cy="28575"/>
          </a:xfrm>
          <a:prstGeom prst="roundRect">
            <a:avLst>
              <a:gd name="adj" fmla="val 50000"/>
            </a:avLst>
          </a:prstGeom>
          <a:solidFill>
            <a:srgbClr val="B8DDE5"/>
          </a:solidFill>
          <a:ln w="0">
            <a:noFill/>
          </a:ln>
        </p:spPr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7A99CB8E-9297-4BE6-BE35-8A71504F726E}"/>
              </a:ext>
            </a:extLst>
          </p:cNvPr>
          <p:cNvSpPr>
            <a:spLocks noGrp="1"/>
          </p:cNvSpPr>
          <p:nvPr/>
        </p:nvSpPr>
        <p:spPr>
          <a:xfrm>
            <a:off x="4956175" y="1809750"/>
            <a:ext cx="571500" cy="571500"/>
          </a:xfrm>
          <a:prstGeom prst="roundRect">
            <a:avLst>
              <a:gd name="adj" fmla="val 50000"/>
            </a:avLst>
          </a:prstGeom>
          <a:solidFill>
            <a:srgbClr val="00A6B2"/>
          </a:solidFill>
          <a:ln w="0">
            <a:noFill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FB46BB2-F1D9-47B0-BE3A-32AAEE173DF1}"/>
              </a:ext>
            </a:extLst>
          </p:cNvPr>
          <p:cNvSpPr>
            <a:spLocks noGrp="1"/>
          </p:cNvSpPr>
          <p:nvPr/>
        </p:nvSpPr>
        <p:spPr>
          <a:xfrm>
            <a:off x="4956175" y="1924050"/>
            <a:ext cx="5715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5000"/>
              </a:lnSpc>
              <a:buNone/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8953DB1-5734-456A-AD01-079B449C939F}"/>
              </a:ext>
            </a:extLst>
          </p:cNvPr>
          <p:cNvSpPr>
            <a:spLocks noGrp="1"/>
          </p:cNvSpPr>
          <p:nvPr/>
        </p:nvSpPr>
        <p:spPr>
          <a:xfrm>
            <a:off x="4464050" y="2514600"/>
            <a:ext cx="15557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5000"/>
              </a:lnSpc>
              <a:buNone/>
              <a:defRPr sz="105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运行调试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682BBCA6-B288-4DBF-9650-7612D37A8A3E}"/>
              </a:ext>
            </a:extLst>
          </p:cNvPr>
          <p:cNvSpPr>
            <a:spLocks noGrp="1"/>
          </p:cNvSpPr>
          <p:nvPr/>
        </p:nvSpPr>
        <p:spPr>
          <a:xfrm>
            <a:off x="5584825" y="2085975"/>
            <a:ext cx="1022350" cy="28575"/>
          </a:xfrm>
          <a:prstGeom prst="roundRect">
            <a:avLst>
              <a:gd name="adj" fmla="val 50000"/>
            </a:avLst>
          </a:prstGeom>
          <a:solidFill>
            <a:srgbClr val="B8DDE5"/>
          </a:solidFill>
          <a:ln w="0">
            <a:noFill/>
          </a:ln>
        </p:spPr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0DF28DF9-D9DA-4F1D-941D-DEA56EC21A18}"/>
              </a:ext>
            </a:extLst>
          </p:cNvPr>
          <p:cNvSpPr>
            <a:spLocks noGrp="1"/>
          </p:cNvSpPr>
          <p:nvPr/>
        </p:nvSpPr>
        <p:spPr>
          <a:xfrm>
            <a:off x="6664325" y="1809750"/>
            <a:ext cx="571500" cy="571500"/>
          </a:xfrm>
          <a:prstGeom prst="roundRect">
            <a:avLst>
              <a:gd name="adj" fmla="val 50000"/>
            </a:avLst>
          </a:prstGeom>
          <a:solidFill>
            <a:srgbClr val="00A6B2"/>
          </a:solidFill>
          <a:ln w="0">
            <a:noFill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7E478F0-B979-4638-B33D-AEB5483E2332}"/>
              </a:ext>
            </a:extLst>
          </p:cNvPr>
          <p:cNvSpPr>
            <a:spLocks noGrp="1"/>
          </p:cNvSpPr>
          <p:nvPr/>
        </p:nvSpPr>
        <p:spPr>
          <a:xfrm>
            <a:off x="6664325" y="1924050"/>
            <a:ext cx="5715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5000"/>
              </a:lnSpc>
              <a:buNone/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9A5B5DB0-EC0D-4858-8AC7-393E3AFDBF13}"/>
              </a:ext>
            </a:extLst>
          </p:cNvPr>
          <p:cNvSpPr>
            <a:spLocks noGrp="1"/>
          </p:cNvSpPr>
          <p:nvPr/>
        </p:nvSpPr>
        <p:spPr>
          <a:xfrm>
            <a:off x="6172200" y="2514600"/>
            <a:ext cx="15557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5000"/>
              </a:lnSpc>
              <a:buNone/>
              <a:defRPr sz="105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正式提交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15A0FABC-E518-4CD6-A025-72AA6CC2D15D}"/>
              </a:ext>
            </a:extLst>
          </p:cNvPr>
          <p:cNvSpPr>
            <a:spLocks noGrp="1"/>
          </p:cNvSpPr>
          <p:nvPr/>
        </p:nvSpPr>
        <p:spPr>
          <a:xfrm>
            <a:off x="7292975" y="2085975"/>
            <a:ext cx="1022350" cy="28575"/>
          </a:xfrm>
          <a:prstGeom prst="roundRect">
            <a:avLst>
              <a:gd name="adj" fmla="val 50000"/>
            </a:avLst>
          </a:prstGeom>
          <a:solidFill>
            <a:srgbClr val="B8DDE5"/>
          </a:solidFill>
          <a:ln w="0">
            <a:noFill/>
          </a:ln>
        </p:spPr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3EFD406A-1DB2-4A20-BA2D-3F0B868520DD}"/>
              </a:ext>
            </a:extLst>
          </p:cNvPr>
          <p:cNvSpPr>
            <a:spLocks noGrp="1"/>
          </p:cNvSpPr>
          <p:nvPr/>
        </p:nvSpPr>
        <p:spPr>
          <a:xfrm>
            <a:off x="8372475" y="1809750"/>
            <a:ext cx="571500" cy="571500"/>
          </a:xfrm>
          <a:prstGeom prst="roundRect">
            <a:avLst>
              <a:gd name="adj" fmla="val 50000"/>
            </a:avLst>
          </a:prstGeom>
          <a:solidFill>
            <a:srgbClr val="00A6B2"/>
          </a:solidFill>
          <a:ln w="0">
            <a:noFill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A2896C5E-D4BF-4CF8-B0DE-4271354DEA76}"/>
              </a:ext>
            </a:extLst>
          </p:cNvPr>
          <p:cNvSpPr>
            <a:spLocks noGrp="1"/>
          </p:cNvSpPr>
          <p:nvPr/>
        </p:nvSpPr>
        <p:spPr>
          <a:xfrm>
            <a:off x="8372475" y="1924050"/>
            <a:ext cx="5715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5000"/>
              </a:lnSpc>
              <a:buNone/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95643000-DD7D-428D-9E50-73751F9B78B2}"/>
              </a:ext>
            </a:extLst>
          </p:cNvPr>
          <p:cNvSpPr>
            <a:spLocks noGrp="1"/>
          </p:cNvSpPr>
          <p:nvPr/>
        </p:nvSpPr>
        <p:spPr>
          <a:xfrm>
            <a:off x="7880350" y="2514600"/>
            <a:ext cx="15557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5000"/>
              </a:lnSpc>
              <a:buNone/>
              <a:defRPr sz="105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结果回写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1E12AEF2-B7BE-49EF-B643-F2C6466739C1}"/>
              </a:ext>
            </a:extLst>
          </p:cNvPr>
          <p:cNvSpPr>
            <a:spLocks noGrp="1"/>
          </p:cNvSpPr>
          <p:nvPr/>
        </p:nvSpPr>
        <p:spPr>
          <a:xfrm>
            <a:off x="9001125" y="2085975"/>
            <a:ext cx="1022350" cy="28575"/>
          </a:xfrm>
          <a:prstGeom prst="roundRect">
            <a:avLst>
              <a:gd name="adj" fmla="val 50000"/>
            </a:avLst>
          </a:prstGeom>
          <a:solidFill>
            <a:srgbClr val="B8DDE5"/>
          </a:solidFill>
          <a:ln w="0">
            <a:noFill/>
          </a:ln>
        </p:spPr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7C557F66-1ED8-474B-8FD7-24EDF30A18FD}"/>
              </a:ext>
            </a:extLst>
          </p:cNvPr>
          <p:cNvSpPr>
            <a:spLocks noGrp="1"/>
          </p:cNvSpPr>
          <p:nvPr/>
        </p:nvSpPr>
        <p:spPr>
          <a:xfrm>
            <a:off x="10080625" y="1809750"/>
            <a:ext cx="571500" cy="571500"/>
          </a:xfrm>
          <a:prstGeom prst="roundRect">
            <a:avLst>
              <a:gd name="adj" fmla="val 50000"/>
            </a:avLst>
          </a:prstGeom>
          <a:solidFill>
            <a:srgbClr val="00A6B2"/>
          </a:solidFill>
          <a:ln w="0">
            <a:noFill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72C289C5-C8EA-4F7D-BA33-B0CE2BEFCE9F}"/>
              </a:ext>
            </a:extLst>
          </p:cNvPr>
          <p:cNvSpPr>
            <a:spLocks noGrp="1"/>
          </p:cNvSpPr>
          <p:nvPr/>
        </p:nvSpPr>
        <p:spPr>
          <a:xfrm>
            <a:off x="10080625" y="1924050"/>
            <a:ext cx="5715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5000"/>
              </a:lnSpc>
              <a:buNone/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503CA187-2549-4385-9131-6FEB65CC3418}"/>
              </a:ext>
            </a:extLst>
          </p:cNvPr>
          <p:cNvSpPr>
            <a:spLocks noGrp="1"/>
          </p:cNvSpPr>
          <p:nvPr/>
        </p:nvSpPr>
        <p:spPr>
          <a:xfrm>
            <a:off x="9588500" y="2514600"/>
            <a:ext cx="15557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5000"/>
              </a:lnSpc>
              <a:buNone/>
              <a:defRPr sz="105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训练统计</a:t>
            </a: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3212B687-599C-4D48-98C3-2F7A870B8B0B}"/>
              </a:ext>
            </a:extLst>
          </p:cNvPr>
          <p:cNvSpPr>
            <a:spLocks noGrp="1"/>
          </p:cNvSpPr>
          <p:nvPr/>
        </p:nvSpPr>
        <p:spPr>
          <a:xfrm>
            <a:off x="800100" y="3562350"/>
            <a:ext cx="3143250" cy="1762125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</p:spPr>
      </p:sp>
      <p:pic>
        <p:nvPicPr>
          <p:cNvPr id="30" name="图片 29"/>
          <p:cNvPicPr>
            <a:picLocks noChangeAspect="1"/>
          </p:cNvPicPr>
          <p:nvPr/>
        </p:nvPicPr>
        <p:blipFill>
          <a:blip r:embed="rId3"/>
          <a:srcRect t="11455" b="11455"/>
          <a:stretch>
            <a:fillRect/>
          </a:stretch>
        </p:blipFill>
        <p:spPr>
          <a:xfrm>
            <a:off x="800100" y="3562350"/>
            <a:ext cx="3143250" cy="1514475"/>
          </a:xfrm>
          <a:prstGeom prst="roundRect">
            <a:avLst>
              <a:gd name="adj" fmla="val 3774"/>
            </a:avLst>
          </a:prstGeom>
        </p:spPr>
      </p:pic>
      <p:sp>
        <p:nvSpPr>
          <p:cNvPr id="31" name="矩形 30">
            <a:extLst>
              <a:ext uri="{FF2B5EF4-FFF2-40B4-BE49-F238E27FC236}">
                <a16:creationId xmlns:a16="http://schemas.microsoft.com/office/drawing/2014/main" id="{7E510D7F-841A-4642-A3DD-9A5B8FD46EAB}"/>
              </a:ext>
            </a:extLst>
          </p:cNvPr>
          <p:cNvSpPr>
            <a:spLocks noGrp="1"/>
          </p:cNvSpPr>
          <p:nvPr/>
        </p:nvSpPr>
        <p:spPr>
          <a:xfrm>
            <a:off x="914400" y="5076825"/>
            <a:ext cx="29146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5000"/>
              </a:lnSpc>
              <a:buNone/>
              <a:defRPr sz="788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rPr>
              <a:t>首页入口</a:t>
            </a:r>
          </a:p>
        </p:txBody>
      </p: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10DB3AC0-A2E2-4907-87D7-AA50BAE10543}"/>
              </a:ext>
            </a:extLst>
          </p:cNvPr>
          <p:cNvSpPr>
            <a:spLocks noGrp="1"/>
          </p:cNvSpPr>
          <p:nvPr/>
        </p:nvSpPr>
        <p:spPr>
          <a:xfrm>
            <a:off x="4524375" y="3562350"/>
            <a:ext cx="3143250" cy="1762125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</p:spPr>
      </p:sp>
      <p:pic>
        <p:nvPicPr>
          <p:cNvPr id="33" name="图片 32"/>
          <p:cNvPicPr>
            <a:picLocks noChangeAspect="1"/>
          </p:cNvPicPr>
          <p:nvPr/>
        </p:nvPicPr>
        <p:blipFill>
          <a:blip r:embed="rId4"/>
          <a:srcRect t="20837" b="20837"/>
          <a:stretch>
            <a:fillRect/>
          </a:stretch>
        </p:blipFill>
        <p:spPr>
          <a:xfrm>
            <a:off x="4524375" y="3562350"/>
            <a:ext cx="3143250" cy="1514475"/>
          </a:xfrm>
          <a:prstGeom prst="roundRect">
            <a:avLst>
              <a:gd name="adj" fmla="val 3774"/>
            </a:avLst>
          </a:prstGeom>
        </p:spPr>
      </p:pic>
      <p:sp>
        <p:nvSpPr>
          <p:cNvPr id="34" name="矩形 33">
            <a:extLst>
              <a:ext uri="{FF2B5EF4-FFF2-40B4-BE49-F238E27FC236}">
                <a16:creationId xmlns:a16="http://schemas.microsoft.com/office/drawing/2014/main" id="{54B02183-1A94-47B9-A126-64E13BB0D555}"/>
              </a:ext>
            </a:extLst>
          </p:cNvPr>
          <p:cNvSpPr>
            <a:spLocks noGrp="1"/>
          </p:cNvSpPr>
          <p:nvPr/>
        </p:nvSpPr>
        <p:spPr>
          <a:xfrm>
            <a:off x="4638675" y="5076825"/>
            <a:ext cx="29146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5000"/>
              </a:lnSpc>
              <a:buNone/>
              <a:defRPr sz="788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rPr>
              <a:t>代码运行结果</a:t>
            </a: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578B275D-77C7-460D-BB56-EA526A2DAD50}"/>
              </a:ext>
            </a:extLst>
          </p:cNvPr>
          <p:cNvSpPr>
            <a:spLocks noGrp="1"/>
          </p:cNvSpPr>
          <p:nvPr/>
        </p:nvSpPr>
        <p:spPr>
          <a:xfrm>
            <a:off x="8248650" y="3562350"/>
            <a:ext cx="3143250" cy="1762125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</p:spPr>
      </p:sp>
      <p:pic>
        <p:nvPicPr>
          <p:cNvPr id="36" name="图片 35"/>
          <p:cNvPicPr>
            <a:picLocks noChangeAspect="1"/>
          </p:cNvPicPr>
          <p:nvPr/>
        </p:nvPicPr>
        <p:blipFill>
          <a:blip r:embed="rId5"/>
          <a:srcRect t="15309" b="15309"/>
          <a:stretch>
            <a:fillRect/>
          </a:stretch>
        </p:blipFill>
        <p:spPr>
          <a:xfrm>
            <a:off x="8248650" y="3562350"/>
            <a:ext cx="3143250" cy="1514475"/>
          </a:xfrm>
          <a:prstGeom prst="roundRect">
            <a:avLst>
              <a:gd name="adj" fmla="val 3774"/>
            </a:avLst>
          </a:prstGeom>
        </p:spPr>
      </p:pic>
      <p:sp>
        <p:nvSpPr>
          <p:cNvPr id="37" name="矩形 36">
            <a:extLst>
              <a:ext uri="{FF2B5EF4-FFF2-40B4-BE49-F238E27FC236}">
                <a16:creationId xmlns:a16="http://schemas.microsoft.com/office/drawing/2014/main" id="{118291D0-2815-4761-8845-F59E50E2DAC5}"/>
              </a:ext>
            </a:extLst>
          </p:cNvPr>
          <p:cNvSpPr>
            <a:spLocks noGrp="1"/>
          </p:cNvSpPr>
          <p:nvPr/>
        </p:nvSpPr>
        <p:spPr>
          <a:xfrm>
            <a:off x="8362950" y="5076825"/>
            <a:ext cx="29146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5000"/>
              </a:lnSpc>
              <a:buNone/>
              <a:defRPr sz="788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rPr>
              <a:t>训练看板</a:t>
            </a:r>
          </a:p>
        </p:txBody>
      </p:sp>
    </p:spTree>
    <p:extLst>
      <p:ext uri="{BB962C8B-B14F-4D97-AF65-F5344CB8AC3E}">
        <p14:creationId xmlns:p14="http://schemas.microsoft.com/office/powerpoint/2010/main" val="11314294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115B940D-3334-466A-AB5C-FD03616E0196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40005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788" b="0">
                <a:solidFill>
                  <a:srgbClr val="8EA4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8EA4B8"/>
                </a:solidFill>
                <a:latin typeface="Microsoft YaHei"/>
                <a:ea typeface="Microsoft YaHei"/>
                <a:cs typeface="Microsoft YaHei"/>
              </a:rPr>
              <a:t>OJPT 在线算法题库系统毕业答辩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A212910-0398-41A2-A66D-22CFAA9965D5}"/>
              </a:ext>
            </a:extLst>
          </p:cNvPr>
          <p:cNvSpPr>
            <a:spLocks noGrp="1"/>
          </p:cNvSpPr>
          <p:nvPr/>
        </p:nvSpPr>
        <p:spPr>
          <a:xfrm>
            <a:off x="10839450" y="6429375"/>
            <a:ext cx="762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15000"/>
              </a:lnSpc>
              <a:buNone/>
              <a:defRPr sz="788" b="0">
                <a:solidFill>
                  <a:srgbClr val="8EA4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8EA4B8"/>
                </a:solidFill>
                <a:latin typeface="Microsoft YaHei"/>
                <a:ea typeface="Microsoft YaHei"/>
                <a:cs typeface="Microsoft YaHei"/>
              </a:rPr>
              <a:t>05 / 15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2329024-02F1-4F30-9D74-E4B3BDFCE49A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8200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228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8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系统架构：前后端分离 + 异步判题服务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E3F425C-B39B-4D66-B91B-F6E649FAD576}"/>
              </a:ext>
            </a:extLst>
          </p:cNvPr>
          <p:cNvSpPr>
            <a:spLocks noGrp="1"/>
          </p:cNvSpPr>
          <p:nvPr/>
        </p:nvSpPr>
        <p:spPr>
          <a:xfrm>
            <a:off x="628650" y="895350"/>
            <a:ext cx="105156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040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40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rPr>
              <a:t>第 5 页改为文字说明：用户请求由 Vue 前端发起，经 Spring Boot 接口进入业务服务，数据落库到 MySQL/Redis，代码运行由后端调度 Docker 容器隔离执行。</a:t>
            </a:r>
          </a:p>
        </p:txBody>
      </p:sp>
      <p:sp>
        <p:nvSpPr>
          <p:cNvPr id="23" name="architecture text panel"/>
          <p:cNvSpPr>
            <a:spLocks noGrp="1"/>
          </p:cNvSpPr>
          <p:nvPr/>
        </p:nvSpPr>
        <p:spPr>
          <a:xfrm>
            <a:off x="857250" y="1435100"/>
            <a:ext cx="6572250" cy="303530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</p:spPr>
      </p:sp>
      <p:sp>
        <p:nvSpPr>
          <p:cNvPr id="24" name="architecture panel header bar"/>
          <p:cNvSpPr>
            <a:spLocks noGrp="1"/>
          </p:cNvSpPr>
          <p:nvPr/>
        </p:nvSpPr>
        <p:spPr>
          <a:xfrm>
            <a:off x="857250" y="1435100"/>
            <a:ext cx="6572250" cy="419100"/>
          </a:xfrm>
          <a:prstGeom prst="roundRect">
            <a:avLst>
              <a:gd name="adj" fmla="val 2963"/>
            </a:avLst>
          </a:prstGeom>
          <a:solidFill>
            <a:srgbClr val="F4FAFB"/>
          </a:solidFill>
          <a:ln w="9525">
            <a:solidFill>
              <a:srgbClr val="D9E2EC"/>
            </a:solidFill>
          </a:ln>
        </p:spPr>
      </p:sp>
      <p:sp>
        <p:nvSpPr>
          <p:cNvPr id="25" name="architecture panel title"/>
          <p:cNvSpPr>
            <a:spLocks noGrp="1"/>
          </p:cNvSpPr>
          <p:nvPr/>
        </p:nvSpPr>
        <p:spPr>
          <a:xfrm>
            <a:off x="1117600" y="1530350"/>
            <a:ext cx="5969000" cy="22860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36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6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一次提交的处理链路</a:t>
            </a:r>
          </a:p>
        </p:txBody>
      </p:sp>
      <p:sp>
        <p:nvSpPr>
          <p:cNvPr id="26" name="step 01 badge"/>
          <p:cNvSpPr>
            <a:spLocks noGrp="1"/>
          </p:cNvSpPr>
          <p:nvPr/>
        </p:nvSpPr>
        <p:spPr>
          <a:xfrm>
            <a:off x="1117600" y="1998663"/>
            <a:ext cx="381000" cy="381000"/>
          </a:xfrm>
          <a:prstGeom prst="roundRect">
            <a:avLst>
              <a:gd name="adj" fmla="val 18000"/>
            </a:avLst>
          </a:prstGeom>
          <a:solidFill>
            <a:srgbClr val="00A6B2"/>
          </a:solidFill>
          <a:ln w="9525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200000"/>
              </a:lnSpc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27" name="step 01 heading"/>
          <p:cNvSpPr>
            <a:spLocks noGrp="1"/>
          </p:cNvSpPr>
          <p:nvPr/>
        </p:nvSpPr>
        <p:spPr>
          <a:xfrm>
            <a:off x="1644650" y="1993900"/>
            <a:ext cx="1143000" cy="20955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12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前端提交</a:t>
            </a:r>
          </a:p>
        </p:txBody>
      </p:sp>
      <p:sp>
        <p:nvSpPr>
          <p:cNvPr id="28" name="step 01 body"/>
          <p:cNvSpPr>
            <a:spLocks noGrp="1"/>
          </p:cNvSpPr>
          <p:nvPr/>
        </p:nvSpPr>
        <p:spPr>
          <a:xfrm>
            <a:off x="1644650" y="2222500"/>
            <a:ext cx="5158100" cy="30480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82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Vue 做题页收集语言与代码，调用 /api/problems/no/{problemNo}/submissions。</a:t>
            </a:r>
          </a:p>
        </p:txBody>
      </p:sp>
      <p:sp>
        <p:nvSpPr>
          <p:cNvPr id="29" name="step 02 badge"/>
          <p:cNvSpPr>
            <a:spLocks noGrp="1"/>
          </p:cNvSpPr>
          <p:nvPr/>
        </p:nvSpPr>
        <p:spPr>
          <a:xfrm>
            <a:off x="1117600" y="2511425"/>
            <a:ext cx="381000" cy="381000"/>
          </a:xfrm>
          <a:prstGeom prst="roundRect">
            <a:avLst>
              <a:gd name="adj" fmla="val 18000"/>
            </a:avLst>
          </a:prstGeom>
          <a:solidFill>
            <a:srgbClr val="2F80ED"/>
          </a:solidFill>
          <a:ln w="9525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200000"/>
              </a:lnSpc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30" name="step 02 heading"/>
          <p:cNvSpPr>
            <a:spLocks noGrp="1"/>
          </p:cNvSpPr>
          <p:nvPr/>
        </p:nvSpPr>
        <p:spPr>
          <a:xfrm>
            <a:off x="1644650" y="2508250"/>
            <a:ext cx="1143000" cy="20955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12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接口鉴权</a:t>
            </a:r>
          </a:p>
        </p:txBody>
      </p:sp>
      <p:sp>
        <p:nvSpPr>
          <p:cNvPr id="31" name="step 02 body"/>
          <p:cNvSpPr>
            <a:spLocks noGrp="1"/>
          </p:cNvSpPr>
          <p:nvPr/>
        </p:nvSpPr>
        <p:spPr>
          <a:xfrm>
            <a:off x="1644650" y="2736850"/>
            <a:ext cx="5158100" cy="30480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82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Spring Security 解析登录用户，ProblemController 将请求交给 SubmissionService。</a:t>
            </a:r>
          </a:p>
        </p:txBody>
      </p:sp>
      <p:sp>
        <p:nvSpPr>
          <p:cNvPr id="32" name="step 03 badge"/>
          <p:cNvSpPr>
            <a:spLocks noGrp="1"/>
          </p:cNvSpPr>
          <p:nvPr/>
        </p:nvSpPr>
        <p:spPr>
          <a:xfrm>
            <a:off x="1123950" y="3033713"/>
            <a:ext cx="381000" cy="381000"/>
          </a:xfrm>
          <a:prstGeom prst="roundRect">
            <a:avLst>
              <a:gd name="adj" fmla="val 18000"/>
            </a:avLst>
          </a:prstGeom>
          <a:solidFill>
            <a:srgbClr val="4F46E5"/>
          </a:solidFill>
          <a:ln w="9525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200000"/>
              </a:lnSpc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33" name="step 03 heading"/>
          <p:cNvSpPr>
            <a:spLocks noGrp="1"/>
          </p:cNvSpPr>
          <p:nvPr/>
        </p:nvSpPr>
        <p:spPr>
          <a:xfrm>
            <a:off x="1644650" y="3022600"/>
            <a:ext cx="1143000" cy="20955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12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排队落库</a:t>
            </a:r>
          </a:p>
        </p:txBody>
      </p:sp>
      <p:sp>
        <p:nvSpPr>
          <p:cNvPr id="34" name="step 03 body"/>
          <p:cNvSpPr>
            <a:spLocks noGrp="1"/>
          </p:cNvSpPr>
          <p:nvPr/>
        </p:nvSpPr>
        <p:spPr>
          <a:xfrm>
            <a:off x="1644650" y="3251200"/>
            <a:ext cx="5158100" cy="30480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82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提交记录写入 MySQL，状态先置为 QUEUED，并更新题目提交数与训练进度。</a:t>
            </a:r>
          </a:p>
        </p:txBody>
      </p:sp>
      <p:sp>
        <p:nvSpPr>
          <p:cNvPr id="35" name="step 04 badge"/>
          <p:cNvSpPr>
            <a:spLocks noGrp="1"/>
          </p:cNvSpPr>
          <p:nvPr/>
        </p:nvSpPr>
        <p:spPr>
          <a:xfrm>
            <a:off x="1117600" y="3536950"/>
            <a:ext cx="381000" cy="381000"/>
          </a:xfrm>
          <a:prstGeom prst="roundRect">
            <a:avLst>
              <a:gd name="adj" fmla="val 18000"/>
            </a:avLst>
          </a:prstGeom>
          <a:solidFill>
            <a:srgbClr val="16A34A"/>
          </a:solidFill>
          <a:ln w="9525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200000"/>
              </a:lnSpc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36" name="step 04 heading"/>
          <p:cNvSpPr>
            <a:spLocks noGrp="1"/>
          </p:cNvSpPr>
          <p:nvPr/>
        </p:nvSpPr>
        <p:spPr>
          <a:xfrm>
            <a:off x="1644650" y="3536950"/>
            <a:ext cx="1143000" cy="20955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12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隔离判题</a:t>
            </a:r>
          </a:p>
        </p:txBody>
      </p:sp>
      <p:sp>
        <p:nvSpPr>
          <p:cNvPr id="37" name="step 04 body"/>
          <p:cNvSpPr>
            <a:spLocks noGrp="1"/>
          </p:cNvSpPr>
          <p:nvPr/>
        </p:nvSpPr>
        <p:spPr>
          <a:xfrm>
            <a:off x="1644650" y="3765550"/>
            <a:ext cx="5158100" cy="30480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82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后台线程池读取用例，DockerCodeExecutionService 在无网络容器内编译、运行并限制资源。</a:t>
            </a:r>
          </a:p>
        </p:txBody>
      </p:sp>
      <p:sp>
        <p:nvSpPr>
          <p:cNvPr id="38" name="step 05 badge"/>
          <p:cNvSpPr>
            <a:spLocks noGrp="1"/>
          </p:cNvSpPr>
          <p:nvPr/>
        </p:nvSpPr>
        <p:spPr>
          <a:xfrm>
            <a:off x="1123950" y="4054722"/>
            <a:ext cx="381000" cy="381000"/>
          </a:xfrm>
          <a:prstGeom prst="roundRect">
            <a:avLst>
              <a:gd name="adj" fmla="val 18000"/>
            </a:avLst>
          </a:prstGeom>
          <a:solidFill>
            <a:srgbClr val="F59E0B"/>
          </a:solidFill>
          <a:ln w="9525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200000"/>
              </a:lnSpc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39" name="step 05 heading"/>
          <p:cNvSpPr>
            <a:spLocks noGrp="1"/>
          </p:cNvSpPr>
          <p:nvPr/>
        </p:nvSpPr>
        <p:spPr>
          <a:xfrm>
            <a:off x="1644650" y="4051300"/>
            <a:ext cx="1143000" cy="20955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12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结果回写</a:t>
            </a:r>
          </a:p>
        </p:txBody>
      </p:sp>
      <p:sp>
        <p:nvSpPr>
          <p:cNvPr id="40" name="step 05 body"/>
          <p:cNvSpPr>
            <a:spLocks noGrp="1"/>
          </p:cNvSpPr>
          <p:nvPr/>
        </p:nvSpPr>
        <p:spPr>
          <a:xfrm>
            <a:off x="1644650" y="4279900"/>
            <a:ext cx="5158100" cy="30480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82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判题状态、用例结果、耗时和排名统计回写后，前端轮询展示。</a:t>
            </a:r>
          </a:p>
        </p:txBody>
      </p:sp>
      <p:sp>
        <p:nvSpPr>
          <p:cNvPr id="50" name="前端表现层 card"/>
          <p:cNvSpPr>
            <a:spLocks noGrp="1"/>
          </p:cNvSpPr>
          <p:nvPr/>
        </p:nvSpPr>
        <p:spPr>
          <a:xfrm>
            <a:off x="7899400" y="1435100"/>
            <a:ext cx="3213100" cy="64770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</p:spPr>
      </p:sp>
      <p:sp>
        <p:nvSpPr>
          <p:cNvPr id="51" name="前端表现层 bar"/>
          <p:cNvSpPr>
            <a:spLocks noGrp="1"/>
          </p:cNvSpPr>
          <p:nvPr/>
        </p:nvSpPr>
        <p:spPr>
          <a:xfrm>
            <a:off x="7899400" y="1435100"/>
            <a:ext cx="57150" cy="647700"/>
          </a:xfrm>
          <a:prstGeom prst="rect">
            <a:avLst/>
          </a:prstGeom>
          <a:solidFill>
            <a:srgbClr val="00A6B2"/>
          </a:solidFill>
          <a:ln w="9525">
            <a:noFill/>
          </a:ln>
        </p:spPr>
      </p:sp>
      <p:sp>
        <p:nvSpPr>
          <p:cNvPr id="52" name="前端表现层 title"/>
          <p:cNvSpPr>
            <a:spLocks noGrp="1"/>
          </p:cNvSpPr>
          <p:nvPr/>
        </p:nvSpPr>
        <p:spPr>
          <a:xfrm>
            <a:off x="8134350" y="1549400"/>
            <a:ext cx="2743200" cy="19050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16000"/>
              </a:lnSpc>
              <a:buNone/>
              <a:defRPr sz="118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8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前端表现层</a:t>
            </a:r>
          </a:p>
        </p:txBody>
      </p:sp>
      <p:sp>
        <p:nvSpPr>
          <p:cNvPr id="53" name="前端表现层 body"/>
          <p:cNvSpPr>
            <a:spLocks noGrp="1"/>
          </p:cNvSpPr>
          <p:nvPr/>
        </p:nvSpPr>
        <p:spPr>
          <a:xfrm>
            <a:off x="8134350" y="1778000"/>
            <a:ext cx="2705100" cy="24765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16000"/>
              </a:lnSpc>
              <a:buNone/>
              <a:defRPr sz="76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6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Vue 3 / TypeScript / Element Plus</a:t>
            </a:r>
          </a:p>
          <a:p>
            <a:pPr algn="l">
              <a:lnSpc>
                <a:spcPct val="116000"/>
              </a:lnSpc>
              <a:buNone/>
              <a:defRPr sz="76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6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负责路由、状态、做题页交互与结果展示。</a:t>
            </a:r>
          </a:p>
        </p:txBody>
      </p:sp>
      <p:sp>
        <p:nvSpPr>
          <p:cNvPr id="54" name="后端业务层 card"/>
          <p:cNvSpPr>
            <a:spLocks noGrp="1"/>
          </p:cNvSpPr>
          <p:nvPr/>
        </p:nvSpPr>
        <p:spPr>
          <a:xfrm>
            <a:off x="7899400" y="2235200"/>
            <a:ext cx="3213100" cy="64770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</p:spPr>
      </p:sp>
      <p:sp>
        <p:nvSpPr>
          <p:cNvPr id="55" name="后端业务层 bar"/>
          <p:cNvSpPr>
            <a:spLocks noGrp="1"/>
          </p:cNvSpPr>
          <p:nvPr/>
        </p:nvSpPr>
        <p:spPr>
          <a:xfrm>
            <a:off x="7899400" y="2235200"/>
            <a:ext cx="57150" cy="647700"/>
          </a:xfrm>
          <a:prstGeom prst="rect">
            <a:avLst/>
          </a:prstGeom>
          <a:solidFill>
            <a:srgbClr val="2F80ED"/>
          </a:solidFill>
          <a:ln w="9525">
            <a:noFill/>
          </a:ln>
        </p:spPr>
      </p:sp>
      <p:sp>
        <p:nvSpPr>
          <p:cNvPr id="56" name="后端业务层 title"/>
          <p:cNvSpPr>
            <a:spLocks noGrp="1"/>
          </p:cNvSpPr>
          <p:nvPr/>
        </p:nvSpPr>
        <p:spPr>
          <a:xfrm>
            <a:off x="8134350" y="2349500"/>
            <a:ext cx="2743200" cy="19050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16000"/>
              </a:lnSpc>
              <a:buNone/>
              <a:defRPr sz="118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8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后端业务层</a:t>
            </a:r>
          </a:p>
        </p:txBody>
      </p:sp>
      <p:sp>
        <p:nvSpPr>
          <p:cNvPr id="57" name="后端业务层 body"/>
          <p:cNvSpPr>
            <a:spLocks noGrp="1"/>
          </p:cNvSpPr>
          <p:nvPr/>
        </p:nvSpPr>
        <p:spPr>
          <a:xfrm>
            <a:off x="8134350" y="2578100"/>
            <a:ext cx="2705100" cy="24765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16000"/>
              </a:lnSpc>
              <a:buNone/>
              <a:defRPr sz="76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6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Spring Boot / MyBatis-Plus / Security</a:t>
            </a:r>
          </a:p>
          <a:p>
            <a:pPr algn="l">
              <a:lnSpc>
                <a:spcPct val="116000"/>
              </a:lnSpc>
              <a:buNone/>
              <a:defRPr sz="76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6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提供题库、提交、用户、后台管理等 REST 接口。</a:t>
            </a:r>
          </a:p>
        </p:txBody>
      </p:sp>
      <p:sp>
        <p:nvSpPr>
          <p:cNvPr id="58" name="数据与缓存层 card"/>
          <p:cNvSpPr>
            <a:spLocks noGrp="1"/>
          </p:cNvSpPr>
          <p:nvPr/>
        </p:nvSpPr>
        <p:spPr>
          <a:xfrm>
            <a:off x="7899400" y="3035300"/>
            <a:ext cx="3213100" cy="64770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</p:spPr>
      </p:sp>
      <p:sp>
        <p:nvSpPr>
          <p:cNvPr id="59" name="数据与缓存层 bar"/>
          <p:cNvSpPr>
            <a:spLocks noGrp="1"/>
          </p:cNvSpPr>
          <p:nvPr/>
        </p:nvSpPr>
        <p:spPr>
          <a:xfrm>
            <a:off x="7899400" y="3035300"/>
            <a:ext cx="57150" cy="647700"/>
          </a:xfrm>
          <a:prstGeom prst="rect">
            <a:avLst/>
          </a:prstGeom>
          <a:solidFill>
            <a:srgbClr val="4F46E5"/>
          </a:solidFill>
          <a:ln w="9525">
            <a:noFill/>
          </a:ln>
        </p:spPr>
      </p:sp>
      <p:sp>
        <p:nvSpPr>
          <p:cNvPr id="60" name="数据与缓存层 title"/>
          <p:cNvSpPr>
            <a:spLocks noGrp="1"/>
          </p:cNvSpPr>
          <p:nvPr/>
        </p:nvSpPr>
        <p:spPr>
          <a:xfrm>
            <a:off x="8134350" y="3149600"/>
            <a:ext cx="2743200" cy="19050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16000"/>
              </a:lnSpc>
              <a:buNone/>
              <a:defRPr sz="118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8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数据与缓存层</a:t>
            </a:r>
          </a:p>
        </p:txBody>
      </p:sp>
      <p:sp>
        <p:nvSpPr>
          <p:cNvPr id="61" name="数据与缓存层 body"/>
          <p:cNvSpPr>
            <a:spLocks noGrp="1"/>
          </p:cNvSpPr>
          <p:nvPr/>
        </p:nvSpPr>
        <p:spPr>
          <a:xfrm>
            <a:off x="8134350" y="3378200"/>
            <a:ext cx="2705100" cy="24765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16000"/>
              </a:lnSpc>
              <a:buNone/>
              <a:defRPr sz="76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6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MySQL + Flyway 管理业务数据</a:t>
            </a:r>
          </a:p>
          <a:p>
            <a:pPr algn="l">
              <a:lnSpc>
                <a:spcPct val="116000"/>
              </a:lnSpc>
              <a:buNone/>
              <a:defRPr sz="76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6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Redis 保存登录态、缓存和轻量状态。</a:t>
            </a:r>
          </a:p>
        </p:txBody>
      </p:sp>
      <p:sp>
        <p:nvSpPr>
          <p:cNvPr id="62" name="判题隔离层 card"/>
          <p:cNvSpPr>
            <a:spLocks noGrp="1"/>
          </p:cNvSpPr>
          <p:nvPr/>
        </p:nvSpPr>
        <p:spPr>
          <a:xfrm>
            <a:off x="7899400" y="3835400"/>
            <a:ext cx="3213100" cy="64770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</p:spPr>
      </p:sp>
      <p:sp>
        <p:nvSpPr>
          <p:cNvPr id="63" name="判题隔离层 bar"/>
          <p:cNvSpPr>
            <a:spLocks noGrp="1"/>
          </p:cNvSpPr>
          <p:nvPr/>
        </p:nvSpPr>
        <p:spPr>
          <a:xfrm>
            <a:off x="7899400" y="3835400"/>
            <a:ext cx="57150" cy="647700"/>
          </a:xfrm>
          <a:prstGeom prst="rect">
            <a:avLst/>
          </a:prstGeom>
          <a:solidFill>
            <a:srgbClr val="16A34A"/>
          </a:solidFill>
          <a:ln w="9525">
            <a:noFill/>
          </a:ln>
        </p:spPr>
      </p:sp>
      <p:sp>
        <p:nvSpPr>
          <p:cNvPr id="64" name="判题隔离层 title"/>
          <p:cNvSpPr>
            <a:spLocks noGrp="1"/>
          </p:cNvSpPr>
          <p:nvPr/>
        </p:nvSpPr>
        <p:spPr>
          <a:xfrm>
            <a:off x="8134350" y="3949700"/>
            <a:ext cx="2743200" cy="19050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16000"/>
              </a:lnSpc>
              <a:buNone/>
              <a:defRPr sz="118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8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判题隔离层</a:t>
            </a:r>
          </a:p>
        </p:txBody>
      </p:sp>
      <p:sp>
        <p:nvSpPr>
          <p:cNvPr id="65" name="判题隔离层 body"/>
          <p:cNvSpPr>
            <a:spLocks noGrp="1"/>
          </p:cNvSpPr>
          <p:nvPr/>
        </p:nvSpPr>
        <p:spPr>
          <a:xfrm>
            <a:off x="8134350" y="4178300"/>
            <a:ext cx="2705100" cy="24765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16000"/>
              </a:lnSpc>
              <a:buNone/>
              <a:defRPr sz="76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6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Docker 运行 C++ / Java / Python3</a:t>
            </a:r>
          </a:p>
          <a:p>
            <a:pPr algn="l">
              <a:lnSpc>
                <a:spcPct val="116000"/>
              </a:lnSpc>
              <a:buNone/>
              <a:defRPr sz="76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6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容器禁用网络，并按题目限制 CPU、内存和时间。</a:t>
            </a:r>
          </a:p>
        </p:txBody>
      </p:sp>
      <p:sp>
        <p:nvSpPr>
          <p:cNvPr id="70" name="architecture emphasis note bg"/>
          <p:cNvSpPr>
            <a:spLocks noGrp="1"/>
          </p:cNvSpPr>
          <p:nvPr/>
        </p:nvSpPr>
        <p:spPr>
          <a:xfrm>
            <a:off x="1238250" y="4829175"/>
            <a:ext cx="9563100" cy="479425"/>
          </a:xfrm>
          <a:prstGeom prst="roundRect">
            <a:avLst>
              <a:gd name="adj" fmla="val 16000"/>
            </a:avLst>
          </a:prstGeom>
          <a:solidFill>
            <a:srgbClr val="F4FAFB"/>
          </a:solidFill>
          <a:ln w="9525">
            <a:solidFill>
              <a:srgbClr val="C7E9ED"/>
            </a:solidFill>
          </a:ln>
        </p:spPr>
      </p:sp>
      <p:sp>
        <p:nvSpPr>
          <p:cNvPr id="71" name="architecture emphasis note text"/>
          <p:cNvSpPr>
            <a:spLocks noGrp="1"/>
          </p:cNvSpPr>
          <p:nvPr/>
        </p:nvSpPr>
        <p:spPr>
          <a:xfrm>
            <a:off x="1524000" y="4972050"/>
            <a:ext cx="8991600" cy="24765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6000"/>
              </a:lnSpc>
              <a:buNone/>
              <a:defRPr sz="104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40" b="1" dirty="0" err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系统不是让业务进程直接执行用户代码，而是将提交记录、判题调度和</a:t>
            </a:r>
            <a:r>
              <a:rPr sz="1040" b="1" dirty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 Docker </a:t>
            </a:r>
            <a:r>
              <a:rPr sz="1040" b="1" dirty="0" err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沙箱隔离开；即使代码异常，也只影响临时容器和本次提交结果</a:t>
            </a:r>
            <a:r>
              <a:rPr sz="1040" b="1" dirty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7145883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20">
            <a:extLst>
              <a:ext uri="{FF2B5EF4-FFF2-40B4-BE49-F238E27FC236}">
                <a16:creationId xmlns:a16="http://schemas.microsoft.com/office/drawing/2014/main" id="{069CB1D8-ACC9-4946-80A9-2F1957307F92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40005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788" b="0">
                <a:solidFill>
                  <a:srgbClr val="8EA4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8EA4B8"/>
                </a:solidFill>
                <a:latin typeface="Microsoft YaHei"/>
                <a:ea typeface="Microsoft YaHei"/>
                <a:cs typeface="Microsoft YaHei"/>
              </a:rPr>
              <a:t>OJPT 在线算法题库系统毕业答辩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234F5B0-AF45-4C18-BCEE-EF351372503A}"/>
              </a:ext>
            </a:extLst>
          </p:cNvPr>
          <p:cNvSpPr>
            <a:spLocks noGrp="1"/>
          </p:cNvSpPr>
          <p:nvPr/>
        </p:nvSpPr>
        <p:spPr>
          <a:xfrm>
            <a:off x="10839450" y="6429375"/>
            <a:ext cx="762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15000"/>
              </a:lnSpc>
              <a:buNone/>
              <a:defRPr sz="788" b="0">
                <a:solidFill>
                  <a:srgbClr val="8EA4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8EA4B8"/>
                </a:solidFill>
                <a:latin typeface="Microsoft YaHei"/>
                <a:ea typeface="Microsoft YaHei"/>
                <a:cs typeface="Microsoft YaHei"/>
              </a:rPr>
              <a:t>06 / 15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90FBE09-F74B-4D8D-8CDF-6EE34E79985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7620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240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核心业务流程：从题库入口到提交结果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880755B-28D9-4E36-9E0C-C181C7FD1B35}"/>
              </a:ext>
            </a:extLst>
          </p:cNvPr>
          <p:cNvSpPr>
            <a:spLocks noGrp="1"/>
          </p:cNvSpPr>
          <p:nvPr/>
        </p:nvSpPr>
        <p:spPr>
          <a:xfrm>
            <a:off x="628650" y="904875"/>
            <a:ext cx="7429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1125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rPr>
              <a:t>做题页把“调试运行”和“正式提交”拆成两个清晰流程。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16A288CA-2E84-47B7-BE8D-231B76C00973}"/>
              </a:ext>
            </a:extLst>
          </p:cNvPr>
          <p:cNvSpPr>
            <a:spLocks noGrp="1"/>
          </p:cNvSpPr>
          <p:nvPr/>
        </p:nvSpPr>
        <p:spPr>
          <a:xfrm>
            <a:off x="609600" y="1257300"/>
            <a:ext cx="876300" cy="38100"/>
          </a:xfrm>
          <a:prstGeom prst="roundRect">
            <a:avLst>
              <a:gd name="adj" fmla="val 50000"/>
            </a:avLst>
          </a:prstGeom>
          <a:solidFill>
            <a:srgbClr val="00A6B2"/>
          </a:solidFill>
          <a:ln w="0">
            <a:noFill/>
          </a:ln>
        </p:spPr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94CB1475-77E9-4341-A94A-D6604C4C651C}"/>
              </a:ext>
            </a:extLst>
          </p:cNvPr>
          <p:cNvSpPr>
            <a:spLocks noGrp="1"/>
          </p:cNvSpPr>
          <p:nvPr/>
        </p:nvSpPr>
        <p:spPr>
          <a:xfrm>
            <a:off x="1481305" y="1638300"/>
            <a:ext cx="4000500" cy="1889166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</p:spPr>
      </p:sp>
      <p:pic>
        <p:nvPicPr>
          <p:cNvPr id="10" name="图片 9"/>
          <p:cNvPicPr>
            <a:picLocks noChangeAspect="1"/>
          </p:cNvPicPr>
          <p:nvPr/>
        </p:nvPicPr>
        <p:blipFill>
          <a:blip r:embed="rId3"/>
          <a:srcRect t="22200" b="22200"/>
          <a:stretch>
            <a:fillRect/>
          </a:stretch>
        </p:blipFill>
        <p:spPr>
          <a:xfrm>
            <a:off x="1510086" y="1676400"/>
            <a:ext cx="3971719" cy="1533525"/>
          </a:xfrm>
          <a:prstGeom prst="roundRect">
            <a:avLst>
              <a:gd name="adj" fmla="val 4317"/>
            </a:avLst>
          </a:prstGeom>
        </p:spPr>
      </p:pic>
      <p:sp>
        <p:nvSpPr>
          <p:cNvPr id="11" name="矩形 10">
            <a:extLst>
              <a:ext uri="{FF2B5EF4-FFF2-40B4-BE49-F238E27FC236}">
                <a16:creationId xmlns:a16="http://schemas.microsoft.com/office/drawing/2014/main" id="{41BC2D2E-F60A-49B3-8C3E-CDDD72EAB03B}"/>
              </a:ext>
            </a:extLst>
          </p:cNvPr>
          <p:cNvSpPr>
            <a:spLocks noGrp="1"/>
          </p:cNvSpPr>
          <p:nvPr/>
        </p:nvSpPr>
        <p:spPr>
          <a:xfrm>
            <a:off x="1786105" y="3286125"/>
            <a:ext cx="32004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5000"/>
              </a:lnSpc>
              <a:buNone/>
              <a:defRPr sz="788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 b="0" dirty="0" err="1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rPr>
              <a:t>题库筛选</a:t>
            </a:r>
            <a:endParaRPr sz="788" b="0" dirty="0">
              <a:solidFill>
                <a:srgbClr val="627D98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6A23539A-266E-460E-AA31-B7127D811AED}"/>
              </a:ext>
            </a:extLst>
          </p:cNvPr>
          <p:cNvSpPr>
            <a:spLocks noGrp="1"/>
          </p:cNvSpPr>
          <p:nvPr/>
        </p:nvSpPr>
        <p:spPr>
          <a:xfrm>
            <a:off x="1481305" y="3987573"/>
            <a:ext cx="4000500" cy="1889166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</p:spPr>
      </p:sp>
      <p:pic>
        <p:nvPicPr>
          <p:cNvPr id="23" name="图片 22">
            <a:extLst>
              <a:ext uri="{FF2B5EF4-FFF2-40B4-BE49-F238E27FC236}">
                <a16:creationId xmlns:a16="http://schemas.microsoft.com/office/drawing/2014/main" id="{0E7FA2CA-885B-4AE8-A060-97E6EAA8DB2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9111" b="19111"/>
          <a:stretch>
            <a:fillRect/>
          </a:stretch>
        </p:blipFill>
        <p:spPr>
          <a:xfrm>
            <a:off x="1481305" y="4054434"/>
            <a:ext cx="4000500" cy="1544638"/>
          </a:xfrm>
          <a:prstGeom prst="roundRect">
            <a:avLst>
              <a:gd name="adj" fmla="val 4317"/>
            </a:avLst>
          </a:prstGeom>
        </p:spPr>
      </p:pic>
      <p:sp>
        <p:nvSpPr>
          <p:cNvPr id="24" name="矩形 23">
            <a:extLst>
              <a:ext uri="{FF2B5EF4-FFF2-40B4-BE49-F238E27FC236}">
                <a16:creationId xmlns:a16="http://schemas.microsoft.com/office/drawing/2014/main" id="{302EDB81-3B4F-43C4-94DA-4DCED1F8137E}"/>
              </a:ext>
            </a:extLst>
          </p:cNvPr>
          <p:cNvSpPr>
            <a:spLocks noGrp="1"/>
          </p:cNvSpPr>
          <p:nvPr/>
        </p:nvSpPr>
        <p:spPr>
          <a:xfrm>
            <a:off x="1694814" y="5648325"/>
            <a:ext cx="32004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5000"/>
              </a:lnSpc>
              <a:buNone/>
              <a:defRPr sz="788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 dirty="0" err="1">
                <a:solidFill>
                  <a:srgbClr val="627D98"/>
                </a:solidFill>
                <a:latin typeface="Microsoft YaHei"/>
                <a:ea typeface="Microsoft YaHei"/>
              </a:rPr>
              <a:t>提交后结果反馈</a:t>
            </a:r>
            <a:endParaRPr sz="1000" dirty="0">
              <a:solidFill>
                <a:srgbClr val="627D98"/>
              </a:solidFill>
              <a:latin typeface="Microsoft YaHei"/>
              <a:ea typeface="Microsoft YaHei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62B19DAA-88BA-4F48-A40C-4804EEE4C9B8}"/>
              </a:ext>
            </a:extLst>
          </p:cNvPr>
          <p:cNvSpPr>
            <a:spLocks noGrp="1"/>
          </p:cNvSpPr>
          <p:nvPr/>
        </p:nvSpPr>
        <p:spPr>
          <a:xfrm>
            <a:off x="6517574" y="1638300"/>
            <a:ext cx="4000500" cy="1889166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19B191F9-E6A7-4934-8D18-AF19C94427C0}"/>
              </a:ext>
            </a:extLst>
          </p:cNvPr>
          <p:cNvSpPr>
            <a:spLocks noGrp="1"/>
          </p:cNvSpPr>
          <p:nvPr/>
        </p:nvSpPr>
        <p:spPr>
          <a:xfrm>
            <a:off x="6822374" y="3286125"/>
            <a:ext cx="32004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5000"/>
              </a:lnSpc>
              <a:buNone/>
              <a:defRPr sz="788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000" b="0" dirty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rPr>
              <a:t>做题页代码编辑</a:t>
            </a: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1B1E59C8-EF3C-487B-8689-1CE50BFB132F}"/>
              </a:ext>
            </a:extLst>
          </p:cNvPr>
          <p:cNvSpPr>
            <a:spLocks noGrp="1"/>
          </p:cNvSpPr>
          <p:nvPr/>
        </p:nvSpPr>
        <p:spPr>
          <a:xfrm>
            <a:off x="6517575" y="3987573"/>
            <a:ext cx="4000500" cy="1889166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F780ED6-F91B-4998-A94E-39DCADD474D9}"/>
              </a:ext>
            </a:extLst>
          </p:cNvPr>
          <p:cNvSpPr>
            <a:spLocks noGrp="1"/>
          </p:cNvSpPr>
          <p:nvPr/>
        </p:nvSpPr>
        <p:spPr>
          <a:xfrm>
            <a:off x="6731084" y="5648325"/>
            <a:ext cx="32004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5000"/>
              </a:lnSpc>
              <a:buNone/>
              <a:defRPr sz="788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000" dirty="0">
                <a:solidFill>
                  <a:srgbClr val="627D98"/>
                </a:solidFill>
                <a:latin typeface="Microsoft YaHei"/>
                <a:ea typeface="Microsoft YaHei"/>
              </a:rPr>
              <a:t>提交记录查询</a:t>
            </a:r>
          </a:p>
        </p:txBody>
      </p:sp>
      <p:pic>
        <p:nvPicPr>
          <p:cNvPr id="31" name="图片 30">
            <a:extLst>
              <a:ext uri="{FF2B5EF4-FFF2-40B4-BE49-F238E27FC236}">
                <a16:creationId xmlns:a16="http://schemas.microsoft.com/office/drawing/2014/main" id="{6FE38B66-88E1-427F-9ECA-5D761ACE72B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9281" b="19281"/>
          <a:stretch>
            <a:fillRect/>
          </a:stretch>
        </p:blipFill>
        <p:spPr>
          <a:xfrm>
            <a:off x="6517573" y="1689327"/>
            <a:ext cx="4000501" cy="1544638"/>
          </a:xfrm>
          <a:prstGeom prst="roundRect">
            <a:avLst>
              <a:gd name="adj" fmla="val 4317"/>
            </a:avLst>
          </a:prstGeom>
        </p:spPr>
      </p:pic>
      <p:pic>
        <p:nvPicPr>
          <p:cNvPr id="32" name="图片 31">
            <a:extLst>
              <a:ext uri="{FF2B5EF4-FFF2-40B4-BE49-F238E27FC236}">
                <a16:creationId xmlns:a16="http://schemas.microsoft.com/office/drawing/2014/main" id="{E2502D84-3E46-4E98-BD0E-62CC00AC2D1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22200" b="22200"/>
          <a:stretch>
            <a:fillRect/>
          </a:stretch>
        </p:blipFill>
        <p:spPr>
          <a:xfrm>
            <a:off x="6517573" y="4054434"/>
            <a:ext cx="4000501" cy="1544638"/>
          </a:xfrm>
          <a:prstGeom prst="roundRect">
            <a:avLst>
              <a:gd name="adj" fmla="val 4317"/>
            </a:avLst>
          </a:prstGeom>
        </p:spPr>
      </p:pic>
    </p:spTree>
    <p:extLst>
      <p:ext uri="{BB962C8B-B14F-4D97-AF65-F5344CB8AC3E}">
        <p14:creationId xmlns:p14="http://schemas.microsoft.com/office/powerpoint/2010/main" val="2869296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矩形 26">
            <a:extLst>
              <a:ext uri="{FF2B5EF4-FFF2-40B4-BE49-F238E27FC236}">
                <a16:creationId xmlns:a16="http://schemas.microsoft.com/office/drawing/2014/main" id="{525911F9-6D00-499E-A8F6-0FF4C771E606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40005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788" b="0">
                <a:solidFill>
                  <a:srgbClr val="8EA4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8EA4B8"/>
                </a:solidFill>
                <a:latin typeface="Microsoft YaHei"/>
                <a:ea typeface="Microsoft YaHei"/>
                <a:cs typeface="Microsoft YaHei"/>
              </a:rPr>
              <a:t>OJPT 在线算法题库系统毕业答辩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A5BE4DA-6EC8-4D50-9BA0-B78300ECB257}"/>
              </a:ext>
            </a:extLst>
          </p:cNvPr>
          <p:cNvSpPr>
            <a:spLocks noGrp="1"/>
          </p:cNvSpPr>
          <p:nvPr/>
        </p:nvSpPr>
        <p:spPr>
          <a:xfrm>
            <a:off x="10839450" y="6429375"/>
            <a:ext cx="762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15000"/>
              </a:lnSpc>
              <a:buNone/>
              <a:defRPr sz="788" b="0">
                <a:solidFill>
                  <a:srgbClr val="8EA4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8EA4B8"/>
                </a:solidFill>
                <a:latin typeface="Microsoft YaHei"/>
                <a:ea typeface="Microsoft YaHei"/>
                <a:cs typeface="Microsoft YaHei"/>
              </a:rPr>
              <a:t>07 / 15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CEF5298-A896-4E7E-B1E6-E83BDF63E3C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8200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228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8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判题模块重点：运行调试与正式提交分离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1074711-30EF-41A4-8E08-C8C85786554B}"/>
              </a:ext>
            </a:extLst>
          </p:cNvPr>
          <p:cNvSpPr>
            <a:spLocks noGrp="1"/>
          </p:cNvSpPr>
          <p:nvPr/>
        </p:nvSpPr>
        <p:spPr>
          <a:xfrm>
            <a:off x="628650" y="895350"/>
            <a:ext cx="105156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980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80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rPr>
              <a:t>Docker 只负责单次代码隔离执行，业务侧负责调度、状态判定和结果持久化；答辩时重点说清“先快速试运行，再正式入库判题”。</a:t>
            </a:r>
          </a:p>
        </p:txBody>
      </p:sp>
      <p:sp>
        <p:nvSpPr>
          <p:cNvPr id="80" name="compare panel"/>
          <p:cNvSpPr>
            <a:spLocks noGrp="1"/>
          </p:cNvSpPr>
          <p:nvPr/>
        </p:nvSpPr>
        <p:spPr>
          <a:xfrm>
            <a:off x="838200" y="1435100"/>
            <a:ext cx="3952875" cy="315000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</p:spPr>
      </p:sp>
      <p:sp>
        <p:nvSpPr>
          <p:cNvPr id="81" name="compare header"/>
          <p:cNvSpPr>
            <a:spLocks noGrp="1"/>
          </p:cNvSpPr>
          <p:nvPr/>
        </p:nvSpPr>
        <p:spPr>
          <a:xfrm>
            <a:off x="838200" y="1435100"/>
            <a:ext cx="3952875" cy="419100"/>
          </a:xfrm>
          <a:prstGeom prst="roundRect">
            <a:avLst>
              <a:gd name="adj" fmla="val 2963"/>
            </a:avLst>
          </a:prstGeom>
          <a:solidFill>
            <a:srgbClr val="F4FAFB"/>
          </a:solidFill>
          <a:ln w="9525">
            <a:solidFill>
              <a:srgbClr val="D9E2EC"/>
            </a:solidFill>
          </a:ln>
        </p:spPr>
      </p:sp>
      <p:sp>
        <p:nvSpPr>
          <p:cNvPr id="82" name="compare title"/>
          <p:cNvSpPr>
            <a:spLocks noGrp="1"/>
          </p:cNvSpPr>
          <p:nvPr/>
        </p:nvSpPr>
        <p:spPr>
          <a:xfrm>
            <a:off x="1076325" y="1530350"/>
            <a:ext cx="3381375" cy="22860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36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6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两种操作的差别</a:t>
            </a:r>
          </a:p>
        </p:txBody>
      </p:sp>
      <p:sp>
        <p:nvSpPr>
          <p:cNvPr id="83" name="compare badge"/>
          <p:cNvSpPr>
            <a:spLocks noGrp="1"/>
          </p:cNvSpPr>
          <p:nvPr/>
        </p:nvSpPr>
        <p:spPr>
          <a:xfrm>
            <a:off x="1076325" y="2000250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00A6B2"/>
          </a:solidFill>
          <a:ln w="9525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200000"/>
              </a:lnSpc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84" name="compare card"/>
          <p:cNvSpPr>
            <a:spLocks noGrp="1"/>
          </p:cNvSpPr>
          <p:nvPr/>
        </p:nvSpPr>
        <p:spPr>
          <a:xfrm>
            <a:off x="1647825" y="1981200"/>
            <a:ext cx="2886075" cy="7239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5EDF5"/>
            </a:solidFill>
          </a:ln>
        </p:spPr>
      </p:sp>
      <p:sp>
        <p:nvSpPr>
          <p:cNvPr id="85" name="compare title"/>
          <p:cNvSpPr>
            <a:spLocks noGrp="1"/>
          </p:cNvSpPr>
          <p:nvPr/>
        </p:nvSpPr>
        <p:spPr>
          <a:xfrm>
            <a:off x="1876425" y="2076450"/>
            <a:ext cx="2381250" cy="17145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16000"/>
              </a:lnSpc>
              <a:buNone/>
              <a:defRPr sz="112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运行代码</a:t>
            </a:r>
          </a:p>
        </p:txBody>
      </p:sp>
      <p:sp>
        <p:nvSpPr>
          <p:cNvPr id="86" name="compare body"/>
          <p:cNvSpPr>
            <a:spLocks noGrp="1"/>
          </p:cNvSpPr>
          <p:nvPr/>
        </p:nvSpPr>
        <p:spPr>
          <a:xfrm>
            <a:off x="1876425" y="2295525"/>
            <a:ext cx="2381250" cy="34290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16000"/>
              </a:lnSpc>
              <a:buNone/>
              <a:defRPr sz="72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2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• 面向调试，使用样例或自定义输入</a:t>
            </a:r>
          </a:p>
          <a:p>
            <a:pPr algn="l">
              <a:lnSpc>
                <a:spcPct val="116000"/>
              </a:lnSpc>
              <a:buNone/>
              <a:defRPr sz="72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2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• 同步返回标准输出、错误信息和状态</a:t>
            </a:r>
          </a:p>
          <a:p>
            <a:pPr algn="l">
              <a:lnSpc>
                <a:spcPct val="116000"/>
              </a:lnSpc>
              <a:buNone/>
              <a:defRPr sz="72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2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• 不创建正式提交记录</a:t>
            </a:r>
          </a:p>
        </p:txBody>
      </p:sp>
      <p:sp>
        <p:nvSpPr>
          <p:cNvPr id="88" name="compare badge"/>
          <p:cNvSpPr>
            <a:spLocks noGrp="1"/>
          </p:cNvSpPr>
          <p:nvPr/>
        </p:nvSpPr>
        <p:spPr>
          <a:xfrm>
            <a:off x="1076325" y="2895600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2F80ED"/>
          </a:solidFill>
          <a:ln w="9525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200000"/>
              </a:lnSpc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89" name="compare card"/>
          <p:cNvSpPr>
            <a:spLocks noGrp="1"/>
          </p:cNvSpPr>
          <p:nvPr/>
        </p:nvSpPr>
        <p:spPr>
          <a:xfrm>
            <a:off x="1647825" y="2876550"/>
            <a:ext cx="2886075" cy="7239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5EDF5"/>
            </a:solidFill>
          </a:ln>
        </p:spPr>
      </p:sp>
      <p:sp>
        <p:nvSpPr>
          <p:cNvPr id="90" name="compare title"/>
          <p:cNvSpPr>
            <a:spLocks noGrp="1"/>
          </p:cNvSpPr>
          <p:nvPr/>
        </p:nvSpPr>
        <p:spPr>
          <a:xfrm>
            <a:off x="1876425" y="2971800"/>
            <a:ext cx="2381250" cy="17145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16000"/>
              </a:lnSpc>
              <a:buNone/>
              <a:defRPr sz="112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正式提交</a:t>
            </a:r>
          </a:p>
        </p:txBody>
      </p:sp>
      <p:sp>
        <p:nvSpPr>
          <p:cNvPr id="91" name="compare body"/>
          <p:cNvSpPr>
            <a:spLocks noGrp="1"/>
          </p:cNvSpPr>
          <p:nvPr/>
        </p:nvSpPr>
        <p:spPr>
          <a:xfrm>
            <a:off x="1876425" y="3190875"/>
            <a:ext cx="2381250" cy="34290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16000"/>
              </a:lnSpc>
              <a:buNone/>
              <a:defRPr sz="72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2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• 创建提交记录，先置为 QUEUED</a:t>
            </a:r>
          </a:p>
          <a:p>
            <a:pPr algn="l">
              <a:lnSpc>
                <a:spcPct val="116000"/>
              </a:lnSpc>
              <a:buNone/>
              <a:defRPr sz="72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2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• 后台线程池处理公开和隐藏用例</a:t>
            </a:r>
          </a:p>
          <a:p>
            <a:pPr algn="l">
              <a:lnSpc>
                <a:spcPct val="116000"/>
              </a:lnSpc>
              <a:buNone/>
              <a:defRPr sz="72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2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• 回写逐用例结果、总状态和训练进度</a:t>
            </a:r>
          </a:p>
        </p:txBody>
      </p:sp>
      <p:sp>
        <p:nvSpPr>
          <p:cNvPr id="93" name="compare badge"/>
          <p:cNvSpPr>
            <a:spLocks noGrp="1"/>
          </p:cNvSpPr>
          <p:nvPr/>
        </p:nvSpPr>
        <p:spPr>
          <a:xfrm>
            <a:off x="1076325" y="3790950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4F46E5"/>
          </a:solidFill>
          <a:ln w="9525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200000"/>
              </a:lnSpc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94" name="compare card"/>
          <p:cNvSpPr>
            <a:spLocks noGrp="1"/>
          </p:cNvSpPr>
          <p:nvPr/>
        </p:nvSpPr>
        <p:spPr>
          <a:xfrm>
            <a:off x="1647825" y="3771900"/>
            <a:ext cx="2886075" cy="7239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5EDF5"/>
            </a:solidFill>
          </a:ln>
        </p:spPr>
      </p:sp>
      <p:sp>
        <p:nvSpPr>
          <p:cNvPr id="95" name="compare title"/>
          <p:cNvSpPr>
            <a:spLocks noGrp="1"/>
          </p:cNvSpPr>
          <p:nvPr/>
        </p:nvSpPr>
        <p:spPr>
          <a:xfrm>
            <a:off x="1876425" y="3867150"/>
            <a:ext cx="2381250" cy="17145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16000"/>
              </a:lnSpc>
              <a:buNone/>
              <a:defRPr sz="112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结果状态</a:t>
            </a:r>
          </a:p>
        </p:txBody>
      </p:sp>
      <p:sp>
        <p:nvSpPr>
          <p:cNvPr id="96" name="compare body"/>
          <p:cNvSpPr>
            <a:spLocks noGrp="1"/>
          </p:cNvSpPr>
          <p:nvPr/>
        </p:nvSpPr>
        <p:spPr>
          <a:xfrm>
            <a:off x="1876425" y="4086225"/>
            <a:ext cx="2381250" cy="34290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16000"/>
              </a:lnSpc>
              <a:buNone/>
              <a:defRPr sz="72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2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• AC / WA / CE / RE / TLE / SYSTEM_ERROR</a:t>
            </a:r>
          </a:p>
          <a:p>
            <a:pPr algn="l">
              <a:lnSpc>
                <a:spcPct val="116000"/>
              </a:lnSpc>
              <a:buNone/>
              <a:defRPr sz="72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2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• 终态用于提交详情、提交记录和训练看板</a:t>
            </a:r>
          </a:p>
          <a:p>
            <a:pPr algn="l">
              <a:lnSpc>
                <a:spcPct val="116000"/>
              </a:lnSpc>
              <a:buNone/>
              <a:defRPr sz="72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2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• 前端轮询查询最终判题结果</a:t>
            </a:r>
          </a:p>
        </p:txBody>
      </p:sp>
      <p:sp>
        <p:nvSpPr>
          <p:cNvPr id="140" name="status strip bg"/>
          <p:cNvSpPr>
            <a:spLocks noGrp="1"/>
          </p:cNvSpPr>
          <p:nvPr/>
        </p:nvSpPr>
        <p:spPr>
          <a:xfrm>
            <a:off x="1238250" y="4848225"/>
            <a:ext cx="9563100" cy="476250"/>
          </a:xfrm>
          <a:prstGeom prst="roundRect">
            <a:avLst>
              <a:gd name="adj" fmla="val 16000"/>
            </a:avLst>
          </a:prstGeom>
          <a:solidFill>
            <a:srgbClr val="F4FAFB"/>
          </a:solidFill>
          <a:ln w="9525">
            <a:solidFill>
              <a:srgbClr val="C7E9ED"/>
            </a:solidFill>
          </a:ln>
        </p:spPr>
      </p:sp>
      <p:sp>
        <p:nvSpPr>
          <p:cNvPr id="141" name="status strip text"/>
          <p:cNvSpPr>
            <a:spLocks noGrp="1"/>
          </p:cNvSpPr>
          <p:nvPr/>
        </p:nvSpPr>
        <p:spPr>
          <a:xfrm>
            <a:off x="1524000" y="4991100"/>
            <a:ext cx="8991600" cy="20955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6000"/>
              </a:lnSpc>
              <a:buNone/>
              <a:defRPr sz="98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8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讲解口径：先对比“调试运行”和“正式提交”，再说正式提交的状态流转，最后强调代码始终在 Docker 无网络临时容器中运行。</a:t>
            </a:r>
          </a:p>
        </p:txBody>
      </p:sp>
      <p:sp>
        <p:nvSpPr>
          <p:cNvPr id="100" name="flow panel vertical"/>
          <p:cNvSpPr>
            <a:spLocks noGrp="1"/>
          </p:cNvSpPr>
          <p:nvPr/>
        </p:nvSpPr>
        <p:spPr>
          <a:xfrm>
            <a:off x="5029200" y="1435100"/>
            <a:ext cx="6210300" cy="315000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</p:spPr>
      </p:sp>
      <p:sp>
        <p:nvSpPr>
          <p:cNvPr id="101" name="flow header vertical"/>
          <p:cNvSpPr>
            <a:spLocks noGrp="1"/>
          </p:cNvSpPr>
          <p:nvPr/>
        </p:nvSpPr>
        <p:spPr>
          <a:xfrm>
            <a:off x="5029200" y="1435100"/>
            <a:ext cx="6210300" cy="419100"/>
          </a:xfrm>
          <a:prstGeom prst="roundRect">
            <a:avLst>
              <a:gd name="adj" fmla="val 2963"/>
            </a:avLst>
          </a:prstGeom>
          <a:solidFill>
            <a:srgbClr val="F4FAFB"/>
          </a:solidFill>
          <a:ln w="9525">
            <a:solidFill>
              <a:srgbClr val="D9E2EC"/>
            </a:solidFill>
          </a:ln>
        </p:spPr>
      </p:sp>
      <p:sp>
        <p:nvSpPr>
          <p:cNvPr id="102" name="flow title vertical"/>
          <p:cNvSpPr>
            <a:spLocks noGrp="1"/>
          </p:cNvSpPr>
          <p:nvPr/>
        </p:nvSpPr>
        <p:spPr>
          <a:xfrm>
            <a:off x="5267325" y="1530350"/>
            <a:ext cx="5619750" cy="22860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36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6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正式提交后的判题闭环</a:t>
            </a:r>
          </a:p>
        </p:txBody>
      </p:sp>
      <p:sp>
        <p:nvSpPr>
          <p:cNvPr id="103" name="v badge 1"/>
          <p:cNvSpPr>
            <a:spLocks noGrp="1"/>
          </p:cNvSpPr>
          <p:nvPr/>
        </p:nvSpPr>
        <p:spPr>
          <a:xfrm>
            <a:off x="5267325" y="2019300"/>
            <a:ext cx="381000" cy="381000"/>
          </a:xfrm>
          <a:prstGeom prst="roundRect">
            <a:avLst>
              <a:gd name="adj" fmla="val 18000"/>
            </a:avLst>
          </a:prstGeom>
          <a:solidFill>
            <a:srgbClr val="00A6B2"/>
          </a:solidFill>
          <a:ln w="9525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200000"/>
              </a:lnSpc>
              <a:buNone/>
              <a:defRPr sz="9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04" name="v title 1"/>
          <p:cNvSpPr>
            <a:spLocks noGrp="1"/>
          </p:cNvSpPr>
          <p:nvPr/>
        </p:nvSpPr>
        <p:spPr>
          <a:xfrm>
            <a:off x="5838825" y="2000250"/>
            <a:ext cx="1524000" cy="20955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98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8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提交接口</a:t>
            </a:r>
          </a:p>
        </p:txBody>
      </p:sp>
      <p:sp>
        <p:nvSpPr>
          <p:cNvPr id="105" name="v body 1"/>
          <p:cNvSpPr>
            <a:spLocks noGrp="1"/>
          </p:cNvSpPr>
          <p:nvPr/>
        </p:nvSpPr>
        <p:spPr>
          <a:xfrm>
            <a:off x="5838825" y="2228850"/>
            <a:ext cx="4686300" cy="26670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76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6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做题页调用 /submissions，传入语言和源码。</a:t>
            </a:r>
          </a:p>
        </p:txBody>
      </p:sp>
      <p:sp>
        <p:nvSpPr>
          <p:cNvPr id="106" name="v divider 1"/>
          <p:cNvSpPr>
            <a:spLocks noGrp="1"/>
          </p:cNvSpPr>
          <p:nvPr/>
        </p:nvSpPr>
        <p:spPr>
          <a:xfrm>
            <a:off x="5267324" y="2443162"/>
            <a:ext cx="5572125" cy="28575"/>
          </a:xfrm>
          <a:prstGeom prst="rect">
            <a:avLst/>
          </a:prstGeom>
          <a:solidFill>
            <a:srgbClr val="E5EDF5"/>
          </a:solidFill>
          <a:ln w="9525">
            <a:noFill/>
          </a:ln>
        </p:spPr>
      </p:sp>
      <p:sp>
        <p:nvSpPr>
          <p:cNvPr id="108" name="v badge 2"/>
          <p:cNvSpPr>
            <a:spLocks noGrp="1"/>
          </p:cNvSpPr>
          <p:nvPr/>
        </p:nvSpPr>
        <p:spPr>
          <a:xfrm>
            <a:off x="5267325" y="2533650"/>
            <a:ext cx="381000" cy="381000"/>
          </a:xfrm>
          <a:prstGeom prst="roundRect">
            <a:avLst>
              <a:gd name="adj" fmla="val 18000"/>
            </a:avLst>
          </a:prstGeom>
          <a:solidFill>
            <a:srgbClr val="2F80ED"/>
          </a:solidFill>
          <a:ln w="9525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200000"/>
              </a:lnSpc>
              <a:buNone/>
              <a:defRPr sz="9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09" name="v title 2"/>
          <p:cNvSpPr>
            <a:spLocks noGrp="1"/>
          </p:cNvSpPr>
          <p:nvPr/>
        </p:nvSpPr>
        <p:spPr>
          <a:xfrm>
            <a:off x="5838825" y="2514600"/>
            <a:ext cx="1524000" cy="20955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98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8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入库排队</a:t>
            </a:r>
          </a:p>
        </p:txBody>
      </p:sp>
      <p:sp>
        <p:nvSpPr>
          <p:cNvPr id="110" name="v body 2"/>
          <p:cNvSpPr>
            <a:spLocks noGrp="1"/>
          </p:cNvSpPr>
          <p:nvPr/>
        </p:nvSpPr>
        <p:spPr>
          <a:xfrm>
            <a:off x="5838825" y="2743200"/>
            <a:ext cx="4686300" cy="26670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76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6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提交表记录 QUEUED，同时更新题目提交数和尝试进度。</a:t>
            </a:r>
          </a:p>
        </p:txBody>
      </p:sp>
      <p:sp>
        <p:nvSpPr>
          <p:cNvPr id="111" name="v divider 2"/>
          <p:cNvSpPr>
            <a:spLocks noGrp="1"/>
          </p:cNvSpPr>
          <p:nvPr/>
        </p:nvSpPr>
        <p:spPr>
          <a:xfrm>
            <a:off x="5267324" y="2952750"/>
            <a:ext cx="5572125" cy="28575"/>
          </a:xfrm>
          <a:prstGeom prst="rect">
            <a:avLst/>
          </a:prstGeom>
          <a:solidFill>
            <a:srgbClr val="E5EDF5"/>
          </a:solidFill>
          <a:ln w="9525">
            <a:noFill/>
          </a:ln>
        </p:spPr>
      </p:sp>
      <p:sp>
        <p:nvSpPr>
          <p:cNvPr id="113" name="v badge 3"/>
          <p:cNvSpPr>
            <a:spLocks noGrp="1"/>
          </p:cNvSpPr>
          <p:nvPr/>
        </p:nvSpPr>
        <p:spPr>
          <a:xfrm>
            <a:off x="5267325" y="3048000"/>
            <a:ext cx="381000" cy="381000"/>
          </a:xfrm>
          <a:prstGeom prst="roundRect">
            <a:avLst>
              <a:gd name="adj" fmla="val 18000"/>
            </a:avLst>
          </a:prstGeom>
          <a:solidFill>
            <a:srgbClr val="4F46E5"/>
          </a:solidFill>
          <a:ln w="9525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200000"/>
              </a:lnSpc>
              <a:buNone/>
              <a:defRPr sz="9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14" name="v title 3"/>
          <p:cNvSpPr>
            <a:spLocks noGrp="1"/>
          </p:cNvSpPr>
          <p:nvPr/>
        </p:nvSpPr>
        <p:spPr>
          <a:xfrm>
            <a:off x="5838825" y="3028950"/>
            <a:ext cx="1524000" cy="20955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98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8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后台执行</a:t>
            </a:r>
          </a:p>
        </p:txBody>
      </p:sp>
      <p:sp>
        <p:nvSpPr>
          <p:cNvPr id="115" name="v body 3"/>
          <p:cNvSpPr>
            <a:spLocks noGrp="1"/>
          </p:cNvSpPr>
          <p:nvPr/>
        </p:nvSpPr>
        <p:spPr>
          <a:xfrm>
            <a:off x="5838825" y="3257550"/>
            <a:ext cx="4686300" cy="26670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76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6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事务提交后进入判题线程池，状态切到 RUNNING。</a:t>
            </a:r>
          </a:p>
        </p:txBody>
      </p:sp>
      <p:sp>
        <p:nvSpPr>
          <p:cNvPr id="116" name="v divider 3"/>
          <p:cNvSpPr>
            <a:spLocks noGrp="1"/>
          </p:cNvSpPr>
          <p:nvPr/>
        </p:nvSpPr>
        <p:spPr>
          <a:xfrm>
            <a:off x="5267324" y="3485903"/>
            <a:ext cx="5572125" cy="28575"/>
          </a:xfrm>
          <a:prstGeom prst="rect">
            <a:avLst/>
          </a:prstGeom>
          <a:solidFill>
            <a:srgbClr val="E5EDF5"/>
          </a:solidFill>
          <a:ln w="9525">
            <a:noFill/>
          </a:ln>
        </p:spPr>
      </p:sp>
      <p:sp>
        <p:nvSpPr>
          <p:cNvPr id="118" name="v badge 4"/>
          <p:cNvSpPr>
            <a:spLocks noGrp="1"/>
          </p:cNvSpPr>
          <p:nvPr/>
        </p:nvSpPr>
        <p:spPr>
          <a:xfrm>
            <a:off x="5267325" y="3562350"/>
            <a:ext cx="381000" cy="381000"/>
          </a:xfrm>
          <a:prstGeom prst="roundRect">
            <a:avLst>
              <a:gd name="adj" fmla="val 18000"/>
            </a:avLst>
          </a:prstGeom>
          <a:solidFill>
            <a:srgbClr val="16A34A"/>
          </a:solidFill>
          <a:ln w="9525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200000"/>
              </a:lnSpc>
              <a:buNone/>
              <a:defRPr sz="9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0" b="1" dirty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19" name="v title 4"/>
          <p:cNvSpPr>
            <a:spLocks noGrp="1"/>
          </p:cNvSpPr>
          <p:nvPr/>
        </p:nvSpPr>
        <p:spPr>
          <a:xfrm>
            <a:off x="5838825" y="3543300"/>
            <a:ext cx="1524000" cy="20955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98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8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容器判题</a:t>
            </a:r>
          </a:p>
        </p:txBody>
      </p:sp>
      <p:sp>
        <p:nvSpPr>
          <p:cNvPr id="120" name="v body 4"/>
          <p:cNvSpPr>
            <a:spLocks noGrp="1"/>
          </p:cNvSpPr>
          <p:nvPr/>
        </p:nvSpPr>
        <p:spPr>
          <a:xfrm>
            <a:off x="5838825" y="3771900"/>
            <a:ext cx="4686300" cy="26670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76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6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DockerCodeExecutionService 在无网络、限资源的临时容器内编译运行。</a:t>
            </a:r>
          </a:p>
        </p:txBody>
      </p:sp>
      <p:sp>
        <p:nvSpPr>
          <p:cNvPr id="121" name="v divider 4"/>
          <p:cNvSpPr>
            <a:spLocks noGrp="1"/>
          </p:cNvSpPr>
          <p:nvPr/>
        </p:nvSpPr>
        <p:spPr>
          <a:xfrm>
            <a:off x="5267323" y="3994550"/>
            <a:ext cx="5572125" cy="28575"/>
          </a:xfrm>
          <a:prstGeom prst="rect">
            <a:avLst/>
          </a:prstGeom>
          <a:solidFill>
            <a:srgbClr val="E5EDF5"/>
          </a:solidFill>
          <a:ln w="9525">
            <a:noFill/>
          </a:ln>
        </p:spPr>
      </p:sp>
      <p:sp>
        <p:nvSpPr>
          <p:cNvPr id="123" name="v badge 5"/>
          <p:cNvSpPr>
            <a:spLocks noGrp="1"/>
          </p:cNvSpPr>
          <p:nvPr/>
        </p:nvSpPr>
        <p:spPr>
          <a:xfrm>
            <a:off x="5267325" y="4076700"/>
            <a:ext cx="381000" cy="381000"/>
          </a:xfrm>
          <a:prstGeom prst="roundRect">
            <a:avLst>
              <a:gd name="adj" fmla="val 18000"/>
            </a:avLst>
          </a:prstGeom>
          <a:solidFill>
            <a:srgbClr val="F59E0B"/>
          </a:solidFill>
          <a:ln w="9525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200000"/>
              </a:lnSpc>
              <a:buNone/>
              <a:defRPr sz="9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24" name="v title 5"/>
          <p:cNvSpPr>
            <a:spLocks noGrp="1"/>
          </p:cNvSpPr>
          <p:nvPr/>
        </p:nvSpPr>
        <p:spPr>
          <a:xfrm>
            <a:off x="5838825" y="4057650"/>
            <a:ext cx="1524000" cy="20955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98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8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结果展示</a:t>
            </a:r>
          </a:p>
        </p:txBody>
      </p:sp>
      <p:sp>
        <p:nvSpPr>
          <p:cNvPr id="125" name="v body 5"/>
          <p:cNvSpPr>
            <a:spLocks noGrp="1"/>
          </p:cNvSpPr>
          <p:nvPr/>
        </p:nvSpPr>
        <p:spPr>
          <a:xfrm>
            <a:off x="5838825" y="4286250"/>
            <a:ext cx="4686300" cy="26670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76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6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结果写入数据库，前端按提交 ID 轮询并展示状态和用例细节。</a:t>
            </a:r>
          </a:p>
        </p:txBody>
      </p:sp>
    </p:spTree>
    <p:extLst>
      <p:ext uri="{BB962C8B-B14F-4D97-AF65-F5344CB8AC3E}">
        <p14:creationId xmlns:p14="http://schemas.microsoft.com/office/powerpoint/2010/main" val="15131424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20">
            <a:extLst>
              <a:ext uri="{FF2B5EF4-FFF2-40B4-BE49-F238E27FC236}">
                <a16:creationId xmlns:a16="http://schemas.microsoft.com/office/drawing/2014/main" id="{80FD5359-21AC-4E48-90AD-A2C9E8760029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40005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788" b="0">
                <a:solidFill>
                  <a:srgbClr val="8EA4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8EA4B8"/>
                </a:solidFill>
                <a:latin typeface="Microsoft YaHei"/>
                <a:ea typeface="Microsoft YaHei"/>
                <a:cs typeface="Microsoft YaHei"/>
              </a:rPr>
              <a:t>OJPT 在线算法题库系统毕业答辩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7ADE158-FEC1-4F9E-812B-3F4A43A86EA7}"/>
              </a:ext>
            </a:extLst>
          </p:cNvPr>
          <p:cNvSpPr>
            <a:spLocks noGrp="1"/>
          </p:cNvSpPr>
          <p:nvPr/>
        </p:nvSpPr>
        <p:spPr>
          <a:xfrm>
            <a:off x="10839450" y="6429375"/>
            <a:ext cx="762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15000"/>
              </a:lnSpc>
              <a:buNone/>
              <a:defRPr sz="788" b="0">
                <a:solidFill>
                  <a:srgbClr val="8EA4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8EA4B8"/>
                </a:solidFill>
                <a:latin typeface="Microsoft YaHei"/>
                <a:ea typeface="Microsoft YaHei"/>
                <a:cs typeface="Microsoft YaHei"/>
              </a:rPr>
              <a:t>08 / 15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177FEC1-4F80-4D3F-B0F0-EC817C54555C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7620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240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权限与账号：JWT 登录态 + USER / ADMIN 边界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C79BA1F-9A11-45FC-A4A4-451D56CE8B68}"/>
              </a:ext>
            </a:extLst>
          </p:cNvPr>
          <p:cNvSpPr>
            <a:spLocks noGrp="1"/>
          </p:cNvSpPr>
          <p:nvPr/>
        </p:nvSpPr>
        <p:spPr>
          <a:xfrm>
            <a:off x="628650" y="904875"/>
            <a:ext cx="7429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1125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rPr>
              <a:t>认证负责“是谁”，角色负责“能访问哪些页面和接口”。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C283190D-691E-4C53-9336-402DA8A0782B}"/>
              </a:ext>
            </a:extLst>
          </p:cNvPr>
          <p:cNvSpPr>
            <a:spLocks noGrp="1"/>
          </p:cNvSpPr>
          <p:nvPr/>
        </p:nvSpPr>
        <p:spPr>
          <a:xfrm>
            <a:off x="609600" y="1257300"/>
            <a:ext cx="876300" cy="38100"/>
          </a:xfrm>
          <a:prstGeom prst="roundRect">
            <a:avLst>
              <a:gd name="adj" fmla="val 50000"/>
            </a:avLst>
          </a:prstGeom>
          <a:solidFill>
            <a:srgbClr val="00A6B2"/>
          </a:solidFill>
          <a:ln w="0">
            <a:noFill/>
          </a:ln>
        </p:spPr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D44E15F4-3226-42BB-8939-63C83BD8C812}"/>
              </a:ext>
            </a:extLst>
          </p:cNvPr>
          <p:cNvSpPr>
            <a:spLocks noGrp="1"/>
          </p:cNvSpPr>
          <p:nvPr/>
        </p:nvSpPr>
        <p:spPr>
          <a:xfrm>
            <a:off x="588077" y="1419225"/>
            <a:ext cx="3793424" cy="476250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</p:spPr>
      </p:sp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4646" y="1436187"/>
            <a:ext cx="3009899" cy="4682945"/>
          </a:xfrm>
          <a:prstGeom prst="roundRect">
            <a:avLst>
              <a:gd name="adj" fmla="val 1899"/>
            </a:avLst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8FFF90A6-C9EF-4EA2-9603-03F3670DA5A9}"/>
              </a:ext>
            </a:extLst>
          </p:cNvPr>
          <p:cNvSpPr>
            <a:spLocks noGrp="1"/>
          </p:cNvSpPr>
          <p:nvPr/>
        </p:nvSpPr>
        <p:spPr>
          <a:xfrm>
            <a:off x="745095" y="5947682"/>
            <a:ext cx="30099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5000"/>
              </a:lnSpc>
              <a:buNone/>
              <a:defRPr sz="788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 dirty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rPr>
              <a:t>JWT </a:t>
            </a:r>
            <a:r>
              <a:rPr sz="788" b="0" dirty="0" err="1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rPr>
              <a:t>鉴权与刷新流程</a:t>
            </a:r>
            <a:endParaRPr sz="788" b="0" dirty="0">
              <a:solidFill>
                <a:srgbClr val="627D98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CED374E-6693-46EC-8FEF-AD58CAEC8ECA}"/>
              </a:ext>
            </a:extLst>
          </p:cNvPr>
          <p:cNvSpPr>
            <a:spLocks noGrp="1"/>
          </p:cNvSpPr>
          <p:nvPr/>
        </p:nvSpPr>
        <p:spPr>
          <a:xfrm>
            <a:off x="4714875" y="1809750"/>
            <a:ext cx="2381250" cy="1428750"/>
          </a:xfrm>
          <a:prstGeom prst="roundRect">
            <a:avLst>
              <a:gd name="adj" fmla="val 5333"/>
            </a:avLst>
          </a:prstGeom>
          <a:solidFill>
            <a:srgbClr val="F0FBFC"/>
          </a:solidFill>
          <a:ln w="9525">
            <a:solidFill>
              <a:srgbClr val="BDEEF2"/>
            </a:solidFill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C9453DF-12C2-4CDA-A75F-69689607F5EF}"/>
              </a:ext>
            </a:extLst>
          </p:cNvPr>
          <p:cNvSpPr>
            <a:spLocks noGrp="1"/>
          </p:cNvSpPr>
          <p:nvPr/>
        </p:nvSpPr>
        <p:spPr>
          <a:xfrm>
            <a:off x="4714875" y="2047875"/>
            <a:ext cx="23812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6618"/>
          </a:bodyPr>
          <a:lstStyle/>
          <a:p>
            <a:pPr algn="ctr">
              <a:lnSpc>
                <a:spcPct val="115000"/>
              </a:lnSpc>
              <a:buNone/>
              <a:defRPr sz="1800" b="1">
                <a:solidFill>
                  <a:srgbClr val="00A6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0A6B2"/>
                </a:solidFill>
                <a:latin typeface="Microsoft YaHei"/>
                <a:ea typeface="Microsoft YaHei"/>
                <a:cs typeface="Microsoft YaHei"/>
              </a:rPr>
              <a:t>USER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851ED0D-CEBD-4408-843D-6207BA3A34AC}"/>
              </a:ext>
            </a:extLst>
          </p:cNvPr>
          <p:cNvSpPr>
            <a:spLocks noGrp="1"/>
          </p:cNvSpPr>
          <p:nvPr/>
        </p:nvSpPr>
        <p:spPr>
          <a:xfrm>
            <a:off x="5000625" y="2524125"/>
            <a:ext cx="1809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83317" lnSpcReduction="20000"/>
          </a:bodyPr>
          <a:lstStyle/>
          <a:p>
            <a:pPr algn="ctr">
              <a:lnSpc>
                <a:spcPct val="125000"/>
              </a:lnSpc>
              <a:buNone/>
              <a:defRPr sz="1275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题库浏览</a:t>
            </a:r>
          </a:p>
          <a:p>
            <a:pPr algn="ctr">
              <a:lnSpc>
                <a:spcPct val="125000"/>
              </a:lnSpc>
              <a:buNone/>
              <a:defRPr sz="1275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做题与提交</a:t>
            </a:r>
          </a:p>
          <a:p>
            <a:pPr algn="ctr">
              <a:lnSpc>
                <a:spcPct val="125000"/>
              </a:lnSpc>
              <a:buNone/>
              <a:defRPr sz="1275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个人中心与训练看板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59C7159A-FAD9-4423-97CB-A93AD9C28A86}"/>
              </a:ext>
            </a:extLst>
          </p:cNvPr>
          <p:cNvSpPr>
            <a:spLocks noGrp="1"/>
          </p:cNvSpPr>
          <p:nvPr/>
        </p:nvSpPr>
        <p:spPr>
          <a:xfrm>
            <a:off x="4714875" y="3752850"/>
            <a:ext cx="2381250" cy="1428750"/>
          </a:xfrm>
          <a:prstGeom prst="roundRect">
            <a:avLst>
              <a:gd name="adj" fmla="val 5333"/>
            </a:avLst>
          </a:prstGeom>
          <a:solidFill>
            <a:srgbClr val="F5F8FB"/>
          </a:solidFill>
          <a:ln w="9525">
            <a:solidFill>
              <a:srgbClr val="D9E2EC"/>
            </a:solidFill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A9F123F-D9E0-44E6-93BF-F098873B299E}"/>
              </a:ext>
            </a:extLst>
          </p:cNvPr>
          <p:cNvSpPr>
            <a:spLocks noGrp="1"/>
          </p:cNvSpPr>
          <p:nvPr/>
        </p:nvSpPr>
        <p:spPr>
          <a:xfrm>
            <a:off x="4714875" y="3990975"/>
            <a:ext cx="23812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6618"/>
          </a:bodyPr>
          <a:lstStyle/>
          <a:p>
            <a:pPr algn="ctr">
              <a:lnSpc>
                <a:spcPct val="115000"/>
              </a:lnSpc>
              <a:buNone/>
              <a:defRPr sz="1800" b="1">
                <a:solidFill>
                  <a:srgbClr val="1769A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769AA"/>
                </a:solidFill>
                <a:latin typeface="Microsoft YaHei"/>
                <a:ea typeface="Microsoft YaHei"/>
                <a:cs typeface="Microsoft YaHei"/>
              </a:rPr>
              <a:t>ADMIN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AD177BF-BFA8-4A9D-A65D-D3921E112425}"/>
              </a:ext>
            </a:extLst>
          </p:cNvPr>
          <p:cNvSpPr>
            <a:spLocks noGrp="1"/>
          </p:cNvSpPr>
          <p:nvPr/>
        </p:nvSpPr>
        <p:spPr>
          <a:xfrm>
            <a:off x="5000625" y="4467225"/>
            <a:ext cx="1809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83317" lnSpcReduction="20000"/>
          </a:bodyPr>
          <a:lstStyle/>
          <a:p>
            <a:pPr algn="ctr">
              <a:lnSpc>
                <a:spcPct val="125000"/>
              </a:lnSpc>
              <a:buNone/>
              <a:defRPr sz="1275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用户管理</a:t>
            </a:r>
          </a:p>
          <a:p>
            <a:pPr algn="ctr">
              <a:lnSpc>
                <a:spcPct val="125000"/>
              </a:lnSpc>
              <a:buNone/>
              <a:defRPr sz="1275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题目与用例维护</a:t>
            </a:r>
          </a:p>
          <a:p>
            <a:pPr algn="ctr">
              <a:lnSpc>
                <a:spcPct val="125000"/>
              </a:lnSpc>
              <a:buNone/>
              <a:defRPr sz="1275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判题环境检查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1BF6577E-FB99-41F5-914D-8688DEF9F3E1}"/>
              </a:ext>
            </a:extLst>
          </p:cNvPr>
          <p:cNvSpPr>
            <a:spLocks noGrp="1"/>
          </p:cNvSpPr>
          <p:nvPr/>
        </p:nvSpPr>
        <p:spPr>
          <a:xfrm>
            <a:off x="7810500" y="1695450"/>
            <a:ext cx="3333750" cy="161925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</p:spPr>
      </p:sp>
      <p:pic>
        <p:nvPicPr>
          <p:cNvPr id="16" name="图片 15"/>
          <p:cNvPicPr>
            <a:picLocks noChangeAspect="1"/>
          </p:cNvPicPr>
          <p:nvPr/>
        </p:nvPicPr>
        <p:blipFill>
          <a:blip r:embed="rId4"/>
          <a:srcRect t="20377" b="20377"/>
          <a:stretch>
            <a:fillRect/>
          </a:stretch>
        </p:blipFill>
        <p:spPr>
          <a:xfrm>
            <a:off x="7810500" y="1695450"/>
            <a:ext cx="3333750" cy="1371600"/>
          </a:xfrm>
          <a:prstGeom prst="roundRect">
            <a:avLst>
              <a:gd name="adj" fmla="val 4167"/>
            </a:avLst>
          </a:prstGeom>
        </p:spPr>
      </p:pic>
      <p:sp>
        <p:nvSpPr>
          <p:cNvPr id="17" name="矩形 16">
            <a:extLst>
              <a:ext uri="{FF2B5EF4-FFF2-40B4-BE49-F238E27FC236}">
                <a16:creationId xmlns:a16="http://schemas.microsoft.com/office/drawing/2014/main" id="{3CA54980-D309-42ED-A3C0-BD9E9EBABDB8}"/>
              </a:ext>
            </a:extLst>
          </p:cNvPr>
          <p:cNvSpPr>
            <a:spLocks noGrp="1"/>
          </p:cNvSpPr>
          <p:nvPr/>
        </p:nvSpPr>
        <p:spPr>
          <a:xfrm>
            <a:off x="7924800" y="3067050"/>
            <a:ext cx="31051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5000"/>
              </a:lnSpc>
              <a:buNone/>
              <a:defRPr sz="788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rPr>
              <a:t>管理员后台入口</a:t>
            </a: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6111905E-FDBA-429D-9E33-80D576B4B109}"/>
              </a:ext>
            </a:extLst>
          </p:cNvPr>
          <p:cNvSpPr>
            <a:spLocks noGrp="1"/>
          </p:cNvSpPr>
          <p:nvPr/>
        </p:nvSpPr>
        <p:spPr>
          <a:xfrm>
            <a:off x="7810500" y="3762375"/>
            <a:ext cx="3333750" cy="161925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</p:spPr>
      </p:sp>
      <p:pic>
        <p:nvPicPr>
          <p:cNvPr id="19" name="图片 18"/>
          <p:cNvPicPr>
            <a:picLocks noChangeAspect="1"/>
          </p:cNvPicPr>
          <p:nvPr/>
        </p:nvPicPr>
        <p:blipFill>
          <a:blip r:embed="rId5"/>
          <a:srcRect t="17086" b="17086"/>
          <a:stretch>
            <a:fillRect/>
          </a:stretch>
        </p:blipFill>
        <p:spPr>
          <a:xfrm>
            <a:off x="7810500" y="3762375"/>
            <a:ext cx="3333750" cy="1371600"/>
          </a:xfrm>
          <a:prstGeom prst="roundRect">
            <a:avLst>
              <a:gd name="adj" fmla="val 4167"/>
            </a:avLst>
          </a:prstGeom>
        </p:spPr>
      </p:pic>
      <p:sp>
        <p:nvSpPr>
          <p:cNvPr id="20" name="矩形 19">
            <a:extLst>
              <a:ext uri="{FF2B5EF4-FFF2-40B4-BE49-F238E27FC236}">
                <a16:creationId xmlns:a16="http://schemas.microsoft.com/office/drawing/2014/main" id="{6CFA9403-33BC-45AD-969A-BBB13B58F9AB}"/>
              </a:ext>
            </a:extLst>
          </p:cNvPr>
          <p:cNvSpPr>
            <a:spLocks noGrp="1"/>
          </p:cNvSpPr>
          <p:nvPr/>
        </p:nvSpPr>
        <p:spPr>
          <a:xfrm>
            <a:off x="7924800" y="5133975"/>
            <a:ext cx="31051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5000"/>
              </a:lnSpc>
              <a:buNone/>
              <a:defRPr sz="788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rPr>
              <a:t>普通用户首页入口</a:t>
            </a:r>
          </a:p>
        </p:txBody>
      </p:sp>
    </p:spTree>
    <p:extLst>
      <p:ext uri="{BB962C8B-B14F-4D97-AF65-F5344CB8AC3E}">
        <p14:creationId xmlns:p14="http://schemas.microsoft.com/office/powerpoint/2010/main" val="19232756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矩形 26">
            <a:extLst>
              <a:ext uri="{FF2B5EF4-FFF2-40B4-BE49-F238E27FC236}">
                <a16:creationId xmlns:a16="http://schemas.microsoft.com/office/drawing/2014/main" id="{90B4E371-DC43-42F1-B156-8FCA3C6B9242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40005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788" b="0">
                <a:solidFill>
                  <a:srgbClr val="8EA4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8EA4B8"/>
                </a:solidFill>
                <a:latin typeface="Microsoft YaHei"/>
                <a:ea typeface="Microsoft YaHei"/>
                <a:cs typeface="Microsoft YaHei"/>
              </a:rPr>
              <a:t>OJPT 在线算法题库系统毕业答辩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19EF566-F888-4889-9BC6-C8E99DCE852A}"/>
              </a:ext>
            </a:extLst>
          </p:cNvPr>
          <p:cNvSpPr>
            <a:spLocks noGrp="1"/>
          </p:cNvSpPr>
          <p:nvPr/>
        </p:nvSpPr>
        <p:spPr>
          <a:xfrm>
            <a:off x="10839450" y="6429375"/>
            <a:ext cx="762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15000"/>
              </a:lnSpc>
              <a:buNone/>
              <a:defRPr sz="788" b="0">
                <a:solidFill>
                  <a:srgbClr val="8EA4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8EA4B8"/>
                </a:solidFill>
                <a:latin typeface="Microsoft YaHei"/>
                <a:ea typeface="Microsoft YaHei"/>
                <a:cs typeface="Microsoft YaHei"/>
              </a:rPr>
              <a:t>09 / 15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FA7BBEF-0E2D-4F54-8318-DB1C80CF605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8500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16000"/>
              </a:lnSpc>
              <a:buNone/>
              <a:defRPr sz="228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8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数据库设计：按业务域说清表的职责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9D04CDA-90D0-448D-B828-CA3E719C5CE4}"/>
              </a:ext>
            </a:extLst>
          </p:cNvPr>
          <p:cNvSpPr>
            <a:spLocks noGrp="1"/>
          </p:cNvSpPr>
          <p:nvPr/>
        </p:nvSpPr>
        <p:spPr>
          <a:xfrm>
            <a:off x="628650" y="895350"/>
            <a:ext cx="105156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16000"/>
              </a:lnSpc>
              <a:buNone/>
              <a:defRPr sz="1000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rPr>
              <a:t>不展示 E-R 图，直接说清哪些表、做什么、存哪些数据；实际表结构以 Flyway 迁移脚本为依据。</a:t>
            </a:r>
          </a:p>
        </p:txBody>
      </p:sp>
      <p:sp>
        <p:nvSpPr>
          <p:cNvPr id="80" name="db table panel"/>
          <p:cNvSpPr>
            <a:spLocks noGrp="1"/>
          </p:cNvSpPr>
          <p:nvPr/>
        </p:nvSpPr>
        <p:spPr>
          <a:xfrm>
            <a:off x="838200" y="1435100"/>
            <a:ext cx="10363200" cy="333375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</p:spPr>
      </p:sp>
      <p:sp>
        <p:nvSpPr>
          <p:cNvPr id="81" name="db table header"/>
          <p:cNvSpPr>
            <a:spLocks noGrp="1"/>
          </p:cNvSpPr>
          <p:nvPr/>
        </p:nvSpPr>
        <p:spPr>
          <a:xfrm>
            <a:off x="838200" y="1435100"/>
            <a:ext cx="10363200" cy="419100"/>
          </a:xfrm>
          <a:prstGeom prst="roundRect">
            <a:avLst>
              <a:gd name="adj" fmla="val 2963"/>
            </a:avLst>
          </a:prstGeom>
          <a:solidFill>
            <a:srgbClr val="F4FAFB"/>
          </a:solidFill>
          <a:ln w="9525">
            <a:solidFill>
              <a:srgbClr val="D9E2EC"/>
            </a:solidFill>
          </a:ln>
        </p:spPr>
      </p:sp>
      <p:sp>
        <p:nvSpPr>
          <p:cNvPr id="82" name="h1"/>
          <p:cNvSpPr>
            <a:spLocks noGrp="1"/>
          </p:cNvSpPr>
          <p:nvPr/>
        </p:nvSpPr>
        <p:spPr>
          <a:xfrm>
            <a:off x="1076325" y="1530350"/>
            <a:ext cx="1809750" cy="19050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16000"/>
              </a:lnSpc>
              <a:buNone/>
              <a:defRPr sz="105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业务域</a:t>
            </a:r>
          </a:p>
        </p:txBody>
      </p:sp>
      <p:sp>
        <p:nvSpPr>
          <p:cNvPr id="83" name="h2"/>
          <p:cNvSpPr>
            <a:spLocks noGrp="1"/>
          </p:cNvSpPr>
          <p:nvPr/>
        </p:nvSpPr>
        <p:spPr>
          <a:xfrm>
            <a:off x="2990850" y="1530350"/>
            <a:ext cx="3133725" cy="19050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16000"/>
              </a:lnSpc>
              <a:buNone/>
              <a:defRPr sz="105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主要表</a:t>
            </a:r>
          </a:p>
        </p:txBody>
      </p:sp>
      <p:sp>
        <p:nvSpPr>
          <p:cNvPr id="84" name="h3"/>
          <p:cNvSpPr>
            <a:spLocks noGrp="1"/>
          </p:cNvSpPr>
          <p:nvPr/>
        </p:nvSpPr>
        <p:spPr>
          <a:xfrm>
            <a:off x="6267450" y="1530350"/>
            <a:ext cx="1809750" cy="19050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16000"/>
              </a:lnSpc>
              <a:buNone/>
              <a:defRPr sz="105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作用</a:t>
            </a:r>
          </a:p>
        </p:txBody>
      </p:sp>
      <p:sp>
        <p:nvSpPr>
          <p:cNvPr id="85" name="h4"/>
          <p:cNvSpPr>
            <a:spLocks noGrp="1"/>
          </p:cNvSpPr>
          <p:nvPr/>
        </p:nvSpPr>
        <p:spPr>
          <a:xfrm>
            <a:off x="8096250" y="1530350"/>
            <a:ext cx="3028950" cy="19050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16000"/>
              </a:lnSpc>
              <a:buNone/>
              <a:defRPr sz="105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存放数据</a:t>
            </a:r>
          </a:p>
        </p:txBody>
      </p:sp>
      <p:sp>
        <p:nvSpPr>
          <p:cNvPr id="91" name="domain color"/>
          <p:cNvSpPr>
            <a:spLocks noGrp="1"/>
          </p:cNvSpPr>
          <p:nvPr/>
        </p:nvSpPr>
        <p:spPr>
          <a:xfrm>
            <a:off x="1047750" y="2000250"/>
            <a:ext cx="57150" cy="323850"/>
          </a:xfrm>
          <a:prstGeom prst="rect">
            <a:avLst/>
          </a:prstGeom>
          <a:solidFill>
            <a:srgbClr val="00A6B2"/>
          </a:solidFill>
          <a:ln w="9525">
            <a:noFill/>
          </a:ln>
        </p:spPr>
      </p:sp>
      <p:sp>
        <p:nvSpPr>
          <p:cNvPr id="92" name="domain"/>
          <p:cNvSpPr>
            <a:spLocks noGrp="1"/>
          </p:cNvSpPr>
          <p:nvPr/>
        </p:nvSpPr>
        <p:spPr>
          <a:xfrm>
            <a:off x="1162050" y="1962150"/>
            <a:ext cx="1666875" cy="40005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16000"/>
              </a:lnSpc>
              <a:buNone/>
              <a:defRPr sz="90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题库与测试用例</a:t>
            </a:r>
          </a:p>
        </p:txBody>
      </p:sp>
      <p:sp>
        <p:nvSpPr>
          <p:cNvPr id="93" name="tables"/>
          <p:cNvSpPr>
            <a:spLocks noGrp="1"/>
          </p:cNvSpPr>
          <p:nvPr/>
        </p:nvSpPr>
        <p:spPr>
          <a:xfrm>
            <a:off x="2990850" y="1962150"/>
            <a:ext cx="3048000" cy="40005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16000"/>
              </a:lnSpc>
              <a:buNone/>
              <a:defRPr sz="76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6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problem / tag / problem_tag / problem_test_case</a:t>
            </a:r>
          </a:p>
        </p:txBody>
      </p:sp>
      <p:sp>
        <p:nvSpPr>
          <p:cNvPr id="94" name="role"/>
          <p:cNvSpPr>
            <a:spLocks noGrp="1"/>
          </p:cNvSpPr>
          <p:nvPr/>
        </p:nvSpPr>
        <p:spPr>
          <a:xfrm>
            <a:off x="6267450" y="1962150"/>
            <a:ext cx="1666875" cy="40005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16000"/>
              </a:lnSpc>
              <a:buNone/>
              <a:defRPr sz="76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6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管理题目、标签与判题用例</a:t>
            </a:r>
          </a:p>
        </p:txBody>
      </p:sp>
      <p:sp>
        <p:nvSpPr>
          <p:cNvPr id="95" name="data"/>
          <p:cNvSpPr>
            <a:spLocks noGrp="1"/>
          </p:cNvSpPr>
          <p:nvPr/>
        </p:nvSpPr>
        <p:spPr>
          <a:xfrm>
            <a:off x="8096250" y="1962150"/>
            <a:ext cx="3067050" cy="40005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16000"/>
              </a:lnSpc>
              <a:buNone/>
              <a:defRPr sz="72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2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题号、标题、难度、题面 Markdown、时间内存限制、公开隐藏用例</a:t>
            </a:r>
          </a:p>
        </p:txBody>
      </p:sp>
      <p:sp>
        <p:nvSpPr>
          <p:cNvPr id="96" name="sep"/>
          <p:cNvSpPr>
            <a:spLocks noGrp="1"/>
          </p:cNvSpPr>
          <p:nvPr/>
        </p:nvSpPr>
        <p:spPr>
          <a:xfrm>
            <a:off x="1047750" y="2343150"/>
            <a:ext cx="9848850" cy="19050"/>
          </a:xfrm>
          <a:prstGeom prst="rect">
            <a:avLst/>
          </a:prstGeom>
          <a:solidFill>
            <a:srgbClr val="E5EDF5"/>
          </a:solidFill>
          <a:ln w="9525">
            <a:noFill/>
          </a:ln>
        </p:spPr>
      </p:sp>
      <p:sp>
        <p:nvSpPr>
          <p:cNvPr id="97" name="domain color"/>
          <p:cNvSpPr>
            <a:spLocks noGrp="1"/>
          </p:cNvSpPr>
          <p:nvPr/>
        </p:nvSpPr>
        <p:spPr>
          <a:xfrm>
            <a:off x="1047750" y="2476500"/>
            <a:ext cx="57150" cy="323850"/>
          </a:xfrm>
          <a:prstGeom prst="rect">
            <a:avLst/>
          </a:prstGeom>
          <a:solidFill>
            <a:srgbClr val="2F80ED"/>
          </a:solidFill>
          <a:ln w="9525">
            <a:noFill/>
          </a:ln>
        </p:spPr>
      </p:sp>
      <p:sp>
        <p:nvSpPr>
          <p:cNvPr id="98" name="domain"/>
          <p:cNvSpPr>
            <a:spLocks noGrp="1"/>
          </p:cNvSpPr>
          <p:nvPr/>
        </p:nvSpPr>
        <p:spPr>
          <a:xfrm>
            <a:off x="1162050" y="2438400"/>
            <a:ext cx="1666875" cy="40005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16000"/>
              </a:lnSpc>
              <a:buNone/>
              <a:defRPr sz="90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提交与判题结果</a:t>
            </a:r>
          </a:p>
        </p:txBody>
      </p:sp>
      <p:sp>
        <p:nvSpPr>
          <p:cNvPr id="99" name="tables"/>
          <p:cNvSpPr>
            <a:spLocks noGrp="1"/>
          </p:cNvSpPr>
          <p:nvPr/>
        </p:nvSpPr>
        <p:spPr>
          <a:xfrm>
            <a:off x="2990850" y="2438400"/>
            <a:ext cx="3048000" cy="40005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16000"/>
              </a:lnSpc>
              <a:buNone/>
              <a:defRPr sz="76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6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submission / submission_case_result</a:t>
            </a:r>
          </a:p>
        </p:txBody>
      </p:sp>
      <p:sp>
        <p:nvSpPr>
          <p:cNvPr id="100" name="role"/>
          <p:cNvSpPr>
            <a:spLocks noGrp="1"/>
          </p:cNvSpPr>
          <p:nvPr/>
        </p:nvSpPr>
        <p:spPr>
          <a:xfrm>
            <a:off x="6267450" y="2438400"/>
            <a:ext cx="1666875" cy="40005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16000"/>
              </a:lnSpc>
              <a:buNone/>
              <a:defRPr sz="76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6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记录一次提交和每个用例的运行结果</a:t>
            </a:r>
          </a:p>
        </p:txBody>
      </p:sp>
      <p:sp>
        <p:nvSpPr>
          <p:cNvPr id="101" name="data"/>
          <p:cNvSpPr>
            <a:spLocks noGrp="1"/>
          </p:cNvSpPr>
          <p:nvPr/>
        </p:nvSpPr>
        <p:spPr>
          <a:xfrm>
            <a:off x="8096250" y="2438400"/>
            <a:ext cx="3067050" cy="40005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16000"/>
              </a:lnSpc>
              <a:buNone/>
              <a:defRPr sz="72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2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用户、题目、语言、源码、状态、耗时、编译和判题信息、逐用例输入输出</a:t>
            </a:r>
          </a:p>
        </p:txBody>
      </p:sp>
      <p:sp>
        <p:nvSpPr>
          <p:cNvPr id="102" name="sep"/>
          <p:cNvSpPr>
            <a:spLocks noGrp="1"/>
          </p:cNvSpPr>
          <p:nvPr/>
        </p:nvSpPr>
        <p:spPr>
          <a:xfrm>
            <a:off x="1047750" y="2819400"/>
            <a:ext cx="9848850" cy="19050"/>
          </a:xfrm>
          <a:prstGeom prst="rect">
            <a:avLst/>
          </a:prstGeom>
          <a:solidFill>
            <a:srgbClr val="E5EDF5"/>
          </a:solidFill>
          <a:ln w="9525">
            <a:noFill/>
          </a:ln>
        </p:spPr>
      </p:sp>
      <p:sp>
        <p:nvSpPr>
          <p:cNvPr id="103" name="domain color"/>
          <p:cNvSpPr>
            <a:spLocks noGrp="1"/>
          </p:cNvSpPr>
          <p:nvPr/>
        </p:nvSpPr>
        <p:spPr>
          <a:xfrm>
            <a:off x="1047750" y="2952750"/>
            <a:ext cx="57150" cy="323850"/>
          </a:xfrm>
          <a:prstGeom prst="rect">
            <a:avLst/>
          </a:prstGeom>
          <a:solidFill>
            <a:srgbClr val="4F46E5"/>
          </a:solidFill>
          <a:ln w="9525">
            <a:noFill/>
          </a:ln>
        </p:spPr>
      </p:sp>
      <p:sp>
        <p:nvSpPr>
          <p:cNvPr id="104" name="domain"/>
          <p:cNvSpPr>
            <a:spLocks noGrp="1"/>
          </p:cNvSpPr>
          <p:nvPr/>
        </p:nvSpPr>
        <p:spPr>
          <a:xfrm>
            <a:off x="1162050" y="2914650"/>
            <a:ext cx="1666875" cy="40005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16000"/>
              </a:lnSpc>
              <a:buNone/>
              <a:defRPr sz="90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训练与代码草稿</a:t>
            </a:r>
          </a:p>
        </p:txBody>
      </p:sp>
      <p:sp>
        <p:nvSpPr>
          <p:cNvPr id="105" name="tables"/>
          <p:cNvSpPr>
            <a:spLocks noGrp="1"/>
          </p:cNvSpPr>
          <p:nvPr/>
        </p:nvSpPr>
        <p:spPr>
          <a:xfrm>
            <a:off x="2990850" y="2914650"/>
            <a:ext cx="3048000" cy="40005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16000"/>
              </a:lnSpc>
              <a:buNone/>
              <a:defRPr sz="76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6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user_problem_progress / problem_code_draft</a:t>
            </a:r>
          </a:p>
        </p:txBody>
      </p:sp>
      <p:sp>
        <p:nvSpPr>
          <p:cNvPr id="106" name="role"/>
          <p:cNvSpPr>
            <a:spLocks noGrp="1"/>
          </p:cNvSpPr>
          <p:nvPr/>
        </p:nvSpPr>
        <p:spPr>
          <a:xfrm>
            <a:off x="6267450" y="2914650"/>
            <a:ext cx="1666875" cy="40005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16000"/>
              </a:lnSpc>
              <a:buNone/>
              <a:defRPr sz="76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6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承接训练看板和编辑器自动恢复</a:t>
            </a:r>
          </a:p>
        </p:txBody>
      </p:sp>
      <p:sp>
        <p:nvSpPr>
          <p:cNvPr id="107" name="data"/>
          <p:cNvSpPr>
            <a:spLocks noGrp="1"/>
          </p:cNvSpPr>
          <p:nvPr/>
        </p:nvSpPr>
        <p:spPr>
          <a:xfrm>
            <a:off x="8096250" y="2914650"/>
            <a:ext cx="3067050" cy="40005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16000"/>
              </a:lnSpc>
              <a:buNone/>
              <a:defRPr sz="72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2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题目进度状态 UNSOLVED/ATTEMPTED/SOLVED、最近提交、语言、草稿源码、更新时间</a:t>
            </a:r>
          </a:p>
        </p:txBody>
      </p:sp>
      <p:sp>
        <p:nvSpPr>
          <p:cNvPr id="108" name="sep"/>
          <p:cNvSpPr>
            <a:spLocks noGrp="1"/>
          </p:cNvSpPr>
          <p:nvPr/>
        </p:nvSpPr>
        <p:spPr>
          <a:xfrm>
            <a:off x="1047750" y="3295650"/>
            <a:ext cx="9848850" cy="19050"/>
          </a:xfrm>
          <a:prstGeom prst="rect">
            <a:avLst/>
          </a:prstGeom>
          <a:solidFill>
            <a:srgbClr val="E5EDF5"/>
          </a:solidFill>
          <a:ln w="9525">
            <a:noFill/>
          </a:ln>
        </p:spPr>
      </p:sp>
      <p:sp>
        <p:nvSpPr>
          <p:cNvPr id="109" name="domain color"/>
          <p:cNvSpPr>
            <a:spLocks noGrp="1"/>
          </p:cNvSpPr>
          <p:nvPr/>
        </p:nvSpPr>
        <p:spPr>
          <a:xfrm>
            <a:off x="1047750" y="3429000"/>
            <a:ext cx="57150" cy="323850"/>
          </a:xfrm>
          <a:prstGeom prst="rect">
            <a:avLst/>
          </a:prstGeom>
          <a:solidFill>
            <a:srgbClr val="16A34A"/>
          </a:solidFill>
          <a:ln w="9525">
            <a:noFill/>
          </a:ln>
        </p:spPr>
      </p:sp>
      <p:sp>
        <p:nvSpPr>
          <p:cNvPr id="110" name="domain"/>
          <p:cNvSpPr>
            <a:spLocks noGrp="1"/>
          </p:cNvSpPr>
          <p:nvPr/>
        </p:nvSpPr>
        <p:spPr>
          <a:xfrm>
            <a:off x="1162050" y="3390900"/>
            <a:ext cx="1666875" cy="40005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16000"/>
              </a:lnSpc>
              <a:buNone/>
              <a:defRPr sz="90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用户与权限</a:t>
            </a:r>
          </a:p>
        </p:txBody>
      </p:sp>
      <p:sp>
        <p:nvSpPr>
          <p:cNvPr id="111" name="tables"/>
          <p:cNvSpPr>
            <a:spLocks noGrp="1"/>
          </p:cNvSpPr>
          <p:nvPr/>
        </p:nvSpPr>
        <p:spPr>
          <a:xfrm>
            <a:off x="2990850" y="3390900"/>
            <a:ext cx="3048000" cy="40005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16000"/>
              </a:lnSpc>
              <a:buNone/>
              <a:defRPr sz="76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6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user / user_profile / role / user_role / permission / role_permission</a:t>
            </a:r>
          </a:p>
        </p:txBody>
      </p:sp>
      <p:sp>
        <p:nvSpPr>
          <p:cNvPr id="112" name="role"/>
          <p:cNvSpPr>
            <a:spLocks noGrp="1"/>
          </p:cNvSpPr>
          <p:nvPr/>
        </p:nvSpPr>
        <p:spPr>
          <a:xfrm>
            <a:off x="6267450" y="3390900"/>
            <a:ext cx="1666875" cy="40005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16000"/>
              </a:lnSpc>
              <a:buNone/>
              <a:defRPr sz="76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6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管理登录身份、个人资料和权限边界</a:t>
            </a:r>
          </a:p>
        </p:txBody>
      </p:sp>
      <p:sp>
        <p:nvSpPr>
          <p:cNvPr id="113" name="data"/>
          <p:cNvSpPr>
            <a:spLocks noGrp="1"/>
          </p:cNvSpPr>
          <p:nvPr/>
        </p:nvSpPr>
        <p:spPr>
          <a:xfrm>
            <a:off x="8096250" y="3390900"/>
            <a:ext cx="3067050" cy="40005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16000"/>
              </a:lnSpc>
              <a:buNone/>
              <a:defRPr sz="72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2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账号、密码、邮箱手机、头像、角色、权限资源与角色关联</a:t>
            </a:r>
          </a:p>
        </p:txBody>
      </p:sp>
      <p:sp>
        <p:nvSpPr>
          <p:cNvPr id="114" name="sep"/>
          <p:cNvSpPr>
            <a:spLocks noGrp="1"/>
          </p:cNvSpPr>
          <p:nvPr/>
        </p:nvSpPr>
        <p:spPr>
          <a:xfrm>
            <a:off x="1047750" y="3771900"/>
            <a:ext cx="9848850" cy="19050"/>
          </a:xfrm>
          <a:prstGeom prst="rect">
            <a:avLst/>
          </a:prstGeom>
          <a:solidFill>
            <a:srgbClr val="E5EDF5"/>
          </a:solidFill>
          <a:ln w="9525">
            <a:noFill/>
          </a:ln>
        </p:spPr>
      </p:sp>
      <p:sp>
        <p:nvSpPr>
          <p:cNvPr id="115" name="domain color"/>
          <p:cNvSpPr>
            <a:spLocks noGrp="1"/>
          </p:cNvSpPr>
          <p:nvPr/>
        </p:nvSpPr>
        <p:spPr>
          <a:xfrm>
            <a:off x="1047750" y="3905250"/>
            <a:ext cx="57150" cy="323850"/>
          </a:xfrm>
          <a:prstGeom prst="rect">
            <a:avLst/>
          </a:prstGeom>
          <a:solidFill>
            <a:srgbClr val="F59E0B"/>
          </a:solidFill>
          <a:ln w="9525">
            <a:noFill/>
          </a:ln>
        </p:spPr>
      </p:sp>
      <p:sp>
        <p:nvSpPr>
          <p:cNvPr id="116" name="domain"/>
          <p:cNvSpPr>
            <a:spLocks noGrp="1"/>
          </p:cNvSpPr>
          <p:nvPr/>
        </p:nvSpPr>
        <p:spPr>
          <a:xfrm>
            <a:off x="1162050" y="3867150"/>
            <a:ext cx="1666875" cy="40005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16000"/>
              </a:lnSpc>
              <a:buNone/>
              <a:defRPr sz="90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组织教学域</a:t>
            </a:r>
          </a:p>
        </p:txBody>
      </p:sp>
      <p:sp>
        <p:nvSpPr>
          <p:cNvPr id="117" name="tables"/>
          <p:cNvSpPr>
            <a:spLocks noGrp="1"/>
          </p:cNvSpPr>
          <p:nvPr/>
        </p:nvSpPr>
        <p:spPr>
          <a:xfrm>
            <a:off x="2990850" y="3867150"/>
            <a:ext cx="3048000" cy="40005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16000"/>
              </a:lnSpc>
              <a:buNone/>
              <a:defRPr sz="76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6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school / department / class / class_user / class_teacher</a:t>
            </a:r>
          </a:p>
        </p:txBody>
      </p:sp>
      <p:sp>
        <p:nvSpPr>
          <p:cNvPr id="118" name="role"/>
          <p:cNvSpPr>
            <a:spLocks noGrp="1"/>
          </p:cNvSpPr>
          <p:nvPr/>
        </p:nvSpPr>
        <p:spPr>
          <a:xfrm>
            <a:off x="6267450" y="3867150"/>
            <a:ext cx="1666875" cy="40005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16000"/>
              </a:lnSpc>
              <a:buNone/>
              <a:defRPr sz="76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6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支持学校、院系、班级、学员和教师关系</a:t>
            </a:r>
          </a:p>
        </p:txBody>
      </p:sp>
      <p:sp>
        <p:nvSpPr>
          <p:cNvPr id="119" name="data"/>
          <p:cNvSpPr>
            <a:spLocks noGrp="1"/>
          </p:cNvSpPr>
          <p:nvPr/>
        </p:nvSpPr>
        <p:spPr>
          <a:xfrm>
            <a:off x="8096250" y="3867150"/>
            <a:ext cx="3067050" cy="40005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16000"/>
              </a:lnSpc>
              <a:buNone/>
              <a:defRPr sz="72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2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学校认证状态、院系名称、班级年份、申请审核状态、教师角色</a:t>
            </a:r>
          </a:p>
        </p:txBody>
      </p:sp>
      <p:sp>
        <p:nvSpPr>
          <p:cNvPr id="120" name="sep"/>
          <p:cNvSpPr>
            <a:spLocks noGrp="1"/>
          </p:cNvSpPr>
          <p:nvPr/>
        </p:nvSpPr>
        <p:spPr>
          <a:xfrm>
            <a:off x="1047750" y="4248150"/>
            <a:ext cx="9848850" cy="19050"/>
          </a:xfrm>
          <a:prstGeom prst="rect">
            <a:avLst/>
          </a:prstGeom>
          <a:solidFill>
            <a:srgbClr val="E5EDF5"/>
          </a:solidFill>
          <a:ln w="9525">
            <a:noFill/>
          </a:ln>
        </p:spPr>
      </p:sp>
      <p:sp>
        <p:nvSpPr>
          <p:cNvPr id="121" name="domain color"/>
          <p:cNvSpPr>
            <a:spLocks noGrp="1"/>
          </p:cNvSpPr>
          <p:nvPr/>
        </p:nvSpPr>
        <p:spPr>
          <a:xfrm>
            <a:off x="1047750" y="4381500"/>
            <a:ext cx="57150" cy="323850"/>
          </a:xfrm>
          <a:prstGeom prst="rect">
            <a:avLst/>
          </a:prstGeom>
          <a:solidFill>
            <a:srgbClr val="7C3AED"/>
          </a:solidFill>
          <a:ln w="9525">
            <a:noFill/>
          </a:ln>
        </p:spPr>
      </p:sp>
      <p:sp>
        <p:nvSpPr>
          <p:cNvPr id="122" name="domain"/>
          <p:cNvSpPr>
            <a:spLocks noGrp="1"/>
          </p:cNvSpPr>
          <p:nvPr/>
        </p:nvSpPr>
        <p:spPr>
          <a:xfrm>
            <a:off x="1162050" y="4343400"/>
            <a:ext cx="1666875" cy="40005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16000"/>
              </a:lnSpc>
              <a:buNone/>
              <a:defRPr sz="90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账号安全补充</a:t>
            </a:r>
          </a:p>
        </p:txBody>
      </p:sp>
      <p:sp>
        <p:nvSpPr>
          <p:cNvPr id="123" name="tables"/>
          <p:cNvSpPr>
            <a:spLocks noGrp="1"/>
          </p:cNvSpPr>
          <p:nvPr/>
        </p:nvSpPr>
        <p:spPr>
          <a:xfrm>
            <a:off x="2990850" y="4343400"/>
            <a:ext cx="3048000" cy="40005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16000"/>
              </a:lnSpc>
              <a:buNone/>
              <a:defRPr sz="76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6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password_reset_request</a:t>
            </a:r>
          </a:p>
        </p:txBody>
      </p:sp>
      <p:sp>
        <p:nvSpPr>
          <p:cNvPr id="124" name="role"/>
          <p:cNvSpPr>
            <a:spLocks noGrp="1"/>
          </p:cNvSpPr>
          <p:nvPr/>
        </p:nvSpPr>
        <p:spPr>
          <a:xfrm>
            <a:off x="6267450" y="4343400"/>
            <a:ext cx="1666875" cy="40005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16000"/>
              </a:lnSpc>
              <a:buNone/>
              <a:defRPr sz="76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6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保存忘记密码的审批请求</a:t>
            </a:r>
          </a:p>
        </p:txBody>
      </p:sp>
      <p:sp>
        <p:nvSpPr>
          <p:cNvPr id="125" name="data"/>
          <p:cNvSpPr>
            <a:spLocks noGrp="1"/>
          </p:cNvSpPr>
          <p:nvPr/>
        </p:nvSpPr>
        <p:spPr>
          <a:xfrm>
            <a:off x="8096250" y="4343400"/>
            <a:ext cx="3067050" cy="40005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16000"/>
              </a:lnSpc>
              <a:buNone/>
              <a:defRPr sz="72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2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目标用户、提交账号、审核状态、审核人、审核时间</a:t>
            </a:r>
          </a:p>
        </p:txBody>
      </p:sp>
      <p:sp>
        <p:nvSpPr>
          <p:cNvPr id="140" name="db note bg"/>
          <p:cNvSpPr>
            <a:spLocks noGrp="1"/>
          </p:cNvSpPr>
          <p:nvPr/>
        </p:nvSpPr>
        <p:spPr>
          <a:xfrm>
            <a:off x="1238250" y="4943475"/>
            <a:ext cx="9563100" cy="476250"/>
          </a:xfrm>
          <a:prstGeom prst="roundRect">
            <a:avLst>
              <a:gd name="adj" fmla="val 16000"/>
            </a:avLst>
          </a:prstGeom>
          <a:solidFill>
            <a:srgbClr val="F4FAFB"/>
          </a:solidFill>
          <a:ln w="9525">
            <a:solidFill>
              <a:srgbClr val="C7E9ED"/>
            </a:solidFill>
          </a:ln>
        </p:spPr>
      </p:sp>
      <p:sp>
        <p:nvSpPr>
          <p:cNvPr id="141" name="db note text"/>
          <p:cNvSpPr>
            <a:spLocks noGrp="1"/>
          </p:cNvSpPr>
          <p:nvPr/>
        </p:nvSpPr>
        <p:spPr>
          <a:xfrm>
            <a:off x="1524000" y="5086350"/>
            <a:ext cx="8991600" cy="20955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 fontScale="100000"/>
          </a:bodyPr>
          <a:lstStyle/>
          <a:p>
            <a:pPr algn="ctr">
              <a:lnSpc>
                <a:spcPct val="116000"/>
              </a:lnSpc>
              <a:buNone/>
              <a:defRPr sz="93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讲解重点：数据库设计不只是结构关系，更重要的是介绍表如何支撑“题目管理—判题提交—训练统计”这条主线。</a:t>
            </a:r>
          </a:p>
        </p:txBody>
      </p:sp>
    </p:spTree>
    <p:extLst>
      <p:ext uri="{BB962C8B-B14F-4D97-AF65-F5344CB8AC3E}">
        <p14:creationId xmlns:p14="http://schemas.microsoft.com/office/powerpoint/2010/main" val="104832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矩形 26">
            <a:extLst>
              <a:ext uri="{FF2B5EF4-FFF2-40B4-BE49-F238E27FC236}">
                <a16:creationId xmlns:a16="http://schemas.microsoft.com/office/drawing/2014/main" id="{64FDDC09-F694-44F9-B159-61DA271975E0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40005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788" b="0">
                <a:solidFill>
                  <a:srgbClr val="8EA4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8EA4B8"/>
                </a:solidFill>
                <a:latin typeface="Microsoft YaHei"/>
                <a:ea typeface="Microsoft YaHei"/>
                <a:cs typeface="Microsoft YaHei"/>
              </a:rPr>
              <a:t>OJPT 在线算法题库系统毕业答辩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6E3D996-0C86-4391-83B8-4E4F33321F7C}"/>
              </a:ext>
            </a:extLst>
          </p:cNvPr>
          <p:cNvSpPr>
            <a:spLocks noGrp="1"/>
          </p:cNvSpPr>
          <p:nvPr/>
        </p:nvSpPr>
        <p:spPr>
          <a:xfrm>
            <a:off x="10839450" y="6429375"/>
            <a:ext cx="762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15000"/>
              </a:lnSpc>
              <a:buNone/>
              <a:defRPr sz="788" b="0">
                <a:solidFill>
                  <a:srgbClr val="8EA4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8EA4B8"/>
                </a:solidFill>
                <a:latin typeface="Microsoft YaHei"/>
                <a:ea typeface="Microsoft YaHei"/>
                <a:cs typeface="Microsoft YaHei"/>
              </a:rPr>
              <a:t>10 / 15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A63D467-5BDB-46BE-87C9-A6815F9A5A7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7620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240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普通用户功能：完成从筛题到训练统计的闭环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D7740D4-19EC-416E-97F2-CF2F87FE42E5}"/>
              </a:ext>
            </a:extLst>
          </p:cNvPr>
          <p:cNvSpPr>
            <a:spLocks noGrp="1"/>
          </p:cNvSpPr>
          <p:nvPr/>
        </p:nvSpPr>
        <p:spPr>
          <a:xfrm>
            <a:off x="628650" y="904875"/>
            <a:ext cx="7429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1125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rPr>
              <a:t>页面展示以真实项目截图为依据，覆盖用户训练全过程。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FF5E9907-9BFB-47EB-87E3-0A3577B33421}"/>
              </a:ext>
            </a:extLst>
          </p:cNvPr>
          <p:cNvSpPr>
            <a:spLocks noGrp="1"/>
          </p:cNvSpPr>
          <p:nvPr/>
        </p:nvSpPr>
        <p:spPr>
          <a:xfrm>
            <a:off x="609600" y="1257300"/>
            <a:ext cx="876300" cy="38100"/>
          </a:xfrm>
          <a:prstGeom prst="roundRect">
            <a:avLst>
              <a:gd name="adj" fmla="val 50000"/>
            </a:avLst>
          </a:prstGeom>
          <a:solidFill>
            <a:srgbClr val="00A6B2"/>
          </a:solidFill>
          <a:ln w="0">
            <a:noFill/>
          </a:ln>
        </p:spPr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993C10EB-5CD3-413F-A87E-A65494082B4C}"/>
              </a:ext>
            </a:extLst>
          </p:cNvPr>
          <p:cNvSpPr>
            <a:spLocks noGrp="1"/>
          </p:cNvSpPr>
          <p:nvPr/>
        </p:nvSpPr>
        <p:spPr>
          <a:xfrm>
            <a:off x="742950" y="1562100"/>
            <a:ext cx="3333750" cy="17145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</p:spPr>
      </p:sp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rcRect t="18320" b="18320"/>
          <a:stretch>
            <a:fillRect/>
          </a:stretch>
        </p:blipFill>
        <p:spPr>
          <a:xfrm>
            <a:off x="742950" y="1562100"/>
            <a:ext cx="3333750" cy="1466850"/>
          </a:xfrm>
          <a:prstGeom prst="roundRect">
            <a:avLst>
              <a:gd name="adj" fmla="val 3896"/>
            </a:avLst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74E1505D-6A42-4A1C-92F1-0493C0AB8CC3}"/>
              </a:ext>
            </a:extLst>
          </p:cNvPr>
          <p:cNvSpPr>
            <a:spLocks noGrp="1"/>
          </p:cNvSpPr>
          <p:nvPr/>
        </p:nvSpPr>
        <p:spPr>
          <a:xfrm>
            <a:off x="857250" y="3028950"/>
            <a:ext cx="31051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5000"/>
              </a:lnSpc>
              <a:buNone/>
              <a:defRPr sz="788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rPr>
              <a:t>题库筛选与搜索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A12350D5-C860-4471-87DA-A8CE3F4206AD}"/>
              </a:ext>
            </a:extLst>
          </p:cNvPr>
          <p:cNvSpPr>
            <a:spLocks noGrp="1"/>
          </p:cNvSpPr>
          <p:nvPr/>
        </p:nvSpPr>
        <p:spPr>
          <a:xfrm>
            <a:off x="4429125" y="1562100"/>
            <a:ext cx="3333750" cy="17145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</p:spPr>
      </p:sp>
      <p:pic>
        <p:nvPicPr>
          <p:cNvPr id="10" name="图片 9"/>
          <p:cNvPicPr>
            <a:picLocks noChangeAspect="1"/>
          </p:cNvPicPr>
          <p:nvPr/>
        </p:nvPicPr>
        <p:blipFill>
          <a:blip r:embed="rId4"/>
          <a:srcRect t="14994" b="14994"/>
          <a:stretch>
            <a:fillRect/>
          </a:stretch>
        </p:blipFill>
        <p:spPr>
          <a:xfrm>
            <a:off x="4429125" y="1562100"/>
            <a:ext cx="3333750" cy="1466850"/>
          </a:xfrm>
          <a:prstGeom prst="roundRect">
            <a:avLst>
              <a:gd name="adj" fmla="val 3896"/>
            </a:avLst>
          </a:prstGeom>
        </p:spPr>
      </p:pic>
      <p:sp>
        <p:nvSpPr>
          <p:cNvPr id="11" name="矩形 10">
            <a:extLst>
              <a:ext uri="{FF2B5EF4-FFF2-40B4-BE49-F238E27FC236}">
                <a16:creationId xmlns:a16="http://schemas.microsoft.com/office/drawing/2014/main" id="{62CFFFC5-7CBE-4D8D-9A4A-6D0196101EB0}"/>
              </a:ext>
            </a:extLst>
          </p:cNvPr>
          <p:cNvSpPr>
            <a:spLocks noGrp="1"/>
          </p:cNvSpPr>
          <p:nvPr/>
        </p:nvSpPr>
        <p:spPr>
          <a:xfrm>
            <a:off x="4543425" y="3028950"/>
            <a:ext cx="31051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5000"/>
              </a:lnSpc>
              <a:buNone/>
              <a:defRPr sz="788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rPr>
              <a:t>做题页代码编辑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5A36F779-0F9A-422B-AB50-890336234E78}"/>
              </a:ext>
            </a:extLst>
          </p:cNvPr>
          <p:cNvSpPr>
            <a:spLocks noGrp="1"/>
          </p:cNvSpPr>
          <p:nvPr/>
        </p:nvSpPr>
        <p:spPr>
          <a:xfrm>
            <a:off x="8115300" y="1562100"/>
            <a:ext cx="3333750" cy="17145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</p:spPr>
      </p:sp>
      <p:pic>
        <p:nvPicPr>
          <p:cNvPr id="13" name="图片 12"/>
          <p:cNvPicPr>
            <a:picLocks noChangeAspect="1"/>
          </p:cNvPicPr>
          <p:nvPr/>
        </p:nvPicPr>
        <p:blipFill>
          <a:blip r:embed="rId5"/>
          <a:srcRect t="18320" b="18320"/>
          <a:stretch>
            <a:fillRect/>
          </a:stretch>
        </p:blipFill>
        <p:spPr>
          <a:xfrm>
            <a:off x="8115300" y="1562100"/>
            <a:ext cx="3333750" cy="1466850"/>
          </a:xfrm>
          <a:prstGeom prst="roundRect">
            <a:avLst>
              <a:gd name="adj" fmla="val 3896"/>
            </a:avLst>
          </a:prstGeom>
        </p:spPr>
      </p:pic>
      <p:sp>
        <p:nvSpPr>
          <p:cNvPr id="14" name="矩形 13">
            <a:extLst>
              <a:ext uri="{FF2B5EF4-FFF2-40B4-BE49-F238E27FC236}">
                <a16:creationId xmlns:a16="http://schemas.microsoft.com/office/drawing/2014/main" id="{C9AE7218-06AF-4C31-A734-2097246FF6B8}"/>
              </a:ext>
            </a:extLst>
          </p:cNvPr>
          <p:cNvSpPr>
            <a:spLocks noGrp="1"/>
          </p:cNvSpPr>
          <p:nvPr/>
        </p:nvSpPr>
        <p:spPr>
          <a:xfrm>
            <a:off x="8229600" y="3028950"/>
            <a:ext cx="31051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5000"/>
              </a:lnSpc>
              <a:buNone/>
              <a:defRPr sz="788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rPr>
              <a:t>训练看板统计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88487070-A580-4F08-AB4C-3F7D21CB5D04}"/>
              </a:ext>
            </a:extLst>
          </p:cNvPr>
          <p:cNvSpPr>
            <a:spLocks noGrp="1"/>
          </p:cNvSpPr>
          <p:nvPr/>
        </p:nvSpPr>
        <p:spPr>
          <a:xfrm>
            <a:off x="1009650" y="3905250"/>
            <a:ext cx="285750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</p:spPr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2AD59738-B0A3-4E86-A944-D3F7379A413A}"/>
              </a:ext>
            </a:extLst>
          </p:cNvPr>
          <p:cNvSpPr>
            <a:spLocks noGrp="1"/>
          </p:cNvSpPr>
          <p:nvPr/>
        </p:nvSpPr>
        <p:spPr>
          <a:xfrm>
            <a:off x="1009650" y="3905250"/>
            <a:ext cx="57150" cy="952500"/>
          </a:xfrm>
          <a:prstGeom prst="roundRect">
            <a:avLst>
              <a:gd name="adj" fmla="val 50000"/>
            </a:avLst>
          </a:prstGeom>
          <a:solidFill>
            <a:srgbClr val="00A6B2"/>
          </a:solidFill>
          <a:ln w="0">
            <a:noFill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00527EE-8BC9-4F21-A0D2-6C4B06D53BD1}"/>
              </a:ext>
            </a:extLst>
          </p:cNvPr>
          <p:cNvSpPr>
            <a:spLocks noGrp="1"/>
          </p:cNvSpPr>
          <p:nvPr/>
        </p:nvSpPr>
        <p:spPr>
          <a:xfrm>
            <a:off x="1200150" y="4076700"/>
            <a:ext cx="24765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135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题库浏览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FE81DC2E-9D08-41D6-902A-0682965AF59A}"/>
              </a:ext>
            </a:extLst>
          </p:cNvPr>
          <p:cNvSpPr>
            <a:spLocks noGrp="1"/>
          </p:cNvSpPr>
          <p:nvPr/>
        </p:nvSpPr>
        <p:spPr>
          <a:xfrm>
            <a:off x="1200150" y="4419600"/>
            <a:ext cx="24765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85447" lnSpcReduction="10000"/>
          </a:bodyPr>
          <a:lstStyle/>
          <a:p>
            <a:pPr algn="l">
              <a:lnSpc>
                <a:spcPct val="118000"/>
              </a:lnSpc>
              <a:buNone/>
              <a:defRPr sz="1088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按题号、关键词、难度、标签和做题状态筛选题目。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E91879A5-77D4-4F77-8F2B-C3489BC6F804}"/>
              </a:ext>
            </a:extLst>
          </p:cNvPr>
          <p:cNvSpPr>
            <a:spLocks noGrp="1"/>
          </p:cNvSpPr>
          <p:nvPr/>
        </p:nvSpPr>
        <p:spPr>
          <a:xfrm>
            <a:off x="4667250" y="3905250"/>
            <a:ext cx="285750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</p:spPr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D016FDD7-588C-4BF3-B4DF-6486D97A7F32}"/>
              </a:ext>
            </a:extLst>
          </p:cNvPr>
          <p:cNvSpPr>
            <a:spLocks noGrp="1"/>
          </p:cNvSpPr>
          <p:nvPr/>
        </p:nvSpPr>
        <p:spPr>
          <a:xfrm>
            <a:off x="4667250" y="3905250"/>
            <a:ext cx="57150" cy="952500"/>
          </a:xfrm>
          <a:prstGeom prst="roundRect">
            <a:avLst>
              <a:gd name="adj" fmla="val 50000"/>
            </a:avLst>
          </a:prstGeom>
          <a:solidFill>
            <a:srgbClr val="1769AA"/>
          </a:solidFill>
          <a:ln w="0">
            <a:noFill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01D70CE2-34F0-4CBA-B611-79503F80E8CD}"/>
              </a:ext>
            </a:extLst>
          </p:cNvPr>
          <p:cNvSpPr>
            <a:spLocks noGrp="1"/>
          </p:cNvSpPr>
          <p:nvPr/>
        </p:nvSpPr>
        <p:spPr>
          <a:xfrm>
            <a:off x="4857750" y="4076700"/>
            <a:ext cx="24765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135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在线做题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BE0B8BB6-314E-450E-8C3E-25EE00E03A68}"/>
              </a:ext>
            </a:extLst>
          </p:cNvPr>
          <p:cNvSpPr>
            <a:spLocks noGrp="1"/>
          </p:cNvSpPr>
          <p:nvPr/>
        </p:nvSpPr>
        <p:spPr>
          <a:xfrm>
            <a:off x="4857750" y="4419600"/>
            <a:ext cx="24765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85391" lnSpcReduction="10000"/>
          </a:bodyPr>
          <a:lstStyle/>
          <a:p>
            <a:pPr algn="l">
              <a:lnSpc>
                <a:spcPct val="118000"/>
              </a:lnSpc>
              <a:buNone/>
              <a:defRPr sz="1088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查看题面、样例和限制条件，编辑多语言代码并运行调试。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30BAB0BE-061D-4B9F-8B56-0C193F3A535C}"/>
              </a:ext>
            </a:extLst>
          </p:cNvPr>
          <p:cNvSpPr>
            <a:spLocks noGrp="1"/>
          </p:cNvSpPr>
          <p:nvPr/>
        </p:nvSpPr>
        <p:spPr>
          <a:xfrm>
            <a:off x="8324850" y="3905250"/>
            <a:ext cx="285750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</p:spPr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711B208D-2320-4221-BC02-FD4F1E67D371}"/>
              </a:ext>
            </a:extLst>
          </p:cNvPr>
          <p:cNvSpPr>
            <a:spLocks noGrp="1"/>
          </p:cNvSpPr>
          <p:nvPr/>
        </p:nvSpPr>
        <p:spPr>
          <a:xfrm>
            <a:off x="8324850" y="3905250"/>
            <a:ext cx="57150" cy="95250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 w="0">
            <a:noFill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85F0D196-71AE-4C81-86FE-C08184F5BE42}"/>
              </a:ext>
            </a:extLst>
          </p:cNvPr>
          <p:cNvSpPr>
            <a:spLocks noGrp="1"/>
          </p:cNvSpPr>
          <p:nvPr/>
        </p:nvSpPr>
        <p:spPr>
          <a:xfrm>
            <a:off x="8515350" y="4076700"/>
            <a:ext cx="24765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135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训练反馈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4E2DFDC5-FABD-4ABE-9637-57037E07676C}"/>
              </a:ext>
            </a:extLst>
          </p:cNvPr>
          <p:cNvSpPr>
            <a:spLocks noGrp="1"/>
          </p:cNvSpPr>
          <p:nvPr/>
        </p:nvSpPr>
        <p:spPr>
          <a:xfrm>
            <a:off x="8515350" y="4419600"/>
            <a:ext cx="24765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85447" lnSpcReduction="10000"/>
          </a:bodyPr>
          <a:lstStyle/>
          <a:p>
            <a:pPr algn="l">
              <a:lnSpc>
                <a:spcPct val="118000"/>
              </a:lnSpc>
              <a:buNone/>
              <a:defRPr sz="1088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查看通过率、提交记录、题目进度和近期训练情况。</a:t>
            </a:r>
          </a:p>
        </p:txBody>
      </p:sp>
    </p:spTree>
    <p:extLst>
      <p:ext uri="{BB962C8B-B14F-4D97-AF65-F5344CB8AC3E}">
        <p14:creationId xmlns:p14="http://schemas.microsoft.com/office/powerpoint/2010/main" val="1170925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>
            <a:extLst>
              <a:ext uri="{FF2B5EF4-FFF2-40B4-BE49-F238E27FC236}">
                <a16:creationId xmlns:a16="http://schemas.microsoft.com/office/drawing/2014/main" id="{A9668401-2932-4181-8704-824E7C08E8A5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40005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788" b="0">
                <a:solidFill>
                  <a:srgbClr val="8EA4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8EA4B8"/>
                </a:solidFill>
                <a:latin typeface="Microsoft YaHei"/>
                <a:ea typeface="Microsoft YaHei"/>
                <a:cs typeface="Microsoft YaHei"/>
              </a:rPr>
              <a:t>OJPT 在线算法题库系统毕业答辩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5908CD9-4CB5-49E9-A50C-3D0169FFF51C}"/>
              </a:ext>
            </a:extLst>
          </p:cNvPr>
          <p:cNvSpPr>
            <a:spLocks noGrp="1"/>
          </p:cNvSpPr>
          <p:nvPr/>
        </p:nvSpPr>
        <p:spPr>
          <a:xfrm>
            <a:off x="10839450" y="6429375"/>
            <a:ext cx="762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15000"/>
              </a:lnSpc>
              <a:buNone/>
              <a:defRPr sz="788" b="0">
                <a:solidFill>
                  <a:srgbClr val="8EA4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8EA4B8"/>
                </a:solidFill>
                <a:latin typeface="Microsoft YaHei"/>
                <a:ea typeface="Microsoft YaHei"/>
                <a:cs typeface="Microsoft YaHei"/>
              </a:rPr>
              <a:t>11 / 15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D3CDFE-F264-46C5-9D00-AD6B6B207EA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7620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240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管理员功能：保障题库、用例和判题环境可维护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E5ABF21-C8C8-4A00-9DE7-014791F6F837}"/>
              </a:ext>
            </a:extLst>
          </p:cNvPr>
          <p:cNvSpPr>
            <a:spLocks noGrp="1"/>
          </p:cNvSpPr>
          <p:nvPr/>
        </p:nvSpPr>
        <p:spPr>
          <a:xfrm>
            <a:off x="628650" y="904875"/>
            <a:ext cx="7429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1125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rPr>
              <a:t>后台围绕用户、题目、测试用例、标签和判题环境展开。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A323EBE-D3A0-4226-B238-D54F86076365}"/>
              </a:ext>
            </a:extLst>
          </p:cNvPr>
          <p:cNvSpPr>
            <a:spLocks noGrp="1"/>
          </p:cNvSpPr>
          <p:nvPr/>
        </p:nvSpPr>
        <p:spPr>
          <a:xfrm>
            <a:off x="609600" y="1257300"/>
            <a:ext cx="876300" cy="38100"/>
          </a:xfrm>
          <a:prstGeom prst="roundRect">
            <a:avLst>
              <a:gd name="adj" fmla="val 50000"/>
            </a:avLst>
          </a:prstGeom>
          <a:solidFill>
            <a:srgbClr val="00A6B2"/>
          </a:solidFill>
          <a:ln w="0">
            <a:noFill/>
          </a:ln>
        </p:spPr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11EB6639-C0BC-45E4-AAF3-C190367A57B4}"/>
              </a:ext>
            </a:extLst>
          </p:cNvPr>
          <p:cNvSpPr>
            <a:spLocks noGrp="1"/>
          </p:cNvSpPr>
          <p:nvPr/>
        </p:nvSpPr>
        <p:spPr>
          <a:xfrm>
            <a:off x="685800" y="1466850"/>
            <a:ext cx="3238500" cy="161925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</p:spPr>
      </p:sp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rcRect t="19506" b="19506"/>
          <a:stretch>
            <a:fillRect/>
          </a:stretch>
        </p:blipFill>
        <p:spPr>
          <a:xfrm>
            <a:off x="685800" y="1466850"/>
            <a:ext cx="3238500" cy="1371600"/>
          </a:xfrm>
          <a:prstGeom prst="roundRect">
            <a:avLst>
              <a:gd name="adj" fmla="val 4167"/>
            </a:avLst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E5E331DD-1F8E-4CA6-A2A6-0F941FA333D2}"/>
              </a:ext>
            </a:extLst>
          </p:cNvPr>
          <p:cNvSpPr>
            <a:spLocks noGrp="1"/>
          </p:cNvSpPr>
          <p:nvPr/>
        </p:nvSpPr>
        <p:spPr>
          <a:xfrm>
            <a:off x="800100" y="2838450"/>
            <a:ext cx="30099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5000"/>
              </a:lnSpc>
              <a:buNone/>
              <a:defRPr sz="788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rPr>
              <a:t>题目列表维护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9B367A32-231C-4D24-9FDD-6881F6DB0C89}"/>
              </a:ext>
            </a:extLst>
          </p:cNvPr>
          <p:cNvSpPr>
            <a:spLocks noGrp="1"/>
          </p:cNvSpPr>
          <p:nvPr/>
        </p:nvSpPr>
        <p:spPr>
          <a:xfrm>
            <a:off x="4495800" y="1466850"/>
            <a:ext cx="3238500" cy="161925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</p:spPr>
      </p:sp>
      <p:pic>
        <p:nvPicPr>
          <p:cNvPr id="10" name="图片 9"/>
          <p:cNvPicPr>
            <a:picLocks noChangeAspect="1"/>
          </p:cNvPicPr>
          <p:nvPr/>
        </p:nvPicPr>
        <p:blipFill>
          <a:blip r:embed="rId4"/>
          <a:srcRect t="19506" b="19506"/>
          <a:stretch>
            <a:fillRect/>
          </a:stretch>
        </p:blipFill>
        <p:spPr>
          <a:xfrm>
            <a:off x="4495800" y="1466850"/>
            <a:ext cx="3238500" cy="1371600"/>
          </a:xfrm>
          <a:prstGeom prst="roundRect">
            <a:avLst>
              <a:gd name="adj" fmla="val 4167"/>
            </a:avLst>
          </a:prstGeom>
        </p:spPr>
      </p:pic>
      <p:sp>
        <p:nvSpPr>
          <p:cNvPr id="11" name="矩形 10">
            <a:extLst>
              <a:ext uri="{FF2B5EF4-FFF2-40B4-BE49-F238E27FC236}">
                <a16:creationId xmlns:a16="http://schemas.microsoft.com/office/drawing/2014/main" id="{32808891-3616-4B60-9FC3-8AC5F1F1F89C}"/>
              </a:ext>
            </a:extLst>
          </p:cNvPr>
          <p:cNvSpPr>
            <a:spLocks noGrp="1"/>
          </p:cNvSpPr>
          <p:nvPr/>
        </p:nvSpPr>
        <p:spPr>
          <a:xfrm>
            <a:off x="4610100" y="2838450"/>
            <a:ext cx="30099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5000"/>
              </a:lnSpc>
              <a:buNone/>
              <a:defRPr sz="788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rPr>
              <a:t>题目编辑页面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18B41A25-84A1-41D5-8734-4C958BEEED3C}"/>
              </a:ext>
            </a:extLst>
          </p:cNvPr>
          <p:cNvSpPr>
            <a:spLocks noGrp="1"/>
          </p:cNvSpPr>
          <p:nvPr/>
        </p:nvSpPr>
        <p:spPr>
          <a:xfrm>
            <a:off x="8305800" y="1466850"/>
            <a:ext cx="3238500" cy="161925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</p:spPr>
      </p:sp>
      <p:pic>
        <p:nvPicPr>
          <p:cNvPr id="13" name="图片 12"/>
          <p:cNvPicPr>
            <a:picLocks noChangeAspect="1"/>
          </p:cNvPicPr>
          <p:nvPr/>
        </p:nvPicPr>
        <p:blipFill>
          <a:blip r:embed="rId5"/>
          <a:srcRect t="19506" b="19506"/>
          <a:stretch>
            <a:fillRect/>
          </a:stretch>
        </p:blipFill>
        <p:spPr>
          <a:xfrm>
            <a:off x="8305800" y="1466850"/>
            <a:ext cx="3238500" cy="1371600"/>
          </a:xfrm>
          <a:prstGeom prst="roundRect">
            <a:avLst>
              <a:gd name="adj" fmla="val 4167"/>
            </a:avLst>
          </a:prstGeom>
        </p:spPr>
      </p:pic>
      <p:sp>
        <p:nvSpPr>
          <p:cNvPr id="14" name="矩形 13">
            <a:extLst>
              <a:ext uri="{FF2B5EF4-FFF2-40B4-BE49-F238E27FC236}">
                <a16:creationId xmlns:a16="http://schemas.microsoft.com/office/drawing/2014/main" id="{236D7A17-71C0-4E05-AF84-B871DB5B662D}"/>
              </a:ext>
            </a:extLst>
          </p:cNvPr>
          <p:cNvSpPr>
            <a:spLocks noGrp="1"/>
          </p:cNvSpPr>
          <p:nvPr/>
        </p:nvSpPr>
        <p:spPr>
          <a:xfrm>
            <a:off x="8420100" y="2838450"/>
            <a:ext cx="30099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5000"/>
              </a:lnSpc>
              <a:buNone/>
              <a:defRPr sz="788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rPr>
              <a:t>判题环境检查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061AF3D2-4C04-41BC-955C-28E5F4E4D5AA}"/>
              </a:ext>
            </a:extLst>
          </p:cNvPr>
          <p:cNvSpPr>
            <a:spLocks noGrp="1"/>
          </p:cNvSpPr>
          <p:nvPr/>
        </p:nvSpPr>
        <p:spPr>
          <a:xfrm>
            <a:off x="819150" y="3714750"/>
            <a:ext cx="2381250" cy="1123950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</p:spPr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F2BF33C5-9501-4467-BB96-A1E6C4A9E979}"/>
              </a:ext>
            </a:extLst>
          </p:cNvPr>
          <p:cNvSpPr>
            <a:spLocks noGrp="1"/>
          </p:cNvSpPr>
          <p:nvPr/>
        </p:nvSpPr>
        <p:spPr>
          <a:xfrm>
            <a:off x="819150" y="3714750"/>
            <a:ext cx="57150" cy="1123950"/>
          </a:xfrm>
          <a:prstGeom prst="roundRect">
            <a:avLst>
              <a:gd name="adj" fmla="val 50000"/>
            </a:avLst>
          </a:prstGeom>
          <a:solidFill>
            <a:srgbClr val="00A6B2"/>
          </a:solidFill>
          <a:ln w="0">
            <a:noFill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73DD508-21D7-498A-94C5-354A8C610C90}"/>
              </a:ext>
            </a:extLst>
          </p:cNvPr>
          <p:cNvSpPr>
            <a:spLocks noGrp="1"/>
          </p:cNvSpPr>
          <p:nvPr/>
        </p:nvSpPr>
        <p:spPr>
          <a:xfrm>
            <a:off x="1009650" y="3886200"/>
            <a:ext cx="2000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135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题目维护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8C59FBB-B832-4ED3-AF0E-82B46AEEF49A}"/>
              </a:ext>
            </a:extLst>
          </p:cNvPr>
          <p:cNvSpPr>
            <a:spLocks noGrp="1"/>
          </p:cNvSpPr>
          <p:nvPr/>
        </p:nvSpPr>
        <p:spPr>
          <a:xfrm>
            <a:off x="1009650" y="4229100"/>
            <a:ext cx="2000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8000"/>
              </a:lnSpc>
              <a:buNone/>
              <a:defRPr sz="1088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创建草稿、编辑题面、发布或归档题目。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E165456A-729A-4142-8553-F78C3B02C10E}"/>
              </a:ext>
            </a:extLst>
          </p:cNvPr>
          <p:cNvSpPr>
            <a:spLocks noGrp="1"/>
          </p:cNvSpPr>
          <p:nvPr/>
        </p:nvSpPr>
        <p:spPr>
          <a:xfrm>
            <a:off x="3581400" y="3714750"/>
            <a:ext cx="2381250" cy="1123950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</p:spPr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F3CB3F71-D653-4900-8E5F-3B72000516E1}"/>
              </a:ext>
            </a:extLst>
          </p:cNvPr>
          <p:cNvSpPr>
            <a:spLocks noGrp="1"/>
          </p:cNvSpPr>
          <p:nvPr/>
        </p:nvSpPr>
        <p:spPr>
          <a:xfrm>
            <a:off x="3581400" y="3714750"/>
            <a:ext cx="57150" cy="1123950"/>
          </a:xfrm>
          <a:prstGeom prst="roundRect">
            <a:avLst>
              <a:gd name="adj" fmla="val 50000"/>
            </a:avLst>
          </a:prstGeom>
          <a:solidFill>
            <a:srgbClr val="1769AA"/>
          </a:solidFill>
          <a:ln w="0">
            <a:noFill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9510A539-9F3E-40BB-BBFA-2313853EEA85}"/>
              </a:ext>
            </a:extLst>
          </p:cNvPr>
          <p:cNvSpPr>
            <a:spLocks noGrp="1"/>
          </p:cNvSpPr>
          <p:nvPr/>
        </p:nvSpPr>
        <p:spPr>
          <a:xfrm>
            <a:off x="3771900" y="3886200"/>
            <a:ext cx="2000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135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用例维护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2BD309E5-3046-46DE-B990-BB6156A5B16F}"/>
              </a:ext>
            </a:extLst>
          </p:cNvPr>
          <p:cNvSpPr>
            <a:spLocks noGrp="1"/>
          </p:cNvSpPr>
          <p:nvPr/>
        </p:nvSpPr>
        <p:spPr>
          <a:xfrm>
            <a:off x="3771900" y="4229100"/>
            <a:ext cx="2000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8000"/>
              </a:lnSpc>
              <a:buNone/>
              <a:defRPr sz="1088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维护公开样例和隐藏用例，支撑正式判题。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C7DB484C-2693-490A-B8C0-F125636E3AA2}"/>
              </a:ext>
            </a:extLst>
          </p:cNvPr>
          <p:cNvSpPr>
            <a:spLocks noGrp="1"/>
          </p:cNvSpPr>
          <p:nvPr/>
        </p:nvSpPr>
        <p:spPr>
          <a:xfrm>
            <a:off x="6343650" y="3714750"/>
            <a:ext cx="2381250" cy="1123950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</p:spPr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BAEB9891-7B42-4F57-8855-777524DE6F96}"/>
              </a:ext>
            </a:extLst>
          </p:cNvPr>
          <p:cNvSpPr>
            <a:spLocks noGrp="1"/>
          </p:cNvSpPr>
          <p:nvPr/>
        </p:nvSpPr>
        <p:spPr>
          <a:xfrm>
            <a:off x="6343650" y="3714750"/>
            <a:ext cx="57150" cy="112395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 w="0">
            <a:noFill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70B4A6B6-E21C-419F-87B0-A6B1F7C9E725}"/>
              </a:ext>
            </a:extLst>
          </p:cNvPr>
          <p:cNvSpPr>
            <a:spLocks noGrp="1"/>
          </p:cNvSpPr>
          <p:nvPr/>
        </p:nvSpPr>
        <p:spPr>
          <a:xfrm>
            <a:off x="6534150" y="3886200"/>
            <a:ext cx="2000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135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标签维护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64C4FBCA-2FC0-420E-9C4B-CC37CA975B34}"/>
              </a:ext>
            </a:extLst>
          </p:cNvPr>
          <p:cNvSpPr>
            <a:spLocks noGrp="1"/>
          </p:cNvSpPr>
          <p:nvPr/>
        </p:nvSpPr>
        <p:spPr>
          <a:xfrm>
            <a:off x="6534150" y="4229100"/>
            <a:ext cx="2000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8000"/>
              </a:lnSpc>
              <a:buNone/>
              <a:defRPr sz="1088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标签新增、编辑、删除和题目绑定。</a:t>
            </a: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7571AF7C-45FF-4466-B626-A8ECF0ADFCEF}"/>
              </a:ext>
            </a:extLst>
          </p:cNvPr>
          <p:cNvSpPr>
            <a:spLocks noGrp="1"/>
          </p:cNvSpPr>
          <p:nvPr/>
        </p:nvSpPr>
        <p:spPr>
          <a:xfrm>
            <a:off x="9105900" y="3714750"/>
            <a:ext cx="2381250" cy="1123950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</p:spPr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D37F34A4-0FAC-4ADE-8739-5DE8A5E6CFD4}"/>
              </a:ext>
            </a:extLst>
          </p:cNvPr>
          <p:cNvSpPr>
            <a:spLocks noGrp="1"/>
          </p:cNvSpPr>
          <p:nvPr/>
        </p:nvSpPr>
        <p:spPr>
          <a:xfrm>
            <a:off x="9105900" y="3714750"/>
            <a:ext cx="57150" cy="112395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0">
            <a:noFill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DE1DEF88-FB93-4F13-A24E-0D264F7EB712}"/>
              </a:ext>
            </a:extLst>
          </p:cNvPr>
          <p:cNvSpPr>
            <a:spLocks noGrp="1"/>
          </p:cNvSpPr>
          <p:nvPr/>
        </p:nvSpPr>
        <p:spPr>
          <a:xfrm>
            <a:off x="9296400" y="3886200"/>
            <a:ext cx="2000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135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环境检查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DD15F85-E5FE-43E6-8D7F-50B9DCCB7E43}"/>
              </a:ext>
            </a:extLst>
          </p:cNvPr>
          <p:cNvSpPr>
            <a:spLocks noGrp="1"/>
          </p:cNvSpPr>
          <p:nvPr/>
        </p:nvSpPr>
        <p:spPr>
          <a:xfrm>
            <a:off x="9296400" y="4229100"/>
            <a:ext cx="2000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6137"/>
          </a:bodyPr>
          <a:lstStyle/>
          <a:p>
            <a:pPr algn="l">
              <a:lnSpc>
                <a:spcPct val="118000"/>
              </a:lnSpc>
              <a:buNone/>
              <a:defRPr sz="1088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检查 Docker、镜像和语言运行环境，便于定位基础依赖问题。</a:t>
            </a:r>
          </a:p>
        </p:txBody>
      </p:sp>
    </p:spTree>
    <p:extLst>
      <p:ext uri="{BB962C8B-B14F-4D97-AF65-F5344CB8AC3E}">
        <p14:creationId xmlns:p14="http://schemas.microsoft.com/office/powerpoint/2010/main" val="7439944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矩形 28">
            <a:extLst>
              <a:ext uri="{FF2B5EF4-FFF2-40B4-BE49-F238E27FC236}">
                <a16:creationId xmlns:a16="http://schemas.microsoft.com/office/drawing/2014/main" id="{F82A92E7-3103-4137-B571-D49C37AE2DE9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40005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788" b="0">
                <a:solidFill>
                  <a:srgbClr val="8EA4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8EA4B8"/>
                </a:solidFill>
                <a:latin typeface="Microsoft YaHei"/>
                <a:ea typeface="Microsoft YaHei"/>
                <a:cs typeface="Microsoft YaHei"/>
              </a:rPr>
              <a:t>OJPT 在线算法题库系统毕业答辩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B89CB7A-BA1E-47EA-9F40-A8966BC5A606}"/>
              </a:ext>
            </a:extLst>
          </p:cNvPr>
          <p:cNvSpPr>
            <a:spLocks noGrp="1"/>
          </p:cNvSpPr>
          <p:nvPr/>
        </p:nvSpPr>
        <p:spPr>
          <a:xfrm>
            <a:off x="10839450" y="6429375"/>
            <a:ext cx="762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15000"/>
              </a:lnSpc>
              <a:buNone/>
              <a:defRPr sz="788" b="0">
                <a:solidFill>
                  <a:srgbClr val="8EA4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8EA4B8"/>
                </a:solidFill>
                <a:latin typeface="Microsoft YaHei"/>
                <a:ea typeface="Microsoft YaHei"/>
                <a:cs typeface="Microsoft YaHei"/>
              </a:rPr>
              <a:t>12 / 15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B8CE579-99C2-4BE7-B026-D3D4F30A99C8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7620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240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测试验证：用功能、接口、判题和权限测试支撑结论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2E90993-7A60-4C05-AE08-A76C885BED53}"/>
              </a:ext>
            </a:extLst>
          </p:cNvPr>
          <p:cNvSpPr>
            <a:spLocks noGrp="1"/>
          </p:cNvSpPr>
          <p:nvPr/>
        </p:nvSpPr>
        <p:spPr>
          <a:xfrm>
            <a:off x="628650" y="904875"/>
            <a:ext cx="7429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1125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rPr>
              <a:t>系统测试重点验证核心链路是否真实可用。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1FB30A29-9825-4A21-AABA-35154A205EFF}"/>
              </a:ext>
            </a:extLst>
          </p:cNvPr>
          <p:cNvSpPr>
            <a:spLocks noGrp="1"/>
          </p:cNvSpPr>
          <p:nvPr/>
        </p:nvSpPr>
        <p:spPr>
          <a:xfrm>
            <a:off x="609600" y="1257300"/>
            <a:ext cx="876300" cy="38100"/>
          </a:xfrm>
          <a:prstGeom prst="roundRect">
            <a:avLst>
              <a:gd name="adj" fmla="val 50000"/>
            </a:avLst>
          </a:prstGeom>
          <a:solidFill>
            <a:srgbClr val="00A6B2"/>
          </a:solidFill>
          <a:ln w="0">
            <a:noFill/>
          </a:ln>
        </p:spPr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2A5AC46E-415E-4BC1-941B-9AB55E8A2788}"/>
              </a:ext>
            </a:extLst>
          </p:cNvPr>
          <p:cNvSpPr>
            <a:spLocks noGrp="1"/>
          </p:cNvSpPr>
          <p:nvPr/>
        </p:nvSpPr>
        <p:spPr>
          <a:xfrm>
            <a:off x="742950" y="1600200"/>
            <a:ext cx="2286000" cy="1143000"/>
          </a:xfrm>
          <a:prstGeom prst="roundRect">
            <a:avLst>
              <a:gd name="adj" fmla="val 6667"/>
            </a:avLst>
          </a:prstGeom>
          <a:solidFill>
            <a:srgbClr val="F0FBFC"/>
          </a:solidFill>
          <a:ln w="9525">
            <a:solidFill>
              <a:srgbClr val="BDEEF2"/>
            </a:solidFill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CFE83C9-00B7-4352-B21E-686440F3D6B9}"/>
              </a:ext>
            </a:extLst>
          </p:cNvPr>
          <p:cNvSpPr>
            <a:spLocks noGrp="1"/>
          </p:cNvSpPr>
          <p:nvPr/>
        </p:nvSpPr>
        <p:spPr>
          <a:xfrm>
            <a:off x="933450" y="1771650"/>
            <a:ext cx="666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9033"/>
          </a:bodyPr>
          <a:lstStyle/>
          <a:p>
            <a:pPr algn="ctr">
              <a:lnSpc>
                <a:spcPct val="115000"/>
              </a:lnSpc>
              <a:buNone/>
              <a:defRPr sz="2850" b="1">
                <a:solidFill>
                  <a:srgbClr val="00A6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00A6B2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09205F1-4746-4A73-A9D6-D874AF7B3FFD}"/>
              </a:ext>
            </a:extLst>
          </p:cNvPr>
          <p:cNvSpPr>
            <a:spLocks noGrp="1"/>
          </p:cNvSpPr>
          <p:nvPr/>
        </p:nvSpPr>
        <p:spPr>
          <a:xfrm>
            <a:off x="1657350" y="1790700"/>
            <a:ext cx="1143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120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功能测试用例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DFA507F-890E-4CF0-B38F-D04394776241}"/>
              </a:ext>
            </a:extLst>
          </p:cNvPr>
          <p:cNvSpPr>
            <a:spLocks noGrp="1"/>
          </p:cNvSpPr>
          <p:nvPr/>
        </p:nvSpPr>
        <p:spPr>
          <a:xfrm>
            <a:off x="1657350" y="2076450"/>
            <a:ext cx="1143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buNone/>
              <a:defRPr sz="96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登录、题库、做题、后台维护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A7C7F519-A164-4B07-A6FD-2D3CEBF9EC4F}"/>
              </a:ext>
            </a:extLst>
          </p:cNvPr>
          <p:cNvSpPr>
            <a:spLocks noGrp="1"/>
          </p:cNvSpPr>
          <p:nvPr/>
        </p:nvSpPr>
        <p:spPr>
          <a:xfrm>
            <a:off x="3457575" y="1600200"/>
            <a:ext cx="2286000" cy="1143000"/>
          </a:xfrm>
          <a:prstGeom prst="roundRect">
            <a:avLst>
              <a:gd name="adj" fmla="val 6667"/>
            </a:avLst>
          </a:prstGeom>
          <a:solidFill>
            <a:srgbClr val="F5F8FB"/>
          </a:solidFill>
          <a:ln w="9525">
            <a:solidFill>
              <a:srgbClr val="D9E2EC"/>
            </a:solidFill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E29B964-D17F-455B-9946-BDAE461D9A06}"/>
              </a:ext>
            </a:extLst>
          </p:cNvPr>
          <p:cNvSpPr>
            <a:spLocks noGrp="1"/>
          </p:cNvSpPr>
          <p:nvPr/>
        </p:nvSpPr>
        <p:spPr>
          <a:xfrm>
            <a:off x="3648075" y="1771650"/>
            <a:ext cx="666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9033"/>
          </a:bodyPr>
          <a:lstStyle/>
          <a:p>
            <a:pPr algn="ctr">
              <a:lnSpc>
                <a:spcPct val="115000"/>
              </a:lnSpc>
              <a:buNone/>
              <a:defRPr sz="2850" b="1">
                <a:solidFill>
                  <a:srgbClr val="1769A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769AA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F17F6CA-E0B6-465A-8C6D-E80DF93A0798}"/>
              </a:ext>
            </a:extLst>
          </p:cNvPr>
          <p:cNvSpPr>
            <a:spLocks noGrp="1"/>
          </p:cNvSpPr>
          <p:nvPr/>
        </p:nvSpPr>
        <p:spPr>
          <a:xfrm>
            <a:off x="4371975" y="1790700"/>
            <a:ext cx="1143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120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核心接口测试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0BED34A-CDE3-40F9-8E2C-A3FAEA3F2EBD}"/>
              </a:ext>
            </a:extLst>
          </p:cNvPr>
          <p:cNvSpPr>
            <a:spLocks noGrp="1"/>
          </p:cNvSpPr>
          <p:nvPr/>
        </p:nvSpPr>
        <p:spPr>
          <a:xfrm>
            <a:off x="4371975" y="2076450"/>
            <a:ext cx="1143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buNone/>
              <a:defRPr sz="96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认证、题库、提交、管理端接口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4525994A-F0E9-446D-B402-21E7542BF319}"/>
              </a:ext>
            </a:extLst>
          </p:cNvPr>
          <p:cNvSpPr>
            <a:spLocks noGrp="1"/>
          </p:cNvSpPr>
          <p:nvPr/>
        </p:nvSpPr>
        <p:spPr>
          <a:xfrm>
            <a:off x="6172200" y="1600200"/>
            <a:ext cx="2286000" cy="1143000"/>
          </a:xfrm>
          <a:prstGeom prst="roundRect">
            <a:avLst>
              <a:gd name="adj" fmla="val 6667"/>
            </a:avLst>
          </a:prstGeom>
          <a:solidFill>
            <a:srgbClr val="F0FBFC"/>
          </a:solidFill>
          <a:ln w="9525">
            <a:solidFill>
              <a:srgbClr val="BDEEF2"/>
            </a:solidFill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C3AAA65-ECE9-465A-9FC6-172851427269}"/>
              </a:ext>
            </a:extLst>
          </p:cNvPr>
          <p:cNvSpPr>
            <a:spLocks noGrp="1"/>
          </p:cNvSpPr>
          <p:nvPr/>
        </p:nvSpPr>
        <p:spPr>
          <a:xfrm>
            <a:off x="6362700" y="1771650"/>
            <a:ext cx="666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9033"/>
          </a:bodyPr>
          <a:lstStyle/>
          <a:p>
            <a:pPr algn="ctr">
              <a:lnSpc>
                <a:spcPct val="115000"/>
              </a:lnSpc>
              <a:buNone/>
              <a:defRPr sz="2850" b="1">
                <a:solidFill>
                  <a:srgbClr val="00A6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00A6B2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389965D2-53AF-4DBF-9631-C5809E115218}"/>
              </a:ext>
            </a:extLst>
          </p:cNvPr>
          <p:cNvSpPr>
            <a:spLocks noGrp="1"/>
          </p:cNvSpPr>
          <p:nvPr/>
        </p:nvSpPr>
        <p:spPr>
          <a:xfrm>
            <a:off x="7086600" y="1790700"/>
            <a:ext cx="1143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120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判题流程场景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4FC6C7C-4D61-4C4C-97DD-2FE1D805DB21}"/>
              </a:ext>
            </a:extLst>
          </p:cNvPr>
          <p:cNvSpPr>
            <a:spLocks noGrp="1"/>
          </p:cNvSpPr>
          <p:nvPr/>
        </p:nvSpPr>
        <p:spPr>
          <a:xfrm>
            <a:off x="7086600" y="2076450"/>
            <a:ext cx="1143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buNone/>
              <a:defRPr sz="96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AC / WA / CE / RE / 隐藏用例</a:t>
            </a: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1BFAB379-F7DA-424D-8CDD-6556EB9AC469}"/>
              </a:ext>
            </a:extLst>
          </p:cNvPr>
          <p:cNvSpPr>
            <a:spLocks noGrp="1"/>
          </p:cNvSpPr>
          <p:nvPr/>
        </p:nvSpPr>
        <p:spPr>
          <a:xfrm>
            <a:off x="8886825" y="1600200"/>
            <a:ext cx="2286000" cy="1143000"/>
          </a:xfrm>
          <a:prstGeom prst="roundRect">
            <a:avLst>
              <a:gd name="adj" fmla="val 6667"/>
            </a:avLst>
          </a:prstGeom>
          <a:solidFill>
            <a:srgbClr val="F5F8FB"/>
          </a:solidFill>
          <a:ln w="9525">
            <a:solidFill>
              <a:srgbClr val="D9E2EC"/>
            </a:solidFill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4A51F74-7747-48BA-B263-F9530D22356C}"/>
              </a:ext>
            </a:extLst>
          </p:cNvPr>
          <p:cNvSpPr>
            <a:spLocks noGrp="1"/>
          </p:cNvSpPr>
          <p:nvPr/>
        </p:nvSpPr>
        <p:spPr>
          <a:xfrm>
            <a:off x="9077325" y="1771650"/>
            <a:ext cx="666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9033"/>
          </a:bodyPr>
          <a:lstStyle/>
          <a:p>
            <a:pPr algn="ctr">
              <a:lnSpc>
                <a:spcPct val="115000"/>
              </a:lnSpc>
              <a:buNone/>
              <a:defRPr sz="2850" b="1">
                <a:solidFill>
                  <a:srgbClr val="1769A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769AA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73B8186-DA35-48F3-8B92-9899362C6630}"/>
              </a:ext>
            </a:extLst>
          </p:cNvPr>
          <p:cNvSpPr>
            <a:spLocks noGrp="1"/>
          </p:cNvSpPr>
          <p:nvPr/>
        </p:nvSpPr>
        <p:spPr>
          <a:xfrm>
            <a:off x="9801225" y="1790700"/>
            <a:ext cx="1143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120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权限测试场景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35233688-F4ED-4EA4-AC97-FD85DC8C7FF8}"/>
              </a:ext>
            </a:extLst>
          </p:cNvPr>
          <p:cNvSpPr>
            <a:spLocks noGrp="1"/>
          </p:cNvSpPr>
          <p:nvPr/>
        </p:nvSpPr>
        <p:spPr>
          <a:xfrm>
            <a:off x="9801225" y="2076450"/>
            <a:ext cx="1143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buNone/>
              <a:defRPr sz="96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匿名、普通用户、管理员边界</a:t>
            </a: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11CD41E0-A3DE-47EA-9575-300295F49B28}"/>
              </a:ext>
            </a:extLst>
          </p:cNvPr>
          <p:cNvSpPr>
            <a:spLocks noGrp="1"/>
          </p:cNvSpPr>
          <p:nvPr/>
        </p:nvSpPr>
        <p:spPr>
          <a:xfrm>
            <a:off x="952500" y="3371850"/>
            <a:ext cx="4762500" cy="179070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</p:spPr>
      </p:sp>
      <p:pic>
        <p:nvPicPr>
          <p:cNvPr id="23" name="图片 22"/>
          <p:cNvPicPr>
            <a:picLocks noChangeAspect="1"/>
          </p:cNvPicPr>
          <p:nvPr/>
        </p:nvPicPr>
        <p:blipFill>
          <a:blip r:embed="rId3"/>
          <a:srcRect t="25209" b="25209"/>
          <a:stretch>
            <a:fillRect/>
          </a:stretch>
        </p:blipFill>
        <p:spPr>
          <a:xfrm>
            <a:off x="952500" y="3371850"/>
            <a:ext cx="4762500" cy="1543050"/>
          </a:xfrm>
          <a:prstGeom prst="roundRect">
            <a:avLst>
              <a:gd name="adj" fmla="val 3704"/>
            </a:avLst>
          </a:prstGeom>
        </p:spPr>
      </p:pic>
      <p:sp>
        <p:nvSpPr>
          <p:cNvPr id="24" name="矩形 23">
            <a:extLst>
              <a:ext uri="{FF2B5EF4-FFF2-40B4-BE49-F238E27FC236}">
                <a16:creationId xmlns:a16="http://schemas.microsoft.com/office/drawing/2014/main" id="{68F215A1-90DC-4172-BD08-50F9BEAE19C0}"/>
              </a:ext>
            </a:extLst>
          </p:cNvPr>
          <p:cNvSpPr>
            <a:spLocks noGrp="1"/>
          </p:cNvSpPr>
          <p:nvPr/>
        </p:nvSpPr>
        <p:spPr>
          <a:xfrm>
            <a:off x="1066800" y="4914900"/>
            <a:ext cx="45339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5000"/>
              </a:lnSpc>
              <a:buNone/>
              <a:defRPr sz="788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rPr>
              <a:t>正式提交接口测试截图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62C19A3B-8DD7-43CF-A952-4C2EAD04E89D}"/>
              </a:ext>
            </a:extLst>
          </p:cNvPr>
          <p:cNvSpPr>
            <a:spLocks noGrp="1"/>
          </p:cNvSpPr>
          <p:nvPr/>
        </p:nvSpPr>
        <p:spPr>
          <a:xfrm>
            <a:off x="6477000" y="3371850"/>
            <a:ext cx="4762500" cy="179070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</p:spPr>
      </p:sp>
      <p:pic>
        <p:nvPicPr>
          <p:cNvPr id="26" name="图片 25"/>
          <p:cNvPicPr>
            <a:picLocks noChangeAspect="1"/>
          </p:cNvPicPr>
          <p:nvPr/>
        </p:nvPicPr>
        <p:blipFill>
          <a:blip r:embed="rId4"/>
          <a:srcRect t="26672" b="26672"/>
          <a:stretch>
            <a:fillRect/>
          </a:stretch>
        </p:blipFill>
        <p:spPr>
          <a:xfrm>
            <a:off x="6477000" y="3371850"/>
            <a:ext cx="4762500" cy="1543050"/>
          </a:xfrm>
          <a:prstGeom prst="roundRect">
            <a:avLst>
              <a:gd name="adj" fmla="val 3704"/>
            </a:avLst>
          </a:prstGeom>
        </p:spPr>
      </p:pic>
      <p:sp>
        <p:nvSpPr>
          <p:cNvPr id="27" name="矩形 26">
            <a:extLst>
              <a:ext uri="{FF2B5EF4-FFF2-40B4-BE49-F238E27FC236}">
                <a16:creationId xmlns:a16="http://schemas.microsoft.com/office/drawing/2014/main" id="{3A4C252B-96B3-4694-8C91-07D7305C6D66}"/>
              </a:ext>
            </a:extLst>
          </p:cNvPr>
          <p:cNvSpPr>
            <a:spLocks noGrp="1"/>
          </p:cNvSpPr>
          <p:nvPr/>
        </p:nvSpPr>
        <p:spPr>
          <a:xfrm>
            <a:off x="6591300" y="4914900"/>
            <a:ext cx="45339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5000"/>
              </a:lnSpc>
              <a:buNone/>
              <a:defRPr sz="788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rPr>
              <a:t>判题环境检测截图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131CFDC4-A046-4C0C-BE7C-58FEF6885C2E}"/>
              </a:ext>
            </a:extLst>
          </p:cNvPr>
          <p:cNvSpPr>
            <a:spLocks noGrp="1"/>
          </p:cNvSpPr>
          <p:nvPr/>
        </p:nvSpPr>
        <p:spPr>
          <a:xfrm>
            <a:off x="1619250" y="5581650"/>
            <a:ext cx="89535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5000"/>
              </a:lnSpc>
              <a:buNone/>
              <a:defRPr sz="135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测试结论：普通用户训练闭环、管理员维护闭环和 Docker 判题环境检查均能按设计运行。</a:t>
            </a:r>
          </a:p>
        </p:txBody>
      </p:sp>
    </p:spTree>
    <p:extLst>
      <p:ext uri="{BB962C8B-B14F-4D97-AF65-F5344CB8AC3E}">
        <p14:creationId xmlns:p14="http://schemas.microsoft.com/office/powerpoint/2010/main" val="17483416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22">
            <a:extLst>
              <a:ext uri="{FF2B5EF4-FFF2-40B4-BE49-F238E27FC236}">
                <a16:creationId xmlns:a16="http://schemas.microsoft.com/office/drawing/2014/main" id="{352B1304-15D6-42D7-A65C-B4459DD435C5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40005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788" b="0">
                <a:solidFill>
                  <a:srgbClr val="8EA4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8EA4B8"/>
                </a:solidFill>
                <a:latin typeface="Microsoft YaHei"/>
                <a:ea typeface="Microsoft YaHei"/>
                <a:cs typeface="Microsoft YaHei"/>
              </a:rPr>
              <a:t>OJPT 在线算法题库系统毕业答辩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1DE01D0-7F98-4740-AC75-1398AD92DFD4}"/>
              </a:ext>
            </a:extLst>
          </p:cNvPr>
          <p:cNvSpPr>
            <a:spLocks noGrp="1"/>
          </p:cNvSpPr>
          <p:nvPr/>
        </p:nvSpPr>
        <p:spPr>
          <a:xfrm>
            <a:off x="10839450" y="6429375"/>
            <a:ext cx="762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15000"/>
              </a:lnSpc>
              <a:buNone/>
              <a:defRPr sz="788" b="0">
                <a:solidFill>
                  <a:srgbClr val="8EA4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8EA4B8"/>
                </a:solidFill>
                <a:latin typeface="Microsoft YaHei"/>
                <a:ea typeface="Microsoft YaHei"/>
                <a:cs typeface="Microsoft YaHei"/>
              </a:rPr>
              <a:t>13 / 15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67BB9CE-9A0B-46E6-BC03-9DA6382CD85A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7620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240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项目成果：核心功能闭环已形成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589E414-3333-412B-82B0-D4AEE09874DD}"/>
              </a:ext>
            </a:extLst>
          </p:cNvPr>
          <p:cNvSpPr>
            <a:spLocks noGrp="1"/>
          </p:cNvSpPr>
          <p:nvPr/>
        </p:nvSpPr>
        <p:spPr>
          <a:xfrm>
            <a:off x="628650" y="904875"/>
            <a:ext cx="7429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1125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rPr>
              <a:t>成果不仅是页面完成，还包括接口、数据、判题和测试材料的对应关系。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555E4140-CD81-4428-B9D9-730ED83290BC}"/>
              </a:ext>
            </a:extLst>
          </p:cNvPr>
          <p:cNvSpPr>
            <a:spLocks noGrp="1"/>
          </p:cNvSpPr>
          <p:nvPr/>
        </p:nvSpPr>
        <p:spPr>
          <a:xfrm>
            <a:off x="609600" y="1257300"/>
            <a:ext cx="876300" cy="38100"/>
          </a:xfrm>
          <a:prstGeom prst="roundRect">
            <a:avLst>
              <a:gd name="adj" fmla="val 50000"/>
            </a:avLst>
          </a:prstGeom>
          <a:solidFill>
            <a:srgbClr val="00A6B2"/>
          </a:solidFill>
          <a:ln w="0">
            <a:noFill/>
          </a:ln>
        </p:spPr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E0653E99-5E65-4415-A99A-45B86AF2251D}"/>
              </a:ext>
            </a:extLst>
          </p:cNvPr>
          <p:cNvSpPr>
            <a:spLocks noGrp="1"/>
          </p:cNvSpPr>
          <p:nvPr/>
        </p:nvSpPr>
        <p:spPr>
          <a:xfrm>
            <a:off x="781050" y="1657350"/>
            <a:ext cx="10648950" cy="723900"/>
          </a:xfrm>
          <a:prstGeom prst="roundRect">
            <a:avLst>
              <a:gd name="adj" fmla="val 10526"/>
            </a:avLst>
          </a:prstGeom>
          <a:solidFill>
            <a:srgbClr val="0B1F33"/>
          </a:solidFill>
          <a:ln w="0">
            <a:noFill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D1FC9F9-2022-4664-AD00-2311CA8C4D4D}"/>
              </a:ext>
            </a:extLst>
          </p:cNvPr>
          <p:cNvSpPr>
            <a:spLocks noGrp="1"/>
          </p:cNvSpPr>
          <p:nvPr/>
        </p:nvSpPr>
        <p:spPr>
          <a:xfrm>
            <a:off x="1162050" y="1866900"/>
            <a:ext cx="9906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5000"/>
              </a:lnSpc>
              <a:buNone/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一条主线：用户完成算法训练，管理员持续维护训练内容和判题环境。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6F868519-96BA-42CE-964E-44C3EEBA39A1}"/>
              </a:ext>
            </a:extLst>
          </p:cNvPr>
          <p:cNvSpPr>
            <a:spLocks noGrp="1"/>
          </p:cNvSpPr>
          <p:nvPr/>
        </p:nvSpPr>
        <p:spPr>
          <a:xfrm>
            <a:off x="1047750" y="3028950"/>
            <a:ext cx="2857500" cy="1390650"/>
          </a:xfrm>
          <a:prstGeom prst="roundRect">
            <a:avLst>
              <a:gd name="adj" fmla="val 5479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</p:spPr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D24365D1-074F-4751-85CE-142A72C45952}"/>
              </a:ext>
            </a:extLst>
          </p:cNvPr>
          <p:cNvSpPr>
            <a:spLocks noGrp="1"/>
          </p:cNvSpPr>
          <p:nvPr/>
        </p:nvSpPr>
        <p:spPr>
          <a:xfrm>
            <a:off x="1047750" y="3028950"/>
            <a:ext cx="57150" cy="1390650"/>
          </a:xfrm>
          <a:prstGeom prst="roundRect">
            <a:avLst>
              <a:gd name="adj" fmla="val 50000"/>
            </a:avLst>
          </a:prstGeom>
          <a:solidFill>
            <a:srgbClr val="00A6B2"/>
          </a:solidFill>
          <a:ln w="0">
            <a:noFill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936E0DE-07C8-4699-B3B5-3D6AF9DF817D}"/>
              </a:ext>
            </a:extLst>
          </p:cNvPr>
          <p:cNvSpPr>
            <a:spLocks noGrp="1"/>
          </p:cNvSpPr>
          <p:nvPr/>
        </p:nvSpPr>
        <p:spPr>
          <a:xfrm>
            <a:off x="1238250" y="3200400"/>
            <a:ext cx="24765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135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功能成果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5122BED-B9B4-4836-B8C0-3A58E2EBDF84}"/>
              </a:ext>
            </a:extLst>
          </p:cNvPr>
          <p:cNvSpPr>
            <a:spLocks noGrp="1"/>
          </p:cNvSpPr>
          <p:nvPr/>
        </p:nvSpPr>
        <p:spPr>
          <a:xfrm>
            <a:off x="1238250" y="3543300"/>
            <a:ext cx="24765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8000"/>
              </a:lnSpc>
              <a:buNone/>
              <a:defRPr sz="1088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登录注册、题库浏览、在线做题、代码运行、提交判题、训练看板、后台维护。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CF4A4773-2492-4544-80A9-4FFE3429C272}"/>
              </a:ext>
            </a:extLst>
          </p:cNvPr>
          <p:cNvSpPr>
            <a:spLocks noGrp="1"/>
          </p:cNvSpPr>
          <p:nvPr/>
        </p:nvSpPr>
        <p:spPr>
          <a:xfrm>
            <a:off x="4667250" y="3028950"/>
            <a:ext cx="2857500" cy="1390650"/>
          </a:xfrm>
          <a:prstGeom prst="roundRect">
            <a:avLst>
              <a:gd name="adj" fmla="val 5479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</p:spPr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29F37B05-0119-4694-8ABE-7AF4846C27C2}"/>
              </a:ext>
            </a:extLst>
          </p:cNvPr>
          <p:cNvSpPr>
            <a:spLocks noGrp="1"/>
          </p:cNvSpPr>
          <p:nvPr/>
        </p:nvSpPr>
        <p:spPr>
          <a:xfrm>
            <a:off x="4667250" y="3028950"/>
            <a:ext cx="57150" cy="1390650"/>
          </a:xfrm>
          <a:prstGeom prst="roundRect">
            <a:avLst>
              <a:gd name="adj" fmla="val 50000"/>
            </a:avLst>
          </a:prstGeom>
          <a:solidFill>
            <a:srgbClr val="1769AA"/>
          </a:solidFill>
          <a:ln w="0">
            <a:noFill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A506808-DA90-499F-9A51-F96A1D461FA3}"/>
              </a:ext>
            </a:extLst>
          </p:cNvPr>
          <p:cNvSpPr>
            <a:spLocks noGrp="1"/>
          </p:cNvSpPr>
          <p:nvPr/>
        </p:nvSpPr>
        <p:spPr>
          <a:xfrm>
            <a:off x="4857750" y="3200400"/>
            <a:ext cx="24765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135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工程成果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BDB22FE-48DE-43E9-885A-DC3E2375E571}"/>
              </a:ext>
            </a:extLst>
          </p:cNvPr>
          <p:cNvSpPr>
            <a:spLocks noGrp="1"/>
          </p:cNvSpPr>
          <p:nvPr/>
        </p:nvSpPr>
        <p:spPr>
          <a:xfrm>
            <a:off x="4857750" y="3543300"/>
            <a:ext cx="24765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8000"/>
              </a:lnSpc>
              <a:buNone/>
              <a:defRPr sz="1088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Vue 3 + SpringBoot 前后端分离，JWT 权限控制，MySQL/Redis/Docker 协同。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FAFE2297-DBEE-43B4-A103-5B9098B68B23}"/>
              </a:ext>
            </a:extLst>
          </p:cNvPr>
          <p:cNvSpPr>
            <a:spLocks noGrp="1"/>
          </p:cNvSpPr>
          <p:nvPr/>
        </p:nvSpPr>
        <p:spPr>
          <a:xfrm>
            <a:off x="8286750" y="3028950"/>
            <a:ext cx="2857500" cy="1390650"/>
          </a:xfrm>
          <a:prstGeom prst="roundRect">
            <a:avLst>
              <a:gd name="adj" fmla="val 5479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</p:spPr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EE781541-F52C-4439-B1A6-B055DAC943AF}"/>
              </a:ext>
            </a:extLst>
          </p:cNvPr>
          <p:cNvSpPr>
            <a:spLocks noGrp="1"/>
          </p:cNvSpPr>
          <p:nvPr/>
        </p:nvSpPr>
        <p:spPr>
          <a:xfrm>
            <a:off x="8286750" y="3028950"/>
            <a:ext cx="57150" cy="139065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 w="0">
            <a:noFill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A20345A1-D1F0-49F9-B10D-9B8E8054D9E0}"/>
              </a:ext>
            </a:extLst>
          </p:cNvPr>
          <p:cNvSpPr>
            <a:spLocks noGrp="1"/>
          </p:cNvSpPr>
          <p:nvPr/>
        </p:nvSpPr>
        <p:spPr>
          <a:xfrm>
            <a:off x="8477250" y="3200400"/>
            <a:ext cx="24765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135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验证成果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E998477C-B053-423C-843C-1A34EF173C0F}"/>
              </a:ext>
            </a:extLst>
          </p:cNvPr>
          <p:cNvSpPr>
            <a:spLocks noGrp="1"/>
          </p:cNvSpPr>
          <p:nvPr/>
        </p:nvSpPr>
        <p:spPr>
          <a:xfrm>
            <a:off x="8477250" y="3543300"/>
            <a:ext cx="24765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8000"/>
              </a:lnSpc>
              <a:buNone/>
              <a:defRPr sz="1088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功能测试、接口测试、判题流程测试、权限测试和自动化测试形成验证依据。</a:t>
            </a: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2B9C2E34-2C9A-4730-89C5-53571326797A}"/>
              </a:ext>
            </a:extLst>
          </p:cNvPr>
          <p:cNvSpPr>
            <a:spLocks noGrp="1"/>
          </p:cNvSpPr>
          <p:nvPr/>
        </p:nvSpPr>
        <p:spPr>
          <a:xfrm>
            <a:off x="4210050" y="4800600"/>
            <a:ext cx="3762375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</p:spPr>
      </p:sp>
      <p:pic>
        <p:nvPicPr>
          <p:cNvPr id="21" name="图片 20"/>
          <p:cNvPicPr>
            <a:picLocks noChangeAspect="1"/>
          </p:cNvPicPr>
          <p:nvPr/>
        </p:nvPicPr>
        <p:blipFill>
          <a:blip r:embed="rId3"/>
          <a:srcRect t="44465" b="44465"/>
          <a:stretch>
            <a:fillRect/>
          </a:stretch>
        </p:blipFill>
        <p:spPr>
          <a:xfrm>
            <a:off x="4210050" y="4800600"/>
            <a:ext cx="3762375" cy="438150"/>
          </a:xfrm>
          <a:prstGeom prst="roundRect">
            <a:avLst>
              <a:gd name="adj" fmla="val 13043"/>
            </a:avLst>
          </a:prstGeom>
        </p:spPr>
      </p:pic>
      <p:sp>
        <p:nvSpPr>
          <p:cNvPr id="22" name="矩形 21">
            <a:extLst>
              <a:ext uri="{FF2B5EF4-FFF2-40B4-BE49-F238E27FC236}">
                <a16:creationId xmlns:a16="http://schemas.microsoft.com/office/drawing/2014/main" id="{CB381059-3DE7-4EB9-BB6D-A8BFD79EC3E8}"/>
              </a:ext>
            </a:extLst>
          </p:cNvPr>
          <p:cNvSpPr>
            <a:spLocks noGrp="1"/>
          </p:cNvSpPr>
          <p:nvPr/>
        </p:nvSpPr>
        <p:spPr>
          <a:xfrm>
            <a:off x="4324350" y="5238750"/>
            <a:ext cx="3533775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5000"/>
              </a:lnSpc>
              <a:buNone/>
              <a:defRPr sz="788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rPr>
              <a:t>接口和页面均有截图取证</a:t>
            </a:r>
          </a:p>
        </p:txBody>
      </p:sp>
    </p:spTree>
    <p:extLst>
      <p:ext uri="{BB962C8B-B14F-4D97-AF65-F5344CB8AC3E}">
        <p14:creationId xmlns:p14="http://schemas.microsoft.com/office/powerpoint/2010/main" val="18060890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矩形 31">
            <a:extLst>
              <a:ext uri="{FF2B5EF4-FFF2-40B4-BE49-F238E27FC236}">
                <a16:creationId xmlns:a16="http://schemas.microsoft.com/office/drawing/2014/main" id="{4544BED0-E73A-4160-9254-FB74C77680E8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40005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788" b="0">
                <a:solidFill>
                  <a:srgbClr val="8EA4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8EA4B8"/>
                </a:solidFill>
                <a:latin typeface="Microsoft YaHei"/>
                <a:ea typeface="Microsoft YaHei"/>
                <a:cs typeface="Microsoft YaHei"/>
              </a:rPr>
              <a:t>OJPT 在线算法题库系统毕业答辩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8935FAE-07AA-4E67-9B11-5D165E6D7BDA}"/>
              </a:ext>
            </a:extLst>
          </p:cNvPr>
          <p:cNvSpPr>
            <a:spLocks noGrp="1"/>
          </p:cNvSpPr>
          <p:nvPr/>
        </p:nvSpPr>
        <p:spPr>
          <a:xfrm>
            <a:off x="10839450" y="6429375"/>
            <a:ext cx="762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15000"/>
              </a:lnSpc>
              <a:buNone/>
              <a:defRPr sz="788" b="0">
                <a:solidFill>
                  <a:srgbClr val="8EA4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8EA4B8"/>
                </a:solidFill>
                <a:latin typeface="Microsoft YaHei"/>
                <a:ea typeface="Microsoft YaHei"/>
                <a:cs typeface="Microsoft YaHei"/>
              </a:rPr>
              <a:t>14 / 15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580CCC1-87F4-4B36-A884-F60DE3320A68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7620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240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不足与展望：从本地演示走向更强平台能力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6B4469C-AC66-4D96-9F79-E5E63A38F5B4}"/>
              </a:ext>
            </a:extLst>
          </p:cNvPr>
          <p:cNvSpPr>
            <a:spLocks noGrp="1"/>
          </p:cNvSpPr>
          <p:nvPr/>
        </p:nvSpPr>
        <p:spPr>
          <a:xfrm>
            <a:off x="628650" y="904875"/>
            <a:ext cx="7429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1125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rPr>
              <a:t>当前重点是核心闭环；后续优化围绕规模、安全和管理效率展开。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6F4001D9-A87F-4D27-ACA6-E811A38E12FA}"/>
              </a:ext>
            </a:extLst>
          </p:cNvPr>
          <p:cNvSpPr>
            <a:spLocks noGrp="1"/>
          </p:cNvSpPr>
          <p:nvPr/>
        </p:nvSpPr>
        <p:spPr>
          <a:xfrm>
            <a:off x="609600" y="1257300"/>
            <a:ext cx="876300" cy="38100"/>
          </a:xfrm>
          <a:prstGeom prst="roundRect">
            <a:avLst>
              <a:gd name="adj" fmla="val 50000"/>
            </a:avLst>
          </a:prstGeom>
          <a:solidFill>
            <a:srgbClr val="00A6B2"/>
          </a:solidFill>
          <a:ln w="0">
            <a:noFill/>
          </a:ln>
        </p:spPr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6DDA44CE-93E7-43FE-BC20-50C6B5D1CB17}"/>
              </a:ext>
            </a:extLst>
          </p:cNvPr>
          <p:cNvSpPr>
            <a:spLocks noGrp="1"/>
          </p:cNvSpPr>
          <p:nvPr/>
        </p:nvSpPr>
        <p:spPr>
          <a:xfrm>
            <a:off x="1219200" y="1952625"/>
            <a:ext cx="704850" cy="704850"/>
          </a:xfrm>
          <a:prstGeom prst="roundRect">
            <a:avLst>
              <a:gd name="adj" fmla="val 50000"/>
            </a:avLst>
          </a:prstGeom>
          <a:solidFill>
            <a:srgbClr val="00A6B2"/>
          </a:solidFill>
          <a:ln w="0">
            <a:noFill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CC8DCEF-E969-4D08-8C79-324BB6D5B8E2}"/>
              </a:ext>
            </a:extLst>
          </p:cNvPr>
          <p:cNvSpPr>
            <a:spLocks noGrp="1"/>
          </p:cNvSpPr>
          <p:nvPr/>
        </p:nvSpPr>
        <p:spPr>
          <a:xfrm>
            <a:off x="1219200" y="2105025"/>
            <a:ext cx="7048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5492"/>
          </a:bodyPr>
          <a:lstStyle/>
          <a:p>
            <a:pPr algn="ctr">
              <a:lnSpc>
                <a:spcPct val="115000"/>
              </a:lnSpc>
              <a:buNone/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B9C72A1-CF92-4407-8546-4A296276D19D}"/>
              </a:ext>
            </a:extLst>
          </p:cNvPr>
          <p:cNvSpPr>
            <a:spLocks noGrp="1"/>
          </p:cNvSpPr>
          <p:nvPr/>
        </p:nvSpPr>
        <p:spPr>
          <a:xfrm>
            <a:off x="762000" y="2905125"/>
            <a:ext cx="1619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5000"/>
              </a:lnSpc>
              <a:buNone/>
              <a:defRPr sz="1275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分布式判题队列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AB0D4A8-3B58-4337-A3BB-263C98506964}"/>
              </a:ext>
            </a:extLst>
          </p:cNvPr>
          <p:cNvSpPr>
            <a:spLocks noGrp="1"/>
          </p:cNvSpPr>
          <p:nvPr/>
        </p:nvSpPr>
        <p:spPr>
          <a:xfrm>
            <a:off x="695325" y="3295650"/>
            <a:ext cx="1752600" cy="819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20000"/>
              </a:lnSpc>
              <a:buNone/>
              <a:defRPr sz="1013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引入任务队列或调度组件，提高并发提交下的吞吐能力。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DC22615F-D5B7-4304-872D-3E52785C78B9}"/>
              </a:ext>
            </a:extLst>
          </p:cNvPr>
          <p:cNvSpPr>
            <a:spLocks noGrp="1"/>
          </p:cNvSpPr>
          <p:nvPr/>
        </p:nvSpPr>
        <p:spPr>
          <a:xfrm>
            <a:off x="2019300" y="2295525"/>
            <a:ext cx="1123950" cy="28575"/>
          </a:xfrm>
          <a:prstGeom prst="roundRect">
            <a:avLst>
              <a:gd name="adj" fmla="val 50000"/>
            </a:avLst>
          </a:prstGeom>
          <a:solidFill>
            <a:srgbClr val="C9DDE8"/>
          </a:solidFill>
          <a:ln w="0">
            <a:noFill/>
          </a:ln>
        </p:spPr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44C9290B-7CEE-4DE6-AD7C-1D3FE0F758CB}"/>
              </a:ext>
            </a:extLst>
          </p:cNvPr>
          <p:cNvSpPr>
            <a:spLocks noGrp="1"/>
          </p:cNvSpPr>
          <p:nvPr/>
        </p:nvSpPr>
        <p:spPr>
          <a:xfrm>
            <a:off x="3219450" y="1952625"/>
            <a:ext cx="704850" cy="704850"/>
          </a:xfrm>
          <a:prstGeom prst="roundRect">
            <a:avLst>
              <a:gd name="adj" fmla="val 50000"/>
            </a:avLst>
          </a:prstGeom>
          <a:solidFill>
            <a:srgbClr val="1769AA"/>
          </a:solidFill>
          <a:ln w="0">
            <a:noFill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EA31C1D-E1A1-4EB8-98BF-47FEA2302F6F}"/>
              </a:ext>
            </a:extLst>
          </p:cNvPr>
          <p:cNvSpPr>
            <a:spLocks noGrp="1"/>
          </p:cNvSpPr>
          <p:nvPr/>
        </p:nvSpPr>
        <p:spPr>
          <a:xfrm>
            <a:off x="3219450" y="2105025"/>
            <a:ext cx="7048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5492"/>
          </a:bodyPr>
          <a:lstStyle/>
          <a:p>
            <a:pPr algn="ctr">
              <a:lnSpc>
                <a:spcPct val="115000"/>
              </a:lnSpc>
              <a:buNone/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142A517-A824-419C-9042-2E17A0C99972}"/>
              </a:ext>
            </a:extLst>
          </p:cNvPr>
          <p:cNvSpPr>
            <a:spLocks noGrp="1"/>
          </p:cNvSpPr>
          <p:nvPr/>
        </p:nvSpPr>
        <p:spPr>
          <a:xfrm>
            <a:off x="2762250" y="2905125"/>
            <a:ext cx="1619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5000"/>
              </a:lnSpc>
              <a:buNone/>
              <a:defRPr sz="1275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安全沙盒强化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B96465C-9522-4644-A656-60C1C224A820}"/>
              </a:ext>
            </a:extLst>
          </p:cNvPr>
          <p:cNvSpPr>
            <a:spLocks noGrp="1"/>
          </p:cNvSpPr>
          <p:nvPr/>
        </p:nvSpPr>
        <p:spPr>
          <a:xfrm>
            <a:off x="2695575" y="3295650"/>
            <a:ext cx="1752600" cy="819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20000"/>
              </a:lnSpc>
              <a:buNone/>
              <a:defRPr sz="1013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继续限制网络、文件系统、系统调用和容器资源。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059E5F0D-3E3B-4E71-AD3F-797EB9330E23}"/>
              </a:ext>
            </a:extLst>
          </p:cNvPr>
          <p:cNvSpPr>
            <a:spLocks noGrp="1"/>
          </p:cNvSpPr>
          <p:nvPr/>
        </p:nvSpPr>
        <p:spPr>
          <a:xfrm>
            <a:off x="4019550" y="2295525"/>
            <a:ext cx="1123950" cy="28575"/>
          </a:xfrm>
          <a:prstGeom prst="roundRect">
            <a:avLst>
              <a:gd name="adj" fmla="val 50000"/>
            </a:avLst>
          </a:prstGeom>
          <a:solidFill>
            <a:srgbClr val="C9DDE8"/>
          </a:solidFill>
          <a:ln w="0">
            <a:noFill/>
          </a:ln>
        </p:spPr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F8BCE162-E2B9-410E-8DDA-EFB18F20E56F}"/>
              </a:ext>
            </a:extLst>
          </p:cNvPr>
          <p:cNvSpPr>
            <a:spLocks noGrp="1"/>
          </p:cNvSpPr>
          <p:nvPr/>
        </p:nvSpPr>
        <p:spPr>
          <a:xfrm>
            <a:off x="5219700" y="1952625"/>
            <a:ext cx="704850" cy="70485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0">
            <a:noFill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31B1F8A-D09E-4455-A17C-89872960A1B3}"/>
              </a:ext>
            </a:extLst>
          </p:cNvPr>
          <p:cNvSpPr>
            <a:spLocks noGrp="1"/>
          </p:cNvSpPr>
          <p:nvPr/>
        </p:nvSpPr>
        <p:spPr>
          <a:xfrm>
            <a:off x="5219700" y="2105025"/>
            <a:ext cx="7048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5492"/>
          </a:bodyPr>
          <a:lstStyle/>
          <a:p>
            <a:pPr algn="ctr">
              <a:lnSpc>
                <a:spcPct val="115000"/>
              </a:lnSpc>
              <a:buNone/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FF50E8F1-1FB5-47F4-9ED0-2392B5F7F61B}"/>
              </a:ext>
            </a:extLst>
          </p:cNvPr>
          <p:cNvSpPr>
            <a:spLocks noGrp="1"/>
          </p:cNvSpPr>
          <p:nvPr/>
        </p:nvSpPr>
        <p:spPr>
          <a:xfrm>
            <a:off x="4762500" y="2905125"/>
            <a:ext cx="1619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5000"/>
              </a:lnSpc>
              <a:buNone/>
              <a:defRPr sz="1275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竞赛与排行榜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081297D2-9E5F-4F35-B940-766B2D8C8563}"/>
              </a:ext>
            </a:extLst>
          </p:cNvPr>
          <p:cNvSpPr>
            <a:spLocks noGrp="1"/>
          </p:cNvSpPr>
          <p:nvPr/>
        </p:nvSpPr>
        <p:spPr>
          <a:xfrm>
            <a:off x="4695825" y="3295650"/>
            <a:ext cx="1752600" cy="819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20000"/>
              </a:lnSpc>
              <a:buNone/>
              <a:defRPr sz="1013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在现有提交和题库基础上扩展限时比赛和排名统计。</a:t>
            </a: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A7D95AF6-8F06-4221-9BF4-477A7AEEFE91}"/>
              </a:ext>
            </a:extLst>
          </p:cNvPr>
          <p:cNvSpPr>
            <a:spLocks noGrp="1"/>
          </p:cNvSpPr>
          <p:nvPr/>
        </p:nvSpPr>
        <p:spPr>
          <a:xfrm>
            <a:off x="6019800" y="2295525"/>
            <a:ext cx="1123950" cy="28575"/>
          </a:xfrm>
          <a:prstGeom prst="roundRect">
            <a:avLst>
              <a:gd name="adj" fmla="val 50000"/>
            </a:avLst>
          </a:prstGeom>
          <a:solidFill>
            <a:srgbClr val="C9DDE8"/>
          </a:solidFill>
          <a:ln w="0">
            <a:noFill/>
          </a:ln>
        </p:spPr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A2A5376D-2108-4494-9978-6F4F945852CC}"/>
              </a:ext>
            </a:extLst>
          </p:cNvPr>
          <p:cNvSpPr>
            <a:spLocks noGrp="1"/>
          </p:cNvSpPr>
          <p:nvPr/>
        </p:nvSpPr>
        <p:spPr>
          <a:xfrm>
            <a:off x="7219950" y="1952625"/>
            <a:ext cx="704850" cy="70485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 w="0">
            <a:noFill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C52DCE5E-FFB8-4410-8BEA-43D2CF0C2409}"/>
              </a:ext>
            </a:extLst>
          </p:cNvPr>
          <p:cNvSpPr>
            <a:spLocks noGrp="1"/>
          </p:cNvSpPr>
          <p:nvPr/>
        </p:nvSpPr>
        <p:spPr>
          <a:xfrm>
            <a:off x="7219950" y="2105025"/>
            <a:ext cx="7048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5492"/>
          </a:bodyPr>
          <a:lstStyle/>
          <a:p>
            <a:pPr algn="ctr">
              <a:lnSpc>
                <a:spcPct val="115000"/>
              </a:lnSpc>
              <a:buNone/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BB913002-EDD1-4B3E-83E8-520326852AF5}"/>
              </a:ext>
            </a:extLst>
          </p:cNvPr>
          <p:cNvSpPr>
            <a:spLocks noGrp="1"/>
          </p:cNvSpPr>
          <p:nvPr/>
        </p:nvSpPr>
        <p:spPr>
          <a:xfrm>
            <a:off x="6762750" y="2905125"/>
            <a:ext cx="1619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5000"/>
              </a:lnSpc>
              <a:buNone/>
              <a:defRPr sz="1275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题库批量维护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54BC41D3-0582-4158-8551-F92DF6F01EAF}"/>
              </a:ext>
            </a:extLst>
          </p:cNvPr>
          <p:cNvSpPr>
            <a:spLocks noGrp="1"/>
          </p:cNvSpPr>
          <p:nvPr/>
        </p:nvSpPr>
        <p:spPr>
          <a:xfrm>
            <a:off x="6696075" y="3295650"/>
            <a:ext cx="1752600" cy="819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20000"/>
              </a:lnSpc>
              <a:buNone/>
              <a:defRPr sz="1013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增加批量导入、题面版本记录、测试用例文件上传。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8027718A-961E-42B6-A412-407FBA6A66A1}"/>
              </a:ext>
            </a:extLst>
          </p:cNvPr>
          <p:cNvSpPr>
            <a:spLocks noGrp="1"/>
          </p:cNvSpPr>
          <p:nvPr/>
        </p:nvSpPr>
        <p:spPr>
          <a:xfrm>
            <a:off x="8020050" y="2295525"/>
            <a:ext cx="1123950" cy="28575"/>
          </a:xfrm>
          <a:prstGeom prst="roundRect">
            <a:avLst>
              <a:gd name="adj" fmla="val 50000"/>
            </a:avLst>
          </a:prstGeom>
          <a:solidFill>
            <a:srgbClr val="C9DDE8"/>
          </a:solidFill>
          <a:ln w="0">
            <a:noFill/>
          </a:ln>
        </p:spPr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0A1245E3-0EFD-4FFE-BE79-FE81BB72BDED}"/>
              </a:ext>
            </a:extLst>
          </p:cNvPr>
          <p:cNvSpPr>
            <a:spLocks noGrp="1"/>
          </p:cNvSpPr>
          <p:nvPr/>
        </p:nvSpPr>
        <p:spPr>
          <a:xfrm>
            <a:off x="9220200" y="1952625"/>
            <a:ext cx="704850" cy="70485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0">
            <a:noFill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9C5F3DC7-4A08-46E9-9F61-6FB13F0102E3}"/>
              </a:ext>
            </a:extLst>
          </p:cNvPr>
          <p:cNvSpPr>
            <a:spLocks noGrp="1"/>
          </p:cNvSpPr>
          <p:nvPr/>
        </p:nvSpPr>
        <p:spPr>
          <a:xfrm>
            <a:off x="9220200" y="2105025"/>
            <a:ext cx="7048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5492"/>
          </a:bodyPr>
          <a:lstStyle/>
          <a:p>
            <a:pPr algn="ctr">
              <a:lnSpc>
                <a:spcPct val="115000"/>
              </a:lnSpc>
              <a:buNone/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7ED246BA-028B-4821-9FEC-7886388220BF}"/>
              </a:ext>
            </a:extLst>
          </p:cNvPr>
          <p:cNvSpPr>
            <a:spLocks noGrp="1"/>
          </p:cNvSpPr>
          <p:nvPr/>
        </p:nvSpPr>
        <p:spPr>
          <a:xfrm>
            <a:off x="8763000" y="2905125"/>
            <a:ext cx="1619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5000"/>
              </a:lnSpc>
              <a:buNone/>
              <a:defRPr sz="1275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训练数据分析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AE6636EE-70EE-4313-B0EE-C9BE5CD01D07}"/>
              </a:ext>
            </a:extLst>
          </p:cNvPr>
          <p:cNvSpPr>
            <a:spLocks noGrp="1"/>
          </p:cNvSpPr>
          <p:nvPr/>
        </p:nvSpPr>
        <p:spPr>
          <a:xfrm>
            <a:off x="8696325" y="3295650"/>
            <a:ext cx="1752600" cy="819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20000"/>
              </a:lnSpc>
              <a:buNone/>
              <a:defRPr sz="1013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结合题目标签和提交历史，生成更细粒度能力分析。</a:t>
            </a: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EAA06E80-D99A-4579-AC9C-4AF5A33F4A2C}"/>
              </a:ext>
            </a:extLst>
          </p:cNvPr>
          <p:cNvSpPr>
            <a:spLocks noGrp="1"/>
          </p:cNvSpPr>
          <p:nvPr/>
        </p:nvSpPr>
        <p:spPr>
          <a:xfrm>
            <a:off x="1428750" y="4800600"/>
            <a:ext cx="9334500" cy="495300"/>
          </a:xfrm>
          <a:prstGeom prst="roundRect">
            <a:avLst>
              <a:gd name="adj" fmla="val 15385"/>
            </a:avLst>
          </a:prstGeom>
          <a:solidFill>
            <a:srgbClr val="F4FAFB"/>
          </a:solidFill>
          <a:ln w="9525">
            <a:solidFill>
              <a:srgbClr val="C7E9ED"/>
            </a:solidFill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9BA71AF5-1E76-43A2-A05B-9C8141AE17CD}"/>
              </a:ext>
            </a:extLst>
          </p:cNvPr>
          <p:cNvSpPr>
            <a:spLocks noGrp="1"/>
          </p:cNvSpPr>
          <p:nvPr/>
        </p:nvSpPr>
        <p:spPr>
          <a:xfrm>
            <a:off x="1714500" y="4953000"/>
            <a:ext cx="8763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2751" lnSpcReduction="10000"/>
          </a:bodyPr>
          <a:lstStyle/>
          <a:p>
            <a:pPr algn="ctr">
              <a:lnSpc>
                <a:spcPct val="115000"/>
              </a:lnSpc>
              <a:buNone/>
              <a:defRPr sz="1275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总结：OJPT 已完成毕业设计阶段的核心闭环，后续方向是规模化、安全性和训练分析能力提升。</a:t>
            </a:r>
          </a:p>
        </p:txBody>
      </p:sp>
    </p:spTree>
    <p:extLst>
      <p:ext uri="{BB962C8B-B14F-4D97-AF65-F5344CB8AC3E}">
        <p14:creationId xmlns:p14="http://schemas.microsoft.com/office/powerpoint/2010/main" val="17851271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1513847B-F297-486B-A965-702CD1B922D8}"/>
              </a:ext>
            </a:extLst>
          </p:cNvPr>
          <p:cNvSpPr>
            <a:spLocks noGrp="1"/>
          </p:cNvSpPr>
          <p:nvPr/>
        </p:nvSpPr>
        <p:spPr>
          <a:xfrm>
            <a:off x="609600" y="6429375"/>
            <a:ext cx="40005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788" b="0">
                <a:solidFill>
                  <a:srgbClr val="8EA4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8EA4B8"/>
                </a:solidFill>
                <a:latin typeface="Microsoft YaHei"/>
                <a:ea typeface="Microsoft YaHei"/>
                <a:cs typeface="Microsoft YaHei"/>
              </a:rPr>
              <a:t>OJPT 在线算法题库系统毕业答辩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56A4321-9AD0-499F-8F49-DBDEDF701418}"/>
              </a:ext>
            </a:extLst>
          </p:cNvPr>
          <p:cNvSpPr>
            <a:spLocks noGrp="1"/>
          </p:cNvSpPr>
          <p:nvPr/>
        </p:nvSpPr>
        <p:spPr>
          <a:xfrm>
            <a:off x="10839450" y="6429375"/>
            <a:ext cx="762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15000"/>
              </a:lnSpc>
              <a:buNone/>
              <a:defRPr sz="788" b="0">
                <a:solidFill>
                  <a:srgbClr val="8EA4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8EA4B8"/>
                </a:solidFill>
                <a:latin typeface="Microsoft YaHei"/>
                <a:ea typeface="Microsoft YaHei"/>
                <a:cs typeface="Microsoft YaHei"/>
              </a:rPr>
              <a:t>15 / 15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AC79317-A2AC-4CA7-BD4A-F21EF5B984C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F33"/>
          </a:solidFill>
          <a:ln w="0">
            <a:noFill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92E4078-2447-4430-B5D6-32C7E787E5B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95250"/>
          </a:xfrm>
          <a:prstGeom prst="rect">
            <a:avLst/>
          </a:prstGeom>
          <a:solidFill>
            <a:srgbClr val="00A6B2"/>
          </a:solidFill>
          <a:ln w="0">
            <a:noFill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B42EA49-7DB6-4C2A-83B1-CD114CB0F60F}"/>
              </a:ext>
            </a:extLst>
          </p:cNvPr>
          <p:cNvSpPr>
            <a:spLocks noGrp="1"/>
          </p:cNvSpPr>
          <p:nvPr/>
        </p:nvSpPr>
        <p:spPr>
          <a:xfrm>
            <a:off x="0" y="2095500"/>
            <a:ext cx="12192000" cy="723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5000"/>
              </a:lnSpc>
              <a:buNone/>
              <a:defRPr sz="3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感谢聆听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C4EC98C-A8D6-4D37-AE7C-B8045DEFB884}"/>
              </a:ext>
            </a:extLst>
          </p:cNvPr>
          <p:cNvSpPr>
            <a:spLocks noGrp="1"/>
          </p:cNvSpPr>
          <p:nvPr/>
        </p:nvSpPr>
        <p:spPr>
          <a:xfrm>
            <a:off x="0" y="3048000"/>
            <a:ext cx="12192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5000"/>
              </a:lnSpc>
              <a:buNone/>
              <a:defRPr sz="1800" b="0">
                <a:solidFill>
                  <a:srgbClr val="DCEAF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DCEAF3"/>
                </a:solidFill>
                <a:latin typeface="Microsoft YaHei"/>
                <a:ea typeface="Microsoft YaHei"/>
                <a:cs typeface="Microsoft YaHei"/>
              </a:rPr>
              <a:t>恳请各位老师批评指正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779A6BA-DFCE-470F-B6F3-4F73BBBFB8A0}"/>
              </a:ext>
            </a:extLst>
          </p:cNvPr>
          <p:cNvSpPr>
            <a:spLocks noGrp="1"/>
          </p:cNvSpPr>
          <p:nvPr/>
        </p:nvSpPr>
        <p:spPr>
          <a:xfrm>
            <a:off x="0" y="3962400"/>
            <a:ext cx="121920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5000"/>
              </a:lnSpc>
              <a:buNone/>
              <a:defRPr sz="2100" b="1">
                <a:solidFill>
                  <a:srgbClr val="A7E7E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A7E7ED"/>
                </a:solidFill>
                <a:latin typeface="Microsoft YaHei"/>
                <a:ea typeface="Microsoft YaHei"/>
                <a:cs typeface="Microsoft YaHei"/>
              </a:rPr>
              <a:t>Q &amp; A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C467E15-F5C8-450C-9E7A-C3AAC7065583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12192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5000"/>
              </a:lnSpc>
              <a:buNone/>
              <a:defRPr sz="1125" b="0">
                <a:solidFill>
                  <a:srgbClr val="AFC7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AFC7D8"/>
                </a:solidFill>
                <a:latin typeface="Microsoft YaHei"/>
                <a:ea typeface="Microsoft YaHei"/>
                <a:cs typeface="Microsoft YaHei"/>
              </a:rPr>
              <a:t>汪鸿韬 | 22437043 | 计算机科学与技术</a:t>
            </a:r>
          </a:p>
        </p:txBody>
      </p:sp>
    </p:spTree>
    <p:extLst>
      <p:ext uri="{BB962C8B-B14F-4D97-AF65-F5344CB8AC3E}">
        <p14:creationId xmlns:p14="http://schemas.microsoft.com/office/powerpoint/2010/main" val="138767914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1053</Words>
  <Application>Microsoft Office PowerPoint</Application>
  <DocSecurity>0</DocSecurity>
  <PresentationFormat>宽屏</PresentationFormat>
  <Paragraphs>274</Paragraphs>
  <Slides>15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0" baseType="lpstr">
      <vt:lpstr>Microsoft YaHei</vt:lpstr>
      <vt:lpstr>Arial</vt:lpstr>
      <vt:lpstr>Calibri</vt:lpstr>
      <vt:lpstr>Calibri Light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3432881734@qq.com</cp:lastModifiedBy>
  <cp:revision>4</cp:revision>
  <dcterms:created xsi:type="dcterms:W3CDTF">2026-05-12T13:29:20Z</dcterms:created>
  <dcterms:modified xsi:type="dcterms:W3CDTF">2026-05-13T15:43:00Z</dcterms:modified>
</cp:coreProperties>
</file>