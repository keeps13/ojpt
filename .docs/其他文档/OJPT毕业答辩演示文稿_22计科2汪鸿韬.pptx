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ae8f727c0741f0" /><Relationship Type="http://schemas.openxmlformats.org/officeDocument/2006/relationships/extended-properties" Target="/docProps/app.xml" Id="Rd74b722631fa4520" /><Relationship Type="http://schemas.openxmlformats.org/officeDocument/2006/relationships/officeDocument" Target="/ppt/presentation.xml" Id="Rb46f6c7e43344a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0479a9c0754c7f"/>
  </p:sldMasterIdLst>
  <p:notesMasterIdLst>
    <p:notesMasterId xmlns:r="http://schemas.openxmlformats.org/officeDocument/2006/relationships" r:id="R5435a438c4344b13"/>
  </p:notesMasterIdLst>
  <p:sldIdLst>
    <p:sldId xmlns:r="http://schemas.openxmlformats.org/officeDocument/2006/relationships" id="256" r:id="Ra55b43bc17ec448d"/>
    <p:sldId xmlns:r="http://schemas.openxmlformats.org/officeDocument/2006/relationships" id="257" r:id="R18b5dbe9573f493e"/>
    <p:sldId xmlns:r="http://schemas.openxmlformats.org/officeDocument/2006/relationships" id="258" r:id="R7e869090c3834f58"/>
    <p:sldId xmlns:r="http://schemas.openxmlformats.org/officeDocument/2006/relationships" id="259" r:id="R0a7a58e5b83e40d6"/>
    <p:sldId xmlns:r="http://schemas.openxmlformats.org/officeDocument/2006/relationships" id="260" r:id="R4d7caf6833a54d9e"/>
    <p:sldId xmlns:r="http://schemas.openxmlformats.org/officeDocument/2006/relationships" id="261" r:id="R061f822ed35d4394"/>
    <p:sldId xmlns:r="http://schemas.openxmlformats.org/officeDocument/2006/relationships" id="262" r:id="R4a8b09e8794240c2"/>
    <p:sldId xmlns:r="http://schemas.openxmlformats.org/officeDocument/2006/relationships" id="263" r:id="Rdbeaad2b53e04cff"/>
    <p:sldId xmlns:r="http://schemas.openxmlformats.org/officeDocument/2006/relationships" id="264" r:id="R4d882ae1c64147b7"/>
    <p:sldId xmlns:r="http://schemas.openxmlformats.org/officeDocument/2006/relationships" id="265" r:id="R772fbbd6db0d4865"/>
    <p:sldId xmlns:r="http://schemas.openxmlformats.org/officeDocument/2006/relationships" id="266" r:id="R4d3a5eeabc7f4e10"/>
    <p:sldId xmlns:r="http://schemas.openxmlformats.org/officeDocument/2006/relationships" id="267" r:id="R12b7c1d2e9ce46dc"/>
    <p:sldId xmlns:r="http://schemas.openxmlformats.org/officeDocument/2006/relationships" id="268" r:id="Ra0adb3dbe0a44d1e"/>
    <p:sldId xmlns:r="http://schemas.openxmlformats.org/officeDocument/2006/relationships" id="269" r:id="R3ce63fb3f0174d5e"/>
    <p:sldId xmlns:r="http://schemas.openxmlformats.org/officeDocument/2006/relationships" id="270" r:id="R1e3d9edc697342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0479a9c0754c7f" /><Relationship Type="http://schemas.openxmlformats.org/officeDocument/2006/relationships/theme" Target="/ppt/theme/theme1.xml" Id="Rc488153be6b547de" /><Relationship Type="http://schemas.openxmlformats.org/officeDocument/2006/relationships/notesMaster" Target="/ppt/notesMasters/notesMaster1.xml" Id="R5435a438c4344b13" /><Relationship Type="http://schemas.openxmlformats.org/officeDocument/2006/relationships/presProps" Target="/ppt/presProps.xml" Id="Rc6463d9c8c104229" /><Relationship Type="http://schemas.openxmlformats.org/officeDocument/2006/relationships/viewProps" Target="/ppt/viewProps.xml" Id="Rc1afbdeafa32482b" /><Relationship Type="http://schemas.openxmlformats.org/officeDocument/2006/relationships/tableStyles" Target="/ppt/tableStyles.xml" Id="R92840eb250b24811" /><Relationship Type="http://schemas.openxmlformats.org/officeDocument/2006/relationships/slide" Target="/ppt/slides/slide1.xml" Id="Ra55b43bc17ec448d" /><Relationship Type="http://schemas.openxmlformats.org/officeDocument/2006/relationships/slide" Target="/ppt/slides/slide2.xml" Id="R18b5dbe9573f493e" /><Relationship Type="http://schemas.openxmlformats.org/officeDocument/2006/relationships/slide" Target="/ppt/slides/slide3.xml" Id="R7e869090c3834f58" /><Relationship Type="http://schemas.openxmlformats.org/officeDocument/2006/relationships/slide" Target="/ppt/slides/slide4.xml" Id="R0a7a58e5b83e40d6" /><Relationship Type="http://schemas.openxmlformats.org/officeDocument/2006/relationships/slide" Target="/ppt/slides/slide5.xml" Id="R4d7caf6833a54d9e" /><Relationship Type="http://schemas.openxmlformats.org/officeDocument/2006/relationships/slide" Target="/ppt/slides/slide6.xml" Id="R061f822ed35d4394" /><Relationship Type="http://schemas.openxmlformats.org/officeDocument/2006/relationships/slide" Target="/ppt/slides/slide7.xml" Id="R4a8b09e8794240c2" /><Relationship Type="http://schemas.openxmlformats.org/officeDocument/2006/relationships/slide" Target="/ppt/slides/slide8.xml" Id="Rdbeaad2b53e04cff" /><Relationship Type="http://schemas.openxmlformats.org/officeDocument/2006/relationships/slide" Target="/ppt/slides/slide9.xml" Id="R4d882ae1c64147b7" /><Relationship Type="http://schemas.openxmlformats.org/officeDocument/2006/relationships/slide" Target="/ppt/slides/slide10.xml" Id="R772fbbd6db0d4865" /><Relationship Type="http://schemas.openxmlformats.org/officeDocument/2006/relationships/slide" Target="/ppt/slides/slide11.xml" Id="R4d3a5eeabc7f4e10" /><Relationship Type="http://schemas.openxmlformats.org/officeDocument/2006/relationships/slide" Target="/ppt/slides/slide12.xml" Id="R12b7c1d2e9ce46dc" /><Relationship Type="http://schemas.openxmlformats.org/officeDocument/2006/relationships/slide" Target="/ppt/slides/slide13.xml" Id="Ra0adb3dbe0a44d1e" /><Relationship Type="http://schemas.openxmlformats.org/officeDocument/2006/relationships/slide" Target="/ppt/slides/slide14.xml" Id="R3ce63fb3f0174d5e" /><Relationship Type="http://schemas.openxmlformats.org/officeDocument/2006/relationships/slide" Target="/ppt/slides/slide15.xml" Id="R1e3d9edc697342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9831c4f37fe4c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053f6da80d4cf7" /><Relationship Type="http://schemas.openxmlformats.org/officeDocument/2006/relationships/notesMaster" Target="/ppt/notesMasters/notesMaster1.xml" Id="Rc09f5ead12a946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ef871a88a147e6" /><Relationship Type="http://schemas.openxmlformats.org/officeDocument/2006/relationships/notesMaster" Target="/ppt/notesMasters/notesMaster1.xml" Id="Ra7ef56b444b746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6a60cc75f2450f" /><Relationship Type="http://schemas.openxmlformats.org/officeDocument/2006/relationships/notesMaster" Target="/ppt/notesMasters/notesMaster1.xml" Id="Ra3ded882ca5043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e8acae2d5a47a2" /><Relationship Type="http://schemas.openxmlformats.org/officeDocument/2006/relationships/notesMaster" Target="/ppt/notesMasters/notesMaster1.xml" Id="R57942f7e702542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37c435aa9e441f" /><Relationship Type="http://schemas.openxmlformats.org/officeDocument/2006/relationships/notesMaster" Target="/ppt/notesMasters/notesMaster1.xml" Id="R99359d33f1d543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1dcaf6c4044865" /><Relationship Type="http://schemas.openxmlformats.org/officeDocument/2006/relationships/notesMaster" Target="/ppt/notesMasters/notesMaster1.xml" Id="R08441e613c594f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f32a25a048410c" /><Relationship Type="http://schemas.openxmlformats.org/officeDocument/2006/relationships/notesMaster" Target="/ppt/notesMasters/notesMaster1.xml" Id="R98e8b3109bd249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6321483b0d4004" /><Relationship Type="http://schemas.openxmlformats.org/officeDocument/2006/relationships/notesMaster" Target="/ppt/notesMasters/notesMaster1.xml" Id="Rfb7ee54632384f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a74b930d064f1e" /><Relationship Type="http://schemas.openxmlformats.org/officeDocument/2006/relationships/notesMaster" Target="/ppt/notesMasters/notesMaster1.xml" Id="R4a6cf6ad426d45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6d3bf9bd3148dc" /><Relationship Type="http://schemas.openxmlformats.org/officeDocument/2006/relationships/notesMaster" Target="/ppt/notesMasters/notesMaster1.xml" Id="R9c63bb24baff45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da903f3120400c" /><Relationship Type="http://schemas.openxmlformats.org/officeDocument/2006/relationships/notesMaster" Target="/ppt/notesMasters/notesMaster1.xml" Id="R86d1acf5310146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9042230aa34d09" /><Relationship Type="http://schemas.openxmlformats.org/officeDocument/2006/relationships/notesMaster" Target="/ppt/notesMasters/notesMaster1.xml" Id="Ra3755886be6547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4737be3f3848b3" /><Relationship Type="http://schemas.openxmlformats.org/officeDocument/2006/relationships/notesMaster" Target="/ppt/notesMasters/notesMaster1.xml" Id="Raa144cdca6e041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70c96d85294ee0" /><Relationship Type="http://schemas.openxmlformats.org/officeDocument/2006/relationships/notesMaster" Target="/ppt/notesMasters/notesMaster1.xml" Id="R20bcdb6ccf3a47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d44af0304e4fb5" /><Relationship Type="http://schemas.openxmlformats.org/officeDocument/2006/relationships/notesMaster" Target="/ppt/notesMasters/notesMaster1.xml" Id="Re0c87591dd5849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各位老师好，我的毕业设计题目是面向编程竞赛的 SpringBoot 在线算法题库系统的设计与实现。下面我会用六分钟，围绕系统的判题训练闭环、关键实现和测试结果进行汇报。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本课题来自算法训练中的实际需求。人工评测效率低、环境不一致，训练过程和题库维护难以持续跟踪，所以系统重点解决自动评测和训练管理问题。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当前系统定位为个人算法训练平台，围绕普通用户和管理员两类角色组织功能。普通用户完成题库训练和判题提交，管理员负责题目、用户、测试用例和判题环境维护。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系统目标可以概括为一条完整业务闭环：用户从题库入口进入题目，编辑代码并先运行调试，再正式提交，由后端调度 Docker 判题，最后回写提交结果和训练进度。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总体架构采用前后端分离。前端负责页面交互，SpringBoot 后端提供接口和业务服务，MySQL 保存业务数据，Redis 管理登录态，Docker 隔离执行用户代码。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核心业务流程从用户进入题目开始。运行代码主要用于调试，可以使用样例或自定义输入；正式提交会创建提交记录，执行测试用例，并保存最终状态和逐用例结果。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判题模块是本项目重点。运行代码用于调试，不生成正式提交记录；正式提交会遍历测试用例，调用 Docker 执行程序，并保存 AC、WA、CE、RE 等结果。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账号与权限部分采用 JWT 登录态和基于角色的访问控制。普通用户可以完成题库、做题、个人中心等功能；管理员才可以进入后台维护用户、题目、标签和判题环境。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数据库围绕判题训练闭环建模。用户、题目、标签和测试用例支撑题库维护；提交、逐用例结果和用户做题进度支撑判题结果查询和训练统计。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普通用户侧展示完整训练流程。用户可以筛选题库、进入做题页、编辑并运行代码，最后在个人中心看到提交记录和训练统计。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管理员侧保障题库内容可维护。管理员可以维护用户状态，创建和编辑题目，维护公开样例和隐藏用例，管理标签，并检查 Docker 判题环境。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测试验证覆盖普通用户和管理员两条主线。论文中整理了功能测试、接口测试、判题流程测试、权限测试和自动化测试，结果表明主要功能能够按照设计要求运行。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本项目的成果可以概括为三个层面：功能上形成了用户训练和后台维护闭环，技术上完成了前后端分离、权限控制和 Docker 判题，文档上形成了论文、功能说明、截图和测试材料。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系统已满足毕业设计阶段的核心功能和演示要求。后续可以在分布式判题队列、安全沙盒、竞赛组织、题库批量维护和更细粒度的数据分析方面扩展。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以上就是我的毕业设计汇报。感谢各位老师的聆听，恳请老师批评指正。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caac89b8f48f4" /><Relationship Type="http://schemas.openxmlformats.org/officeDocument/2006/relationships/theme" Target="/ppt/theme/theme1.xml" Id="R6a1e65332815425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190caac89b8f48f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4b454e7754f15" /><Relationship Type="http://schemas.openxmlformats.org/officeDocument/2006/relationships/image" Target="/ppt/media/image.png" Id="Ra86f3e0edd5b4d2b" /><Relationship Type="http://schemas.openxmlformats.org/officeDocument/2006/relationships/notesSlide" Target="/ppt/notesSlides/notesSlide1.xml" Id="Rb9fc0b66149a41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251f780f04703" /><Relationship Type="http://schemas.openxmlformats.org/officeDocument/2006/relationships/notesSlide" Target="/ppt/notesSlides/notesSlide2.xml" Id="R4ecf18dd65594b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480bd91d94bf6" /><Relationship Type="http://schemas.openxmlformats.org/officeDocument/2006/relationships/notesSlide" Target="/ppt/notesSlides/notesSlide3.xml" Id="R4dc7e28b575e41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cd65761b24605" /><Relationship Type="http://schemas.openxmlformats.org/officeDocument/2006/relationships/image" Target="/ppt/media/image2.png" Id="R5711df8d69374df9" /><Relationship Type="http://schemas.openxmlformats.org/officeDocument/2006/relationships/image" Target="/ppt/media/image3.png" Id="Rf1cd0c80e3904ef4" /><Relationship Type="http://schemas.openxmlformats.org/officeDocument/2006/relationships/image" Target="/ppt/media/image4.png" Id="R5a40633ffc4c4a56" /><Relationship Type="http://schemas.openxmlformats.org/officeDocument/2006/relationships/notesSlide" Target="/ppt/notesSlides/notesSlide4.xml" Id="R199cb72557bc4a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b2273bcb44fc7" /><Relationship Type="http://schemas.openxmlformats.org/officeDocument/2006/relationships/image" Target="/ppt/media/image5.png" Id="Rf118326c43b04a64" /><Relationship Type="http://schemas.openxmlformats.org/officeDocument/2006/relationships/notesSlide" Target="/ppt/notesSlides/notesSlide5.xml" Id="Rccbace47129a4c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9c5c2baf34418" /><Relationship Type="http://schemas.openxmlformats.org/officeDocument/2006/relationships/image" Target="/ppt/media/image6.png" Id="Rf52e3969c0a945fb" /><Relationship Type="http://schemas.openxmlformats.org/officeDocument/2006/relationships/image" Target="/ppt/media/image7.png" Id="R1364d82ef98f4c80" /><Relationship Type="http://schemas.openxmlformats.org/officeDocument/2006/relationships/image" Target="/ppt/media/image8.png" Id="R2159ef52d70f463f" /><Relationship Type="http://schemas.openxmlformats.org/officeDocument/2006/relationships/image" Target="/ppt/media/image9.png" Id="Rd88885d708184bca" /><Relationship Type="http://schemas.openxmlformats.org/officeDocument/2006/relationships/image" Target="/ppt/media/image10.png" Id="Rf0089dafd6404eb3" /><Relationship Type="http://schemas.openxmlformats.org/officeDocument/2006/relationships/notesSlide" Target="/ppt/notesSlides/notesSlide6.xml" Id="Rba4b45f89dad4f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3bd6df43743dd" /><Relationship Type="http://schemas.openxmlformats.org/officeDocument/2006/relationships/image" Target="/ppt/media/image11.png" Id="R08a0b354d0b14ba1" /><Relationship Type="http://schemas.openxmlformats.org/officeDocument/2006/relationships/image" Target="/ppt/media/image12.png" Id="R88f76a00c4ce4f93" /><Relationship Type="http://schemas.openxmlformats.org/officeDocument/2006/relationships/image" Target="/ppt/media/image13.png" Id="R7ed576565adc4aba" /><Relationship Type="http://schemas.openxmlformats.org/officeDocument/2006/relationships/notesSlide" Target="/ppt/notesSlides/notesSlide7.xml" Id="R24c960f79eb742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4be967de04de9" /><Relationship Type="http://schemas.openxmlformats.org/officeDocument/2006/relationships/image" Target="/ppt/media/image14.png" Id="R276b53e12d8d4eea" /><Relationship Type="http://schemas.openxmlformats.org/officeDocument/2006/relationships/image" Target="/ppt/media/image15.png" Id="Re6611d20279e40dc" /><Relationship Type="http://schemas.openxmlformats.org/officeDocument/2006/relationships/image" Target="/ppt/media/image16.png" Id="Ra916883597f74aa7" /><Relationship Type="http://schemas.openxmlformats.org/officeDocument/2006/relationships/notesSlide" Target="/ppt/notesSlides/notesSlide8.xml" Id="Rfb431e6eb0e342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9d35bba3e4bdb" /><Relationship Type="http://schemas.openxmlformats.org/officeDocument/2006/relationships/image" Target="/ppt/media/image17.png" Id="R7f1a904c261945b9" /><Relationship Type="http://schemas.openxmlformats.org/officeDocument/2006/relationships/notesSlide" Target="/ppt/notesSlides/notesSlide9.xml" Id="R1b55d4eda1a643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1ac64ab5e490a" /><Relationship Type="http://schemas.openxmlformats.org/officeDocument/2006/relationships/image" Target="/ppt/media/image18.png" Id="R656e01cf5e014bc9" /><Relationship Type="http://schemas.openxmlformats.org/officeDocument/2006/relationships/image" Target="/ppt/media/image19.png" Id="Rf72ad8199add490b" /><Relationship Type="http://schemas.openxmlformats.org/officeDocument/2006/relationships/image" Target="/ppt/media/image20.png" Id="R11dfdd3c2b8245b1" /><Relationship Type="http://schemas.openxmlformats.org/officeDocument/2006/relationships/notesSlide" Target="/ppt/notesSlides/notesSlide10.xml" Id="Rb120d32ae72f49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c5a1176ea4e37" /><Relationship Type="http://schemas.openxmlformats.org/officeDocument/2006/relationships/image" Target="/ppt/media/image21.png" Id="R26c3563dbd6240eb" /><Relationship Type="http://schemas.openxmlformats.org/officeDocument/2006/relationships/image" Target="/ppt/media/image22.png" Id="Rd19fae8de61e4230" /><Relationship Type="http://schemas.openxmlformats.org/officeDocument/2006/relationships/image" Target="/ppt/media/image23.png" Id="R4cf803d77ae74ee6" /><Relationship Type="http://schemas.openxmlformats.org/officeDocument/2006/relationships/notesSlide" Target="/ppt/notesSlides/notesSlide11.xml" Id="R7cc62d10807c40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5d0c671504ac9" /><Relationship Type="http://schemas.openxmlformats.org/officeDocument/2006/relationships/image" Target="/ppt/media/image24.png" Id="R7cbdf74d3a6741c1" /><Relationship Type="http://schemas.openxmlformats.org/officeDocument/2006/relationships/image" Target="/ppt/media/image25.png" Id="Rd250e37e40be4f21" /><Relationship Type="http://schemas.openxmlformats.org/officeDocument/2006/relationships/notesSlide" Target="/ppt/notesSlides/notesSlide12.xml" Id="R5dc15a1deb2d4a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7ab2777304550" /><Relationship Type="http://schemas.openxmlformats.org/officeDocument/2006/relationships/image" Target="/ppt/media/image26.png" Id="R69f78da89fb0474f" /><Relationship Type="http://schemas.openxmlformats.org/officeDocument/2006/relationships/notesSlide" Target="/ppt/notesSlides/notesSlide13.xml" Id="Redba0691725d43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4cf1597df4705" /><Relationship Type="http://schemas.openxmlformats.org/officeDocument/2006/relationships/notesSlide" Target="/ppt/notesSlides/notesSlide14.xml" Id="Rcb1e8963cd9344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2771fa49f4446" /><Relationship Type="http://schemas.openxmlformats.org/officeDocument/2006/relationships/notesSlide" Target="/ppt/notesSlides/notesSlide15.xml" Id="R389fc0681fc446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EAF11F-996A-472A-AD36-ED5FAE6B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OJPT 在线算法题库系统毕业答辩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D8241-908D-45BF-9C2E-B83B6539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01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0CC0F-1CF5-4512-B965-5CCC2825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B7AD1-CE46-4320-8E5D-1B746373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57102-0FB8-4DCE-AED9-7005491B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9E5C5-314D-4C15-AE72-AD717E4C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A7E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7E7ED"/>
                </a:solidFill>
                <a:latin typeface="Microsoft YaHei"/>
                <a:ea typeface="Microsoft YaHei"/>
                <a:cs typeface="Microsoft YaHei"/>
              </a:rPr>
              <a:t>毕业设计答辩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1395B-7457-4F44-AE02-C72726EB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3143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面向编程竞赛的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SpringBoot 在线算法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题库系统的设计与实现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E29EC-CC8D-4DA6-BAFC-1717D756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CFE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FEAF2"/>
                </a:solidFill>
                <a:latin typeface="Microsoft YaHei"/>
                <a:ea typeface="Microsoft YaHei"/>
                <a:cs typeface="Microsoft YaHei"/>
              </a:rPr>
              <a:t>Open Judge Platform for Training (OJPT)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3A614-E3A8-4FA3-9564-39A3232D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33875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rPr>
              <a:t>学生姓名：汪鸿韬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rPr>
              <a:t>学号：22437043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rPr>
              <a:t>专业：计算机科学与技术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rPr>
              <a:t>指导教师：王晨 讲师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B1809-03E8-410A-AF58-A95004CD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914400"/>
            <a:ext cx="61912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f3e0edd5b4d2b"/>
          <a:srcRect xmlns:a="http://schemas.openxmlformats.org/drawingml/2006/main" l="0" t="6357" r="0" b="6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6800" y="914400"/>
            <a:ext cx="6191250" cy="3752850"/>
          </a:xfrm>
          <a:prstGeom xmlns:a="http://schemas.openxmlformats.org/drawingml/2006/main" prst="roundRect">
            <a:avLst>
              <a:gd name="adj" fmla="val 152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9827F-1474-4E8C-880C-117CF6C5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67250"/>
            <a:ext cx="596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项目运行界面：题库入口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D57DC-B2D3-4DB3-BCB0-06ECC31A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3340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系统核心：题库训练、代码评测与结果反馈闭环</a:t>
            </a:r>
          </a:p>
        </p:txBody>
      </p:sp>
    </p:spTree>
    <p:extLst>
      <p:ext uri="{BB962C8B-B14F-4D97-AF65-F5344CB8AC3E}">
        <p14:creationId xmlns:p14="http://schemas.microsoft.com/office/powerpoint/2010/main" val="6248623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7CFF5A-709C-4F2F-B419-710C555A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OJPT 在线算法题库系统毕业答辩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0E82E-BFF8-40CB-8538-6DC8E95D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02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CA55B-9797-4E4E-995D-DC22FD94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选题背景：人工评测难以支撑持续算法训练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0A8A0-B7BC-4A6D-9C52-2A239E06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从代码执行、结果反馈到训练记录，需要一个可追踪的在线评测平台。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7A891-03C7-46BB-9F9C-C5923F29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6272C-04FE-4987-9C3C-714729EB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8D748-03B2-4F0E-A16D-94940070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57150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0F2E0-B35E-4DCB-BEE5-2A475D42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050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人工评测效率低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44FA9-8235-4CEC-9F5E-7B9D8779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需要下载代码、准备输入输出、人工运行并记录结果，提交量一多就难以及时反馈。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C524E-50C5-40A2-9D56-1A61D026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3355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9D754-67CF-415C-976B-744AE88E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33550"/>
            <a:ext cx="57150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545D8-4FAC-4597-8739-8C9C1775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050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训练过程难追踪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017D0-121C-4645-9C62-BE63992D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4790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用户做题进度、提交历史、错误类型和通过情况分散，缺少持续训练数据。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8D26F-8C7D-4E31-B6EA-BEC6F4D5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3355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91E03-8BF6-4442-949E-2AF0A26F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33550"/>
            <a:ext cx="57150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31AC7-15A9-4069-ABB4-2D123854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050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题库维护要系统化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AAC1F-3091-4016-A670-726204AA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47900"/>
            <a:ext cx="2762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题面、标签、难度、测试用例和判题环境需要统一管理，减少维护成本。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64105-A907-4E45-B399-DE065509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42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7FA"/>
          </a:solidFill>
          <a:ln xmlns:a="http://schemas.openxmlformats.org/drawingml/2006/main" w="9525">
            <a:solidFill>
              <a:srgbClr val="BDEEF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E55DD-45CD-4690-96EC-16828933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81550"/>
            <a:ext cx="868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系统围绕题库训练、在线做题、Docker判题、结果反馈和训练统计形成完整业务闭环。</a:t>
            </a:r>
          </a:p>
        </p:txBody>
      </p:sp>
    </p:spTree>
    <p:extLst>
      <p:ext uri="{BB962C8B-B14F-4D97-AF65-F5344CB8AC3E}">
        <p14:creationId xmlns:p14="http://schemas.microsoft.com/office/powerpoint/2010/main" val="15314889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A769AC-48C2-4BC5-A05B-2B731B72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OJPT 在线算法题库系统毕业答辩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7D405-52BB-4765-9D3D-7544D75F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03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C5807-ADAB-45DB-AD04-4BDBF9D6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项目定位：聚焦个人训练和后台维护两条主线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64D11-B9EF-45AD-9EE7-E85387CD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系统以 USER 和 ADMIN 两类角色组织核心功能。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B02D0-2381-4761-AC05-A364920C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E9944-E27D-4CCA-8A68-7595B900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271462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FBFC"/>
          </a:solidFill>
          <a:ln xmlns:a="http://schemas.openxmlformats.org/drawingml/2006/main" w="9525">
            <a:solidFill>
              <a:srgbClr val="BDEEF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8686E-9141-480A-B6B1-C42FE89D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00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A6B2"/>
                </a:solidFill>
                <a:latin typeface="Microsoft YaHei"/>
                <a:ea typeface="Microsoft YaHei"/>
                <a:cs typeface="Microsoft YaHei"/>
              </a:rPr>
              <a:t>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62522-F9DB-4CD3-BC5C-741F2631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浏览题库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在线做题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运行样例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提交判题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查看训练数据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92A87-5A8B-4228-B9F3-9F47E34D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95450"/>
            <a:ext cx="27241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E7840-E515-47D7-8F96-4725C6DE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1935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OJPT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在线编程训练平台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62D88-6F8D-4EBE-B730-F560F2BF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71850"/>
            <a:ext cx="1257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FBFD"/>
          </a:solidFill>
          <a:ln xmlns:a="http://schemas.openxmlformats.org/drawingml/2006/main" w="9525">
            <a:solidFill>
              <a:srgbClr val="BDEEF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94C18-43BC-488E-AF92-556534D9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41947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00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0A6B2"/>
                </a:solidFill>
                <a:latin typeface="Microsoft YaHei"/>
                <a:ea typeface="Microsoft YaHei"/>
                <a:cs typeface="Microsoft YaHei"/>
              </a:rPr>
              <a:t>训练闭环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AF315-36CF-4531-AE0B-AA40B1E3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47850"/>
            <a:ext cx="271462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BDDDC-649B-4098-B026-FAECD0EF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717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ADMIN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5A242-2A6B-45B0-94FF-D89BB8A1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813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用户维护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题目维护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测试用例维护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标签维护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判题环境检查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08985-A1B9-41CC-98A8-0127A8BB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76550"/>
            <a:ext cx="876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DDE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E7CE0-486C-4B5A-9D7B-DDC231F7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76550"/>
            <a:ext cx="876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DD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25CE53-C2EA-452B-BEC3-06315F20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101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系统以普通用户训练和管理员维护为主线，功能说明与论文内容保持一致。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5742629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17619A-F6EE-43D5-B1ED-6FE76FF9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OJPT 在线算法题库系统毕业答辩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8B298-369B-4031-8E3E-A6A44350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04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6C5DF-1E1A-4669-A388-06E3249D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系统目标：完成可演示、可验证的判题训练闭环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4BC3A-0BA6-4A18-925D-4722305D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目标不是追求大平台规模，而是把在线判题系统的关键链路做完整。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530FD-FAF2-4998-95A5-0B7F9F1F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59272-050D-4488-AAFF-0EE88677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875" y="1809750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A1457-EF2C-4AAB-BE30-A9EB283C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875" y="1924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3623C-8D1E-41EC-B4A1-3B8B4948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155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题库筛选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96A5E-953A-4177-9261-061B84BB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525" y="2085975"/>
            <a:ext cx="1022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DD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D142D-5BDA-46A9-87F6-F9708648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809750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6C44A-2B94-495C-9DC6-8AFD60DA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924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4D8CC-FB92-456B-874B-BD3E1A4F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2514600"/>
            <a:ext cx="155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进入做题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C5BAC-D74D-421B-908B-1829DB75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085975"/>
            <a:ext cx="1022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DD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9CB8E-9297-4BE6-BE35-8A71504F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1809750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46BB2-F1D9-47B0-BE3A-32AAEE17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1924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53DB1-5734-456A-AD01-079B449C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14600"/>
            <a:ext cx="155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运行调试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BBCA6-B288-4DBF-9650-7612D37A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825" y="2085975"/>
            <a:ext cx="1022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DD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28DF9-D9DA-4F1D-941D-DEA56EC2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325" y="1809750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E478F0-B979-4638-B33D-AEB5483E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325" y="1924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B5DB0-EC0D-4858-8AC7-393E3AFD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155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正式提交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A0FABC-E518-4CD6-A025-72AA6CC2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975" y="2085975"/>
            <a:ext cx="1022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DD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FD406A-1DB2-4A20-BA2D-3F0B8685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809750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896C5E-D4BF-4CF8-B0DE-4271354D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924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643000-DD7D-428D-9E50-73751F9B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350" y="2514600"/>
            <a:ext cx="155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结果回写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2AEF2-B7BE-49EF-B643-F2C64667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85975"/>
            <a:ext cx="1022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DDE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557F66-1ED8-474B-8FD7-24EDF30A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0625" y="1809750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C289C5-C8EA-4F7D-BA33-B0CE2BEF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0625" y="1924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3CA187-2549-4385-9131-6FEB65CC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500" y="2514600"/>
            <a:ext cx="155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训练统计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12B687-599C-4D48-98C3-2F7A870B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3143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1df8d69374df9"/>
          <a:srcRect xmlns:a="http://schemas.openxmlformats.org/drawingml/2006/main" l="0" t="11455" r="0" b="11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3562350"/>
            <a:ext cx="3143250" cy="1514475"/>
          </a:xfrm>
          <a:prstGeom xmlns:a="http://schemas.openxmlformats.org/drawingml/2006/main" prst="roundRect">
            <a:avLst>
              <a:gd name="adj" fmla="val 3774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510D7F-841A-4642-A3DD-9A5B8FD4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76825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首页入口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DB3AC0-A2E2-4907-87D7-AA50BAE1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62350"/>
            <a:ext cx="3143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d0c80e3904ef4"/>
          <a:srcRect xmlns:a="http://schemas.openxmlformats.org/drawingml/2006/main" l="0" t="20837" r="0" b="208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4375" y="3562350"/>
            <a:ext cx="3143250" cy="1514475"/>
          </a:xfrm>
          <a:prstGeom xmlns:a="http://schemas.openxmlformats.org/drawingml/2006/main" prst="roundRect">
            <a:avLst>
              <a:gd name="adj" fmla="val 3774"/>
            </a:avLst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B02183-1A94-47B9-A126-64E13BB0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076825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代码运行结果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8B275D-77C7-460D-BB56-EA526A2D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62350"/>
            <a:ext cx="3143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0633ffc4c4a56"/>
          <a:srcRect xmlns:a="http://schemas.openxmlformats.org/drawingml/2006/main" l="0" t="15309" r="0" b="15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3562350"/>
            <a:ext cx="3143250" cy="1514475"/>
          </a:xfrm>
          <a:prstGeom xmlns:a="http://schemas.openxmlformats.org/drawingml/2006/main" prst="roundRect">
            <a:avLst>
              <a:gd name="adj" fmla="val 3774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8291D0-2815-4761-8845-F59E50E2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76825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训练看板</a:t>
            </a:r>
          </a:p>
        </p:txBody>
      </p:sp>
    </p:spTree>
    <p:extLst>
      <p:ext uri="{BB962C8B-B14F-4D97-AF65-F5344CB8AC3E}">
        <p14:creationId xmlns:p14="http://schemas.microsoft.com/office/powerpoint/2010/main" val="11314294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5B940D-3334-466A-AB5C-FD03616E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OJPT 在线算法题库系统毕业答辩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12910-0398-41A2-A66D-22CFAA99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05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29024-02F1-4F30-9D74-E4B3BDFC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总体架构：前后端分离 + Docker 隔离判题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F425C-B39B-4D66-B91B-F6E649FA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浏览器、后端服务、数据库、缓存和判题环境共同支撑训练流程。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A80FA-2DAF-4760-AB47-3CE0DE23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729CA-089B-428C-984F-62B3F4A8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6858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8326c43b04a64"/>
          <a:stretch xmlns:a="http://schemas.openxmlformats.org/drawingml/2006/main"/>
        </p:blipFill>
        <p:spPr>
          <a:xfrm xmlns:a="http://schemas.openxmlformats.org/drawingml/2006/main">
            <a:off x="1553766" y="1733550"/>
            <a:ext cx="5464969" cy="20574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6F0E6-A9FF-447D-903B-F8CC55D9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24300"/>
            <a:ext cx="662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系统总体架构图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A4FFA-9DB2-47FE-BE22-74615C6D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00200"/>
            <a:ext cx="2857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D6462-AA7B-4ECD-B4DB-21CD1657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00200"/>
            <a:ext cx="5715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A7681-08C2-486B-AE55-FD8C627D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71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前端层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77A01-333B-490C-BAE9-58BAFEDB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145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418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Vue 3 / TypeScript / Element Plus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路由、状态、页面交互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8C20D-C2D3-45B2-B8EF-CF6A3E9F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90800"/>
            <a:ext cx="2857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77D71-AB47-46C0-ACC6-FF879125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90800"/>
            <a:ext cx="5715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490DB8-7447-4DBC-BF60-E1DCBB98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62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后端层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C0CB4-E0AA-4F77-93C8-62A9A9F1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051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418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SpringBoot / Spring Security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REST 接口、业务服务、权限控制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B888D-C23C-451E-A80E-F1658B87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81400"/>
            <a:ext cx="2857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A5DFD-5B4B-466F-819E-EB56F1A6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81400"/>
            <a:ext cx="5715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2DCD4-9648-4A32-A417-2B19F523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52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基础依赖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E1DAB-9D3F-4574-B248-E43E43EE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418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MySQL 持久化、Redis 登录态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Docker 代码隔离执行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5F4FE9-D2D0-4681-883B-287052C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0125"/>
            <a:ext cx="9563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FAFB"/>
          </a:solidFill>
          <a:ln xmlns:a="http://schemas.openxmlformats.org/drawingml/2006/main" w="9525">
            <a:solidFill>
              <a:srgbClr val="C7E9E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3AF758-1E33-495B-A7FB-DA988C9C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899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5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架构重点：业务服务不直接执行用户代码，判题逻辑通过 Docker 环境完成隔离运行。</a:t>
            </a:r>
          </a:p>
        </p:txBody>
      </p:sp>
    </p:spTree>
    <p:extLst>
      <p:ext uri="{BB962C8B-B14F-4D97-AF65-F5344CB8AC3E}">
        <p14:creationId xmlns:p14="http://schemas.microsoft.com/office/powerpoint/2010/main" val="7145883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9CB1D8-ACC9-4946-80A9-2F195730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OJPT 在线算法题库系统毕业答辩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4F5B0-AF45-4C18-BCEE-EF351372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06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FBE09-F74B-4D8D-8CDF-6EE34E79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核心业务流程：从题库入口到提交结果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0755B-28D9-4E36-9E0C-C181C7FD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做题页把“调试运行”和“正式提交”拆成两个清晰流程。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288CA-2E84-47B7-BE8D-231B76C0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8DD69-0DDE-4E01-8A03-18E3237F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286000" cy="3714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e3969c0a945fb"/>
          <a:stretch xmlns:a="http://schemas.openxmlformats.org/drawingml/2006/main"/>
        </p:blipFill>
        <p:spPr>
          <a:xfrm xmlns:a="http://schemas.openxmlformats.org/drawingml/2006/main">
            <a:off x="1580898" y="1733550"/>
            <a:ext cx="838704" cy="32385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3AABB-3691-4B44-A445-ABC6E326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在线做题与提交流程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B1475-77E9-4341-A94A-D6604C4C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95450"/>
            <a:ext cx="3429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4d82ef98f4c80"/>
          <a:srcRect xmlns:a="http://schemas.openxmlformats.org/drawingml/2006/main" l="0" t="22200" r="0" b="22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1695450"/>
            <a:ext cx="3429000" cy="1323975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C2D2E-F60A-49B3-8C3E-CDDD72EA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19425"/>
            <a:ext cx="320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题库筛选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0DC34-8424-4C39-8F41-74B5C950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95450"/>
            <a:ext cx="3429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9ef52d70f463f"/>
          <a:srcRect xmlns:a="http://schemas.openxmlformats.org/drawingml/2006/main" l="0" t="19281" r="0" b="192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0" y="1695450"/>
            <a:ext cx="3429000" cy="1323975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92B80-B00F-4924-8D2B-FB805963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19425"/>
            <a:ext cx="320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做题页代码编辑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89A4D-8491-4330-8D14-5887CAC5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33800"/>
            <a:ext cx="3429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885d708184bca"/>
          <a:srcRect xmlns:a="http://schemas.openxmlformats.org/drawingml/2006/main" l="0" t="19111" r="0" b="19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3733800"/>
            <a:ext cx="3429000" cy="1323975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6CEB22-ED16-41CC-BD16-A40227F9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57775"/>
            <a:ext cx="320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提交后结果反馈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C7AFD5-C784-4738-AE6F-9F6B817F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33800"/>
            <a:ext cx="3429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89dafd6404eb3"/>
          <a:srcRect xmlns:a="http://schemas.openxmlformats.org/drawingml/2006/main" l="0" t="22200" r="0" b="22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0" y="3733800"/>
            <a:ext cx="3429000" cy="1323975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D3254-157E-490E-9F8E-57B4F217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57775"/>
            <a:ext cx="320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提交记录查询</a:t>
            </a:r>
          </a:p>
        </p:txBody>
      </p:sp>
    </p:spTree>
    <p:extLst>
      <p:ext uri="{BB962C8B-B14F-4D97-AF65-F5344CB8AC3E}">
        <p14:creationId xmlns:p14="http://schemas.microsoft.com/office/powerpoint/2010/main" val="2869296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5911F9-6D00-499E-A8F6-0FF4C771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OJPT 在线算法题库系统毕业答辩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BE4DA-6EC8-4D50-9BA0-B78300EC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07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F5298-A896-4E7E-B1E6-E83BDF63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判题模块重点：运行调试和正式提交分离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74711-30EF-41A4-8E08-C8C85786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Docker 负责隔离执行，后端负责调度、判定和结果持久化。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53DA1-820C-46CA-A177-0439C6CA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9C40A-1FE5-4662-BE73-3360EA5D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49CAB-FE59-4B0D-A7C9-6C93906B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5715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892EE-4D34-4BBC-B8E9-BF3F40D8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33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运行代码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39943-3AD2-46F4-8963-3D47D25D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使用样例或自定义输入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返回标准输出、错误信息和状态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不创建正式提交记录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2C9F7-C2BA-4872-A08E-C97307E5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DED9F-146F-4FFB-8CCD-3CB24997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5715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3AC3-315F-4EEB-BB4A-CFE93CBC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正式提交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B8C36-9563-49BA-8023-BCE42A83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创建提交记录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执行公开与隐藏测试用例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保存提交状态和逐用例结果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A40A3-DE9F-47ED-B6BA-906D0C0F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2857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32BFC-2C4D-4406-9E35-9C7100E0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571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E5896-D26B-4A09-AD5F-48FD03E7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结果状态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299AF-964D-432D-A84C-950D8ECC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62550"/>
            <a:ext cx="24765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31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AC / WA / CE / RE / TLE 等状态用于前端展示和训练进度更新。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9C73F6-0AB1-463A-99EB-6EADECED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04950"/>
            <a:ext cx="3143250" cy="395287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0b354d0b14ba1"/>
          <a:stretch xmlns:a="http://schemas.openxmlformats.org/drawingml/2006/main"/>
        </p:blipFill>
        <p:spPr>
          <a:xfrm xmlns:a="http://schemas.openxmlformats.org/drawingml/2006/main">
            <a:off x="4676511" y="1619250"/>
            <a:ext cx="2400827" cy="3476625"/>
          </a:xfrm>
          <a:prstGeom xmlns:a="http://schemas.openxmlformats.org/drawingml/2006/main" prst="roundRect">
            <a:avLst>
              <a:gd name="adj" fmla="val 1961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EF8720-6CF0-42F7-A326-A67D2AA8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10175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Docker 单次执行流程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A4CACE-3951-49EA-BC95-276354DB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0"/>
            <a:ext cx="3286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76a00c4ce4f93"/>
          <a:srcRect xmlns:a="http://schemas.openxmlformats.org/drawingml/2006/main" l="0" t="18064" r="0" b="180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3375" y="1714500"/>
            <a:ext cx="3286125" cy="13716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6375E4-0F56-4FC6-9DC1-A20A5DF8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086100"/>
            <a:ext cx="3057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正式提交接口返回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6287B7-D9AF-415C-9B1D-446368E3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90950"/>
            <a:ext cx="328612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576565adc4aba"/>
          <a:stretch xmlns:a="http://schemas.openxmlformats.org/drawingml/2006/main"/>
        </p:blipFill>
        <p:spPr>
          <a:xfrm xmlns:a="http://schemas.openxmlformats.org/drawingml/2006/main">
            <a:off x="8854302" y="3886200"/>
            <a:ext cx="1484272" cy="1228725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DDFE0C-C46E-47D6-9611-733C5A5D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210175"/>
            <a:ext cx="3057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端到端判题闭环</a:t>
            </a:r>
          </a:p>
        </p:txBody>
      </p:sp>
    </p:spTree>
    <p:extLst>
      <p:ext uri="{BB962C8B-B14F-4D97-AF65-F5344CB8AC3E}">
        <p14:creationId xmlns:p14="http://schemas.microsoft.com/office/powerpoint/2010/main" val="15131424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FD5359-21AC-4E48-90AD-A2C9E876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OJPT 在线算法题库系统毕业答辩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DE158-FEC1-4F9E-812B-3F4A43A8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08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7FEC1-4F80-4D3F-B0F0-EC817C54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权限与账号：JWT 登录态 + USER / ADMIN 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9BA1F-9A11-45FC-A4A4-451D56CE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认证负责“是谁”，角色负责“能访问哪些页面和接口”。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3190D-691E-4C53-9336-402DA8A0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E15F4-3226-42BB-8939-63C83BD8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3238500" cy="39052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b53e12d8d4eea"/>
          <a:stretch xmlns:a="http://schemas.openxmlformats.org/drawingml/2006/main"/>
        </p:blipFill>
        <p:spPr>
          <a:xfrm xmlns:a="http://schemas.openxmlformats.org/drawingml/2006/main">
            <a:off x="1260228" y="1676400"/>
            <a:ext cx="2203943" cy="3429000"/>
          </a:xfrm>
          <a:prstGeom xmlns:a="http://schemas.openxmlformats.org/drawingml/2006/main" prst="roundRect">
            <a:avLst>
              <a:gd name="adj" fmla="val 189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F90A6-C9EF-4EA2-9603-03F3670D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JWT 鉴权与刷新流程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D374E-6693-46EC-8FEF-AD58CAEC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097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BFC"/>
          </a:solidFill>
          <a:ln xmlns:a="http://schemas.openxmlformats.org/drawingml/2006/main" w="9525">
            <a:solidFill>
              <a:srgbClr val="BDEEF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453DF-12C2-4CDA-A75F-69689607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47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0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B2"/>
                </a:solidFill>
                <a:latin typeface="Microsoft YaHei"/>
                <a:ea typeface="Microsoft YaHei"/>
                <a:cs typeface="Microsoft YaHei"/>
              </a:rPr>
              <a:t>USER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1ED0D-CEBD-4408-843D-6207BA3A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2412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8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题库浏览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做题与提交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个人中心与训练看板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7159A-FAD9-4423-97CB-A93AD9C2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528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F123F-D9E0-44E6-93BF-F098873B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9909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177BF-BFA8-4A9D-A65D-D3921E11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6722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8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用户管理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题目与用例维护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判题环境检查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6577E-FB99-41F5-914D-8688DEF9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11d20279e40dc"/>
          <a:srcRect xmlns:a="http://schemas.openxmlformats.org/drawingml/2006/main" l="0" t="20377" r="0" b="203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695450"/>
            <a:ext cx="3333750" cy="13716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54980-D309-42ED-A3C0-BD9E9EBA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67050"/>
            <a:ext cx="3105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管理员后台入口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11905E-FDBA-429D-9E33-80D576B4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62375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16883597f74aa7"/>
          <a:srcRect xmlns:a="http://schemas.openxmlformats.org/drawingml/2006/main" l="0" t="17086" r="0" b="170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3762375"/>
            <a:ext cx="3333750" cy="13716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A9403-33BC-45AD-969A-BBB13B58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33975"/>
            <a:ext cx="3105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普通用户首页入口</a:t>
            </a:r>
          </a:p>
        </p:txBody>
      </p:sp>
    </p:spTree>
    <p:extLst>
      <p:ext uri="{BB962C8B-B14F-4D97-AF65-F5344CB8AC3E}">
        <p14:creationId xmlns:p14="http://schemas.microsoft.com/office/powerpoint/2010/main" val="19232756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B4E371-DC43-42F1-B156-8FCA3C6B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OJPT 在线算法题库系统毕业答辩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EF566-F888-4889-9BC6-C8E99DCE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09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7BBEF-0E2D-4F54-8318-DB1C80CF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数据库设计：围绕题目、提交和训练进度建模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04CDA-90D0-448D-B828-CA3E719C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核心表服务于题库维护、判题结果保存和个人训练统计。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F26A7-0018-4423-8667-47CD5B94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C75EF-61DE-4FCD-80A7-926B421E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3905250" cy="4143375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a904c261945b9"/>
          <a:stretch xmlns:a="http://schemas.openxmlformats.org/drawingml/2006/main"/>
        </p:blipFill>
        <p:spPr>
          <a:xfrm xmlns:a="http://schemas.openxmlformats.org/drawingml/2006/main">
            <a:off x="1394774" y="1543050"/>
            <a:ext cx="2830203" cy="3667125"/>
          </a:xfrm>
          <a:prstGeom xmlns:a="http://schemas.openxmlformats.org/drawingml/2006/main" prst="roundRect">
            <a:avLst>
              <a:gd name="adj" fmla="val 155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3662B-A0E6-4C76-B3B7-5AA93A0E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24475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数据库整体 E-R 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2D03F-EC21-46FF-AE33-64A3026E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71625"/>
            <a:ext cx="2524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E983A-3417-4DFF-9D1F-4C33CAE5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71625"/>
            <a:ext cx="5715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052B0-22BC-41B1-ABDA-63D19EC3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4307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题库域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CCB02-5E93-44D5-9A7F-623B92EA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8597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problem、tag、problem_tag、problem_test_case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支撑题目发布、标签绑定和测试用例维护。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C4E99-21E9-4175-A415-03F4C0C7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71625"/>
            <a:ext cx="2524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95F47-F7EA-4828-BECD-4F0DE177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71625"/>
            <a:ext cx="5715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9B39D-BC36-4EB1-8AD4-431EB3B8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4307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用户域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EFA08-200E-4643-B714-909D214D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8597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user、user_profile、role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支撑登录身份、资料维护和角色边界。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5CC5BC-0490-4BCF-9320-430462CC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52800"/>
            <a:ext cx="2524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E68A8-E676-419D-97CF-32A566FD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52800"/>
            <a:ext cx="5715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2D3166-C62F-4707-91CB-057AC716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242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提交域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1E00F-E787-490C-8F2E-5DA5205E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67150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submission、submission_case_result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保存代码、语言、状态、耗时和逐用例结果。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12EE0-CBF0-4296-B599-3DA14765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52800"/>
            <a:ext cx="2524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B4BFEA-086C-4885-A5C9-CA4D42C2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52800"/>
            <a:ext cx="5715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1DB150-B66B-4568-A524-3DA24000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242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训练域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04835D-69B3-49BF-AAB1-1E35E975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67150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problem_code_draft、user_problem_progress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保存草稿和题目完成进度。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8D3A34-D918-42BB-A58D-89D0C635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53000"/>
            <a:ext cx="483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AFB"/>
          </a:solidFill>
          <a:ln xmlns:a="http://schemas.openxmlformats.org/drawingml/2006/main" w="9525">
            <a:solidFill>
              <a:srgbClr val="C7E9E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57855C-2461-468A-B456-79D483DB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086350"/>
            <a:ext cx="432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98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数据设计重点：提交结果不仅用于页面展示，也会反向更新用户题目进度。</a:t>
            </a:r>
          </a:p>
        </p:txBody>
      </p:sp>
    </p:spTree>
    <p:extLst>
      <p:ext uri="{BB962C8B-B14F-4D97-AF65-F5344CB8AC3E}">
        <p14:creationId xmlns:p14="http://schemas.microsoft.com/office/powerpoint/2010/main" val="104832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FDDC09-F694-44F9-B159-61DA2719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OJPT 在线算法题库系统毕业答辩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3D996-0C86-4391-83B8-4E4F3332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10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3D467-5BDB-46BE-87C9-A6815F9A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普通用户功能：完成从筛题到训练统计的闭环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740D4-19EC-416E-97F2-CF2F87FE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页面展示以真实项目截图为依据，覆盖用户训练全过程。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E9907-9BFB-47EB-87E3-0A3577B3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C10EB-5CD3-413F-A87E-A6549408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e01cf5e014bc9"/>
          <a:srcRect xmlns:a="http://schemas.openxmlformats.org/drawingml/2006/main" l="0" t="18320" r="0" b="183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562100"/>
            <a:ext cx="3333750" cy="1466850"/>
          </a:xfrm>
          <a:prstGeom xmlns:a="http://schemas.openxmlformats.org/drawingml/2006/main" prst="roundRect">
            <a:avLst>
              <a:gd name="adj" fmla="val 389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1505D-6A42-4A1C-92F1-0493C0AB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3105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题库筛选与搜索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350D5-C860-4471-87DA-A8CE3F42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6210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ad8199add490b"/>
          <a:srcRect xmlns:a="http://schemas.openxmlformats.org/drawingml/2006/main" l="0" t="14994" r="0" b="149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562100"/>
            <a:ext cx="3333750" cy="1466850"/>
          </a:xfrm>
          <a:prstGeom xmlns:a="http://schemas.openxmlformats.org/drawingml/2006/main" prst="roundRect">
            <a:avLst>
              <a:gd name="adj" fmla="val 3896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FFFC5-7CBE-4D8D-9A4A-6D019610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28950"/>
            <a:ext cx="3105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做题页代码编辑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6F779-0F9A-422B-AB50-89033623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6210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fdd3c2b8245b1"/>
          <a:srcRect xmlns:a="http://schemas.openxmlformats.org/drawingml/2006/main" l="0" t="18320" r="0" b="183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5300" y="1562100"/>
            <a:ext cx="3333750" cy="1466850"/>
          </a:xfrm>
          <a:prstGeom xmlns:a="http://schemas.openxmlformats.org/drawingml/2006/main" prst="roundRect">
            <a:avLst>
              <a:gd name="adj" fmla="val 3896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E7218-06AF-4C31-A734-2097246F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3105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训练看板统计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87070-A580-4F08-AB4C-3F7D21CB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59738-B0A3-4E86-A944-D3F7379A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527EE-8BC9-4F21-A0D2-6C4B06D5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题库浏览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1DC2E-9D08-41D6-902A-0682965A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79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按题号、关键词、难度、标签和做题状态筛选题目。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1879A5-77D4-4F77-8F2B-C3489BC6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6FDD7-588C-4BF3-B4DF-6486D97A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70CE2-34F0-4CBA-B611-79503F80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7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在线做题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0B8BB6-314E-450E-8C3E-25EE00E0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19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78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查看题面、样例和限制条件，编辑多语言代码并运行调试。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BAB0BE-061D-4B9F-8B56-0C193F3A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0525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1B208D-2320-4221-BC02-FD4F1E67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0525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F0D196-71AE-4C81-86FE-C08184F5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7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训练反馈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2DFDC5-FABD-4ABE-9637-57037E07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19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79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查看通过率、提交记录、题目进度和近期训练情况。</a:t>
            </a:r>
          </a:p>
        </p:txBody>
      </p:sp>
    </p:spTree>
    <p:extLst>
      <p:ext uri="{BB962C8B-B14F-4D97-AF65-F5344CB8AC3E}">
        <p14:creationId xmlns:p14="http://schemas.microsoft.com/office/powerpoint/2010/main" val="1170925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668401-2932-4181-8704-824E7C08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OJPT 在线算法题库系统毕业答辩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08CD9-4CB5-49E9-A50C-3D0169FF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11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3CDFE-F264-46C5-9D00-AD6B6B20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管理员功能：保障题库、用例和判题环境可维护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ABF21-C8C8-4A00-9DE7-014791F6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后台围绕用户、题目、测试用例、标签和判题环境展开。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23EBE-D3A0-4226-B238-D54F860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B6639-C0BC-45E4-AAF3-C190367A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3563dbd6240eb"/>
          <a:srcRect xmlns:a="http://schemas.openxmlformats.org/drawingml/2006/main" l="0" t="19506" r="0" b="195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66850"/>
            <a:ext cx="3238500" cy="13716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331DD-1F8E-4CA6-A2A6-0F941FA3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题目列表维护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67A32-231C-4D24-9FDD-6881F6DB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6685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fae8de61e4230"/>
          <a:srcRect xmlns:a="http://schemas.openxmlformats.org/drawingml/2006/main" l="0" t="19506" r="0" b="195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5800" y="1466850"/>
            <a:ext cx="3238500" cy="13716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08891-3616-4B60-9FC3-8AC5F1F1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38450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题目编辑页面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41A25-84A1-41D5-8734-4C958BEE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6685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803d77ae74ee6"/>
          <a:srcRect xmlns:a="http://schemas.openxmlformats.org/drawingml/2006/main" l="0" t="19506" r="0" b="195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5800" y="1466850"/>
            <a:ext cx="3238500" cy="13716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D7A17-71C0-4E05-AF84-B871DB5B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判题环境检查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AF3D2-4C04-41BC-955C-28E5F4E4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F33C5-9501-4467-BB96-A1E6C4A9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5715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DD508-21D7-498A-94C5-354A8C61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6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题目维护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C59FBB-B832-4ED3-AF0E-82B46AEE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创建草稿、编辑题面、发布或归档题目。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65456A-729A-4142-8553-F78C3B02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CB3F71-D653-4900-8E5F-3B720005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5715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0A539-9F3E-40BB-BBFA-2313853E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86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用例维护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D309E5-3046-46DE-B990-BB6156A5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29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维护公开样例和隐藏用例，支撑正式判题。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DB484C-2693-490A-B8C0-F125636E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EB9891-7B42-4F57-8855-777524DE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5715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B4A6B6-E21C-419F-87B0-A6B1F7C9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86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标签维护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C4FBCA-2FC0-420E-9C4B-CC37CA97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29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标签新增、编辑、删除和题目绑定。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71AF7C-45FF-4466-B626-A8ECF0AD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147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7F34A4-0FAC-4ADE-8739-5DE8A5E6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14750"/>
            <a:ext cx="5715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1DEF88-FB93-4F13-A24E-0D264F7E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86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环境检查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D15F85-E5FE-43E6-8D7F-50B9DCCB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29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11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检查 Docker、镜像和语言运行环境，便于定位基础依赖问题。</a:t>
            </a:r>
          </a:p>
        </p:txBody>
      </p:sp>
    </p:spTree>
    <p:extLst>
      <p:ext uri="{BB962C8B-B14F-4D97-AF65-F5344CB8AC3E}">
        <p14:creationId xmlns:p14="http://schemas.microsoft.com/office/powerpoint/2010/main" val="7439944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2A92E7-3103-4137-B571-D49C37AE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OJPT 在线算法题库系统毕业答辩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9CB7A-BA1E-47EA-9F40-A8966BC5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12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CE579-99C2-4BE7-B026-D3D4F30A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测试验证：用功能、接口、判题和权限测试支撑结论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90993-7A60-4C05-AE08-A76C885B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系统测试重点验证核心链路是否真实可用。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30A29-9825-4A21-AABA-35154A20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AC46E-415E-4BC1-941B-9AB55E8A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0FBFC"/>
          </a:solidFill>
          <a:ln xmlns:a="http://schemas.openxmlformats.org/drawingml/2006/main" w="9525">
            <a:solidFill>
              <a:srgbClr val="BDEEF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E83C9-00B7-4352-B21E-686440F3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5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00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A6B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205F1-4746-4A73-A9D6-D874AF7B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90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功能测试用例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A507F-890E-4CF0-B38F-D0439477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764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6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登录、题库、做题、后台维护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7F519-A164-4B07-A6FD-2D3CEBF9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600200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9B964-D17F-455B-9946-BDAE461D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7716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5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7F6CA-E0B6-465A-8C6D-E80DF93A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90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核心接口测试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ED34A-CDE3-40F9-8E2C-A3FAEA3F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764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6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认证、题库、提交、管理端接口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5994A-F0E9-446D-B402-21E7542B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0FBFC"/>
          </a:solidFill>
          <a:ln xmlns:a="http://schemas.openxmlformats.org/drawingml/2006/main" w="9525">
            <a:solidFill>
              <a:srgbClr val="BDEEF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AAA65-ECE9-465A-9FC6-17285142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716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5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00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A6B2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965D2-53AF-4DBF-9631-C5809E11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90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判题流程场景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C6C7C-4D61-4C4C-97DD-2FE1D805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764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6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AC / WA / CE / RE / 隐藏用例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AB379-F7DA-424D-8CDD-6556EB9A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600200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A51F74-7747-48BA-B263-F9530D22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7716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5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3B8186-DA35-48F3-8B92-9899362C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90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权限测试场景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233688-F4ED-4EA4-AC97-FD85DC8C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0764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6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匿名、普通用户、管理员边界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CD41E0-A3DE-47EA-9575-300295F4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4762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df74d3a6741c1"/>
          <a:srcRect xmlns:a="http://schemas.openxmlformats.org/drawingml/2006/main" l="0" t="25209" r="0" b="252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" y="3371850"/>
            <a:ext cx="4762500" cy="1543050"/>
          </a:xfrm>
          <a:prstGeom xmlns:a="http://schemas.openxmlformats.org/drawingml/2006/main" prst="roundRect">
            <a:avLst>
              <a:gd name="adj" fmla="val 3704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F215A1-90DC-4172-BD08-50F9BEAE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453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正式提交接口测试截图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C19A3B-8DD7-43CF-A952-4C2EAD04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4762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0e37e40be4f21"/>
          <a:srcRect xmlns:a="http://schemas.openxmlformats.org/drawingml/2006/main" l="0" t="26672" r="0" b="26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3371850"/>
            <a:ext cx="4762500" cy="1543050"/>
          </a:xfrm>
          <a:prstGeom xmlns:a="http://schemas.openxmlformats.org/drawingml/2006/main" prst="roundRect">
            <a:avLst>
              <a:gd name="adj" fmla="val 3704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4C252B-96B3-4694-8C91-07D7305C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14900"/>
            <a:ext cx="453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判题环境检测截图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1CFDC4-A046-4C0C-BE7C-58FEF688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816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测试结论：普通用户训练闭环、管理员维护闭环和 Docker 判题环境检查均能按设计运行。</a:t>
            </a:r>
          </a:p>
        </p:txBody>
      </p:sp>
    </p:spTree>
    <p:extLst>
      <p:ext uri="{BB962C8B-B14F-4D97-AF65-F5344CB8AC3E}">
        <p14:creationId xmlns:p14="http://schemas.microsoft.com/office/powerpoint/2010/main" val="17483416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2B1304-15D6-42D7-A65C-B4459DD4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OJPT 在线算法题库系统毕业答辩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E01D0-7F98-4740-AC75-1398AD92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13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BB9CE-9A0B-46E6-BC03-9DA6382C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项目成果：核心功能闭环已形成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9E414-3333-412B-82B0-D4AEE098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成果不仅是页面完成，还包括接口、数据、判题和测试材料的对应关系。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E4140-CD81-4428-B9D9-730ED832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53E99-5E65-4415-A99A-45B86AF2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0648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FC9F9-2022-4664-AD00-2311CA8C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66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一条主线：用户完成算法训练，管理员持续维护训练内容和判题环境。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68519-96BA-42CE-964E-44C3EEBA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2857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365D1-074F-4751-85CE-142A72C4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5715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6E0DE-07C8-4699-B3B5-3D6AF9DF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0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功能成果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22BED-B9B4-4836-B8C0-3A58E2EB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登录注册、题库浏览、在线做题、代码运行、提交判题、训练看板、后台维护。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A4773-2492-4544-80A9-4FFE3429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2857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37B05-0119-4694-8ABE-7AF4846C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5715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06808-DA90-499F-9A51-F96A1D46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00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工程成果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B22FE-48DE-43E9-885A-DC3E2375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433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Vue 3 + SpringBoot 前后端分离，JWT 权限控制，MySQL/Redis/Docker 协同。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E2297-DBEE-43B4-A103-5B9098B6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2857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81541-F52C-4439-B1A6-B055DAC9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5715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0345A1-D1F0-49F9-B10D-9B8E8054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00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验证成果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98477C-B053-423C-843C-1A34EF17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433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功能测试、接口测试、判题流程测试、权限测试和自动化测试形成验证依据。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C2E34-2C9A-4730-89C5-53571326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00600"/>
            <a:ext cx="37623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78da89fb0474f"/>
          <a:srcRect xmlns:a="http://schemas.openxmlformats.org/drawingml/2006/main" l="0" t="44465" r="0" b="444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0050" y="4800600"/>
            <a:ext cx="3762375" cy="438150"/>
          </a:xfrm>
          <a:prstGeom xmlns:a="http://schemas.openxmlformats.org/drawingml/2006/main" prst="roundRect">
            <a:avLst>
              <a:gd name="adj" fmla="val 13043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381059-3DE7-4EB9-BB6D-A8BFD79E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38750"/>
            <a:ext cx="3533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接口和页面均有截图取证</a:t>
            </a:r>
          </a:p>
        </p:txBody>
      </p:sp>
    </p:spTree>
    <p:extLst>
      <p:ext uri="{BB962C8B-B14F-4D97-AF65-F5344CB8AC3E}">
        <p14:creationId xmlns:p14="http://schemas.microsoft.com/office/powerpoint/2010/main" val="18060890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44BED0-E73A-4160-9254-FB74C776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OJPT 在线算法题库系统毕业答辩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35FAE-07AA-4E67-9B11-5D165E6D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14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0CCC1-87F4-4B36-A884-F60DE332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不足与展望：从本地演示走向更强平台能力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4469C-AC66-4D96-9F79-E5E63A38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当前重点是核心闭环；后续优化围绕规模、安全和管理效率展开。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001D9-A87F-4D27-ACA6-E811A38E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A44CE-93E7-43FE-BC20-50C6B5D1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52625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8DCEF-E969-4D08-8C79-324BB6D5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05025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9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C72A1-CF92-4407-8546-4A296276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分布式判题队列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0D4A8-3B58-4337-A3BB-263C9850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956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引入任务队列或调度组件，提高并发提交下的吞吐能力。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2615F-D5B7-4304-872D-3E52785C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95525"/>
            <a:ext cx="1123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D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9290B-7CEE-4DE6-AD7C-1D3FE0F7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52625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31C1D-E1A1-4EB8-98BF-47FEA230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05025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9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2A517-A824-419C-9042-2E17A0C9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051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安全沙盒强化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6465C-9522-4644-A656-60C1C224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2956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继续限制网络、文件系统、系统调用和容器资源。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E5F0D-3E3B-4E71-AD3F-797EB933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95525"/>
            <a:ext cx="1123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D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CE162-E2B9-410E-8DDA-EFB18F20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52625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1B1F8A-D09E-4455-A17C-89872960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05025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9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50E8F1-1FB5-47F4-9ED0-2392B5F7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竞赛与排行榜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297D2-9E5F-4F35-B940-766B2D8C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956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在现有提交和题库基础上扩展限时比赛和排名统计。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D95AF6-8F06-4221-9BF4-477A7AEE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95525"/>
            <a:ext cx="1123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DE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5376D-2108-4494-9978-6F4F9458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52625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2DCE5E-FFB8-4410-8BEA-43D2CF0C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05025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9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13002-EDD1-4B3E-83E8-52032685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题库批量维护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BC41D3-0582-4158-8551-F92DF6F0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2956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增加批量导入、题面版本记录、测试用例文件上传。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27718A-961E-42B6-A412-407FBA6A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95525"/>
            <a:ext cx="11239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DE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1245E3-0EFD-4FFE-BE79-FE81BB72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52625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5F3DC7-4A08-46E9-9F61-6FB13F01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05025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9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D246BA-028B-4821-9FEC-78863882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051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训练数据分析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6636EE-70EE-4313-B0EE-C9BE5CD0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2956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结合题目标签和提交历史，生成更细粒度能力分析。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A06E80-D99A-4579-AC9C-4AF5A33F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933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AFB"/>
          </a:solidFill>
          <a:ln xmlns:a="http://schemas.openxmlformats.org/drawingml/2006/main" w="9525">
            <a:solidFill>
              <a:srgbClr val="C7E9E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A71AF5-1E76-43A2-A05B-9C8141AE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2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总结：OJPT 已完成毕业设计阶段的核心闭环，后续方向是规模化、安全性和训练分析能力提升。</a:t>
            </a:r>
          </a:p>
        </p:txBody>
      </p:sp>
    </p:spTree>
    <p:extLst>
      <p:ext uri="{BB962C8B-B14F-4D97-AF65-F5344CB8AC3E}">
        <p14:creationId xmlns:p14="http://schemas.microsoft.com/office/powerpoint/2010/main" val="17851271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13847B-F297-486B-A965-702CD1B9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OJPT 在线算法题库系统毕业答辩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A4321-9AD0-499F-8F49-DBDEDF70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8EA4B8"/>
                </a:solidFill>
                <a:latin typeface="Microsoft YaHei"/>
                <a:ea typeface="Microsoft YaHei"/>
                <a:cs typeface="Microsoft YaHei"/>
              </a:rPr>
              <a:t>15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79317-A2AC-4CA7-BD4A-F21EF5B9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E4078-2447-4430-B5D6-32C7E787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2EA49-7DB6-4C2A-83B1-CD114CB0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EC98C-A8D6-4D37-AE7C-B8045DEF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rPr>
              <a:t>恳请各位老师批评指正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9A6BA-DFCE-470F-B6F3-4F73BBBF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A7E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7E7ED"/>
                </a:solidFill>
                <a:latin typeface="Microsoft YaHei"/>
                <a:ea typeface="Microsoft YaHei"/>
                <a:cs typeface="Microsoft YaHei"/>
              </a:rPr>
              <a:t>Q &amp;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67E15-F5C8-450C-9E7A-C3AAC706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AFC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7D8"/>
                </a:solidFill>
                <a:latin typeface="Microsoft YaHei"/>
                <a:ea typeface="Microsoft YaHei"/>
                <a:cs typeface="Microsoft YaHei"/>
              </a:rPr>
              <a:t>汪鸿韬 | 22437043 | 计算机科学与技术</a:t>
            </a:r>
          </a:p>
        </p:txBody>
      </p:sp>
    </p:spTree>
    <p:extLst>
      <p:ext uri="{BB962C8B-B14F-4D97-AF65-F5344CB8AC3E}">
        <p14:creationId xmlns:p14="http://schemas.microsoft.com/office/powerpoint/2010/main" val="13876791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2026-05-12T13:29:20.9600000Z</dcterms:created>
  <dcterms:modified xsi:type="dcterms:W3CDTF">2026-05-12T13:29:20.9600000Z</dcterms:modified>
</coreProperties>
</file>